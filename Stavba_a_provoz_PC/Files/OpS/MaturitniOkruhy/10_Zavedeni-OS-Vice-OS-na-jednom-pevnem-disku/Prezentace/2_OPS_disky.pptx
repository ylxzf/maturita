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Klepnutím lze upravit styl předlohy podnadpisů.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E94C-5550-46B2-BC07-5B65194490A2}" type="datetimeFigureOut">
              <a:rPr lang="cs-CZ" smtClean="0"/>
              <a:pPr/>
              <a:t>19.3.2014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59CD-14C2-4440-B705-5924585864F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E94C-5550-46B2-BC07-5B65194490A2}" type="datetimeFigureOut">
              <a:rPr lang="cs-CZ" smtClean="0"/>
              <a:pPr/>
              <a:t>19.3.2014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59CD-14C2-4440-B705-5924585864F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E94C-5550-46B2-BC07-5B65194490A2}" type="datetimeFigureOut">
              <a:rPr lang="cs-CZ" smtClean="0"/>
              <a:pPr/>
              <a:t>19.3.2014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59CD-14C2-4440-B705-5924585864F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E94C-5550-46B2-BC07-5B65194490A2}" type="datetimeFigureOut">
              <a:rPr lang="cs-CZ" smtClean="0"/>
              <a:pPr/>
              <a:t>19.3.2014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59CD-14C2-4440-B705-5924585864F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E94C-5550-46B2-BC07-5B65194490A2}" type="datetimeFigureOut">
              <a:rPr lang="cs-CZ" smtClean="0"/>
              <a:pPr/>
              <a:t>19.3.2014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59CD-14C2-4440-B705-5924585864F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E94C-5550-46B2-BC07-5B65194490A2}" type="datetimeFigureOut">
              <a:rPr lang="cs-CZ" smtClean="0"/>
              <a:pPr/>
              <a:t>19.3.2014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59CD-14C2-4440-B705-5924585864F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E94C-5550-46B2-BC07-5B65194490A2}" type="datetimeFigureOut">
              <a:rPr lang="cs-CZ" smtClean="0"/>
              <a:pPr/>
              <a:t>19.3.2014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59CD-14C2-4440-B705-5924585864F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E94C-5550-46B2-BC07-5B65194490A2}" type="datetimeFigureOut">
              <a:rPr lang="cs-CZ" smtClean="0"/>
              <a:pPr/>
              <a:t>19.3.2014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59CD-14C2-4440-B705-5924585864F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E94C-5550-46B2-BC07-5B65194490A2}" type="datetimeFigureOut">
              <a:rPr lang="cs-CZ" smtClean="0"/>
              <a:pPr/>
              <a:t>19.3.2014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59CD-14C2-4440-B705-5924585864F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E94C-5550-46B2-BC07-5B65194490A2}" type="datetimeFigureOut">
              <a:rPr lang="cs-CZ" smtClean="0"/>
              <a:pPr/>
              <a:t>19.3.2014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59CD-14C2-4440-B705-5924585864F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E94C-5550-46B2-BC07-5B65194490A2}" type="datetimeFigureOut">
              <a:rPr lang="cs-CZ" smtClean="0"/>
              <a:pPr/>
              <a:t>19.3.2014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59CD-14C2-4440-B705-5924585864F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7E94C-5550-46B2-BC07-5B65194490A2}" type="datetimeFigureOut">
              <a:rPr lang="cs-CZ" smtClean="0"/>
              <a:pPr/>
              <a:t>19.3.2014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E59CD-14C2-4440-B705-5924585864FD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3568" y="548680"/>
            <a:ext cx="7772400" cy="1470025"/>
          </a:xfrm>
        </p:spPr>
        <p:txBody>
          <a:bodyPr/>
          <a:lstStyle/>
          <a:p>
            <a:r>
              <a:rPr lang="cs-CZ" dirty="0" smtClean="0"/>
              <a:t>2. téma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899592" y="2132856"/>
            <a:ext cx="7344816" cy="1752600"/>
          </a:xfrm>
        </p:spPr>
        <p:txBody>
          <a:bodyPr>
            <a:normAutofit fontScale="70000" lnSpcReduction="20000"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cs-CZ" dirty="0">
                <a:solidFill>
                  <a:schemeClr val="tx1"/>
                </a:solidFill>
              </a:rPr>
              <a:t>Zavedení OS , více OS na jednom pevném disku. </a:t>
            </a:r>
            <a:r>
              <a:rPr lang="cs-CZ" dirty="0" err="1">
                <a:solidFill>
                  <a:schemeClr val="tx1"/>
                </a:solidFill>
              </a:rPr>
              <a:t>Bootovací</a:t>
            </a:r>
            <a:r>
              <a:rPr lang="cs-CZ" dirty="0">
                <a:solidFill>
                  <a:schemeClr val="tx1"/>
                </a:solidFill>
              </a:rPr>
              <a:t> </a:t>
            </a:r>
            <a:r>
              <a:rPr lang="cs-CZ" dirty="0" smtClean="0">
                <a:solidFill>
                  <a:schemeClr val="tx1"/>
                </a:solidFill>
              </a:rPr>
              <a:t>manažer, příprava HDD na více OS, vlastnosti oddílů HDD</a:t>
            </a:r>
          </a:p>
          <a:p>
            <a:pPr marL="514350" indent="-514350" algn="l">
              <a:buFont typeface="+mj-lt"/>
              <a:buAutoNum type="arabicPeriod"/>
            </a:pPr>
            <a:r>
              <a:rPr lang="cs-CZ" dirty="0" smtClean="0">
                <a:solidFill>
                  <a:schemeClr val="tx1"/>
                </a:solidFill>
              </a:rPr>
              <a:t>HDD (princip</a:t>
            </a:r>
            <a:r>
              <a:rPr lang="cs-CZ" dirty="0">
                <a:solidFill>
                  <a:schemeClr val="tx1"/>
                </a:solidFill>
              </a:rPr>
              <a:t>, </a:t>
            </a:r>
            <a:r>
              <a:rPr lang="cs-CZ" dirty="0" smtClean="0">
                <a:solidFill>
                  <a:schemeClr val="tx1"/>
                </a:solidFill>
              </a:rPr>
              <a:t>rozhraní, rozdělení </a:t>
            </a:r>
            <a:r>
              <a:rPr lang="cs-CZ" dirty="0">
                <a:solidFill>
                  <a:schemeClr val="tx1"/>
                </a:solidFill>
              </a:rPr>
              <a:t>disku, FS, RAID</a:t>
            </a:r>
            <a:r>
              <a:rPr lang="cs-CZ" dirty="0" smtClean="0">
                <a:solidFill>
                  <a:schemeClr val="tx1"/>
                </a:solidFill>
              </a:rPr>
              <a:t>) </a:t>
            </a:r>
          </a:p>
          <a:p>
            <a:pPr marL="514350" indent="-514350" algn="l">
              <a:buFont typeface="+mj-lt"/>
              <a:buAutoNum type="arabicPeriod"/>
            </a:pPr>
            <a:r>
              <a:rPr lang="cs-CZ" dirty="0" smtClean="0">
                <a:solidFill>
                  <a:schemeClr val="tx1"/>
                </a:solidFill>
              </a:rPr>
              <a:t>SSD disk, </a:t>
            </a:r>
            <a:r>
              <a:rPr lang="cs-CZ" dirty="0" err="1">
                <a:solidFill>
                  <a:schemeClr val="tx1"/>
                </a:solidFill>
              </a:rPr>
              <a:t>Flash</a:t>
            </a:r>
            <a:r>
              <a:rPr lang="cs-CZ" dirty="0">
                <a:solidFill>
                  <a:schemeClr val="tx1"/>
                </a:solidFill>
              </a:rPr>
              <a:t>-disk</a:t>
            </a:r>
          </a:p>
        </p:txBody>
      </p:sp>
      <p:pic>
        <p:nvPicPr>
          <p:cNvPr id="3074" name="Picture 2" descr="C:\Users\Gamer\Desktop\Kingston-HyperX-240GB-3K-SSD-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3501008"/>
            <a:ext cx="4525963" cy="2743200"/>
          </a:xfrm>
          <a:prstGeom prst="rect">
            <a:avLst/>
          </a:prstGeom>
          <a:noFill/>
        </p:spPr>
      </p:pic>
      <p:sp>
        <p:nvSpPr>
          <p:cNvPr id="5" name="TextovéPole 4"/>
          <p:cNvSpPr txBox="1"/>
          <p:nvPr/>
        </p:nvSpPr>
        <p:spPr>
          <a:xfrm>
            <a:off x="7343800" y="5733256"/>
            <a:ext cx="180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smtClean="0"/>
              <a:t>Vypracovali:</a:t>
            </a:r>
          </a:p>
          <a:p>
            <a:r>
              <a:rPr lang="cs-CZ" dirty="0" smtClean="0"/>
              <a:t>Pavel Džambik</a:t>
            </a:r>
          </a:p>
          <a:p>
            <a:r>
              <a:rPr lang="cs-CZ" dirty="0" smtClean="0"/>
              <a:t>Tomáš Svoboda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Zavedení OS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cs-CZ" sz="2000" b="1" dirty="0" smtClean="0"/>
              <a:t>Operační systém je možné zavést z různých zdrojů:</a:t>
            </a:r>
          </a:p>
          <a:p>
            <a:r>
              <a:rPr lang="cs-CZ" sz="1800" dirty="0" smtClean="0"/>
              <a:t>pevný disk</a:t>
            </a:r>
          </a:p>
          <a:p>
            <a:r>
              <a:rPr lang="cs-CZ" sz="1800" dirty="0" smtClean="0"/>
              <a:t>disketa</a:t>
            </a:r>
          </a:p>
          <a:p>
            <a:r>
              <a:rPr lang="cs-CZ" sz="1800" dirty="0" smtClean="0"/>
              <a:t>CD/DVD</a:t>
            </a:r>
          </a:p>
          <a:p>
            <a:r>
              <a:rPr lang="cs-CZ" sz="1800" dirty="0" smtClean="0"/>
              <a:t>LAN</a:t>
            </a:r>
          </a:p>
          <a:p>
            <a:r>
              <a:rPr lang="cs-CZ" sz="1800" dirty="0" smtClean="0"/>
              <a:t>USB (</a:t>
            </a:r>
            <a:r>
              <a:rPr lang="cs-CZ" sz="1800" dirty="0" err="1" smtClean="0"/>
              <a:t>flash</a:t>
            </a:r>
            <a:r>
              <a:rPr lang="cs-CZ" sz="1800" dirty="0" smtClean="0"/>
              <a:t> disk, externí pevný disk...)</a:t>
            </a:r>
          </a:p>
          <a:p>
            <a:pPr>
              <a:buNone/>
            </a:pPr>
            <a:endParaRPr lang="cs-CZ" sz="2000" b="1" dirty="0"/>
          </a:p>
          <a:p>
            <a:pPr>
              <a:buNone/>
            </a:pPr>
            <a:r>
              <a:rPr lang="cs-CZ" sz="2000" b="1" dirty="0" smtClean="0"/>
              <a:t>Postup při pouze jednom OS v PC</a:t>
            </a:r>
            <a:r>
              <a:rPr lang="cs-CZ" sz="2000" dirty="0" smtClean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1800" dirty="0" smtClean="0"/>
              <a:t>BIOS </a:t>
            </a:r>
            <a:r>
              <a:rPr lang="cs-CZ" sz="1800" dirty="0"/>
              <a:t>načte MBR z disku do paměti a skočí na </a:t>
            </a:r>
            <a:r>
              <a:rPr lang="cs-CZ" sz="1800" dirty="0" smtClean="0"/>
              <a:t>začátek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1800" dirty="0" smtClean="0"/>
              <a:t>kód MBR vybere aktivní oddíl</a:t>
            </a:r>
          </a:p>
          <a:p>
            <a:pPr marL="457200" lvl="0" indent="-457200">
              <a:buFont typeface="+mj-lt"/>
              <a:buAutoNum type="arabicPeriod"/>
            </a:pPr>
            <a:r>
              <a:rPr lang="cs-CZ" sz="1800" dirty="0" smtClean="0"/>
              <a:t>MBR zavede z aktivního oddílu </a:t>
            </a:r>
            <a:r>
              <a:rPr lang="cs-CZ" sz="1800" dirty="0" err="1" smtClean="0"/>
              <a:t>boot</a:t>
            </a:r>
            <a:r>
              <a:rPr lang="cs-CZ" sz="1800" dirty="0" smtClean="0"/>
              <a:t> sektor</a:t>
            </a:r>
          </a:p>
          <a:p>
            <a:pPr marL="457200" indent="-457200">
              <a:buNone/>
            </a:pPr>
            <a:r>
              <a:rPr lang="cs-CZ" sz="2000" b="1" dirty="0" smtClean="0"/>
              <a:t>Postup při více OS v PC</a:t>
            </a:r>
            <a:r>
              <a:rPr lang="cs-CZ" sz="2000" dirty="0" smtClean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1800" dirty="0" smtClean="0"/>
              <a:t>BIOS načte MBR z disku do paměti a skočí na začátek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1800" dirty="0" smtClean="0"/>
              <a:t>Zde se však místo klasického MBR nachází </a:t>
            </a:r>
            <a:r>
              <a:rPr lang="cs-CZ" sz="1800" dirty="0" err="1" smtClean="0"/>
              <a:t>boot</a:t>
            </a:r>
            <a:r>
              <a:rPr lang="cs-CZ" sz="1800" dirty="0" smtClean="0"/>
              <a:t> manažer(např. GRUB), kde si vybereme, který OS chceme spustit(standardně se do 30s automaticky spustí výchozí)</a:t>
            </a:r>
            <a:endParaRPr lang="cs-CZ" sz="2000" dirty="0" smtClean="0"/>
          </a:p>
          <a:p>
            <a:pPr marL="457200" indent="-457200">
              <a:buNone/>
            </a:pPr>
            <a:endParaRPr lang="cs-CZ" sz="2000" dirty="0" smtClean="0"/>
          </a:p>
          <a:p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Více OS na jednom disku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dirty="0" smtClean="0"/>
              <a:t>Je to možné, ale každý OS musí mít vlastní </a:t>
            </a:r>
            <a:r>
              <a:rPr lang="cs-CZ" sz="2000" dirty="0" err="1" smtClean="0"/>
              <a:t>partition</a:t>
            </a:r>
            <a:r>
              <a:rPr lang="cs-CZ" sz="2000" dirty="0" smtClean="0"/>
              <a:t>(oddíl)</a:t>
            </a:r>
          </a:p>
          <a:p>
            <a:r>
              <a:rPr lang="cs-CZ" sz="2000" dirty="0" smtClean="0"/>
              <a:t>Je možné mít 4 primární oddíly nebo 3 primární a jednu </a:t>
            </a:r>
            <a:r>
              <a:rPr lang="cs-CZ" sz="2000" dirty="0" err="1" smtClean="0"/>
              <a:t>extended</a:t>
            </a:r>
            <a:r>
              <a:rPr lang="cs-CZ" sz="2000" dirty="0" smtClean="0"/>
              <a:t>(rozšířenou), která může obsahovat další logické oddíly.</a:t>
            </a:r>
          </a:p>
          <a:p>
            <a:pPr>
              <a:buNone/>
            </a:pPr>
            <a:r>
              <a:rPr lang="cs-CZ" sz="2000" b="1" dirty="0" smtClean="0"/>
              <a:t>Spouští se ten OS, 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2000" dirty="0" smtClean="0"/>
              <a:t>který je nastaven jako aktivní nebo </a:t>
            </a:r>
            <a:r>
              <a:rPr lang="cs-CZ" sz="2000" dirty="0" err="1" smtClean="0"/>
              <a:t>boot</a:t>
            </a:r>
            <a:r>
              <a:rPr lang="cs-CZ" sz="2000" dirty="0" smtClean="0"/>
              <a:t> či </a:t>
            </a:r>
            <a:r>
              <a:rPr lang="cs-CZ" sz="2000" dirty="0" err="1" smtClean="0"/>
              <a:t>system</a:t>
            </a:r>
            <a:endParaRPr lang="cs-CZ" sz="2000" dirty="0" smtClean="0"/>
          </a:p>
          <a:p>
            <a:pPr marL="457200" indent="-457200">
              <a:buFont typeface="+mj-lt"/>
              <a:buAutoNum type="arabicPeriod"/>
            </a:pPr>
            <a:endParaRPr lang="cs-CZ" sz="2000" dirty="0"/>
          </a:p>
          <a:p>
            <a:pPr marL="457200" indent="-457200">
              <a:buFont typeface="+mj-lt"/>
              <a:buAutoNum type="arabicPeriod"/>
            </a:pPr>
            <a:endParaRPr lang="cs-CZ" sz="2000" dirty="0" smtClean="0"/>
          </a:p>
          <a:p>
            <a:pPr marL="457200" indent="-457200">
              <a:buFont typeface="+mj-lt"/>
              <a:buAutoNum type="arabicPeriod"/>
            </a:pPr>
            <a:endParaRPr lang="cs-CZ" sz="2000" dirty="0"/>
          </a:p>
          <a:p>
            <a:pPr marL="457200" indent="-457200">
              <a:buFont typeface="+mj-lt"/>
              <a:buAutoNum type="arabicPeriod"/>
            </a:pPr>
            <a:r>
              <a:rPr lang="cs-CZ" sz="2000" dirty="0" smtClean="0"/>
              <a:t>nebo se systém vybírá pomocí </a:t>
            </a:r>
            <a:r>
              <a:rPr lang="cs-CZ" sz="2000" dirty="0" err="1" smtClean="0"/>
              <a:t>boot</a:t>
            </a:r>
            <a:r>
              <a:rPr lang="cs-CZ" sz="2000" dirty="0" smtClean="0"/>
              <a:t> </a:t>
            </a:r>
            <a:r>
              <a:rPr lang="cs-CZ" sz="2000" dirty="0" err="1" smtClean="0"/>
              <a:t>manageru</a:t>
            </a:r>
            <a:endParaRPr lang="cs-CZ" sz="2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3429000"/>
            <a:ext cx="7400925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4869160"/>
            <a:ext cx="5867400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err="1" smtClean="0"/>
              <a:t>Bootovací</a:t>
            </a:r>
            <a:r>
              <a:rPr lang="cs-CZ" dirty="0" smtClean="0"/>
              <a:t> </a:t>
            </a:r>
            <a:r>
              <a:rPr lang="cs-CZ" dirty="0" err="1" smtClean="0"/>
              <a:t>manager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dirty="0"/>
              <a:t>Někdy je MBR nahrazen zavaděčem, který zavede složitější program, nazývaný </a:t>
            </a:r>
            <a:r>
              <a:rPr lang="cs-CZ" sz="2000" dirty="0" err="1"/>
              <a:t>boot</a:t>
            </a:r>
            <a:r>
              <a:rPr lang="cs-CZ" sz="2000" dirty="0"/>
              <a:t> </a:t>
            </a:r>
            <a:r>
              <a:rPr lang="cs-CZ" sz="2000" dirty="0" err="1"/>
              <a:t>manager</a:t>
            </a:r>
            <a:r>
              <a:rPr lang="cs-CZ" sz="2000" dirty="0" smtClean="0"/>
              <a:t>.</a:t>
            </a:r>
          </a:p>
          <a:p>
            <a:r>
              <a:rPr lang="cs-CZ" sz="2000" dirty="0" smtClean="0"/>
              <a:t>Využívá se většinou tehdy, kdy je potřeba spouštět více OS</a:t>
            </a:r>
          </a:p>
          <a:p>
            <a:r>
              <a:rPr lang="cs-CZ" sz="2000" dirty="0" smtClean="0"/>
              <a:t>Pokup před uplynutím nastavené doby(typicky 30s) nevybereme jiný oddíl, spustí </a:t>
            </a:r>
            <a:r>
              <a:rPr lang="cs-CZ" sz="2000" dirty="0" err="1" smtClean="0"/>
              <a:t>boot</a:t>
            </a:r>
            <a:r>
              <a:rPr lang="cs-CZ" sz="2000" dirty="0" smtClean="0"/>
              <a:t> </a:t>
            </a:r>
            <a:r>
              <a:rPr lang="cs-CZ" sz="2000" dirty="0" err="1" smtClean="0"/>
              <a:t>manager</a:t>
            </a:r>
            <a:r>
              <a:rPr lang="cs-CZ" sz="2000" dirty="0" smtClean="0"/>
              <a:t> ten OS, který je nastaven jako výchozí.</a:t>
            </a:r>
          </a:p>
          <a:p>
            <a:pPr>
              <a:buNone/>
            </a:pPr>
            <a:r>
              <a:rPr lang="cs-CZ" sz="2000" b="1" dirty="0" smtClean="0"/>
              <a:t>Nejpoužívanější </a:t>
            </a:r>
            <a:r>
              <a:rPr lang="cs-CZ" sz="2000" b="1" dirty="0" err="1" smtClean="0"/>
              <a:t>boot</a:t>
            </a:r>
            <a:r>
              <a:rPr lang="cs-CZ" sz="2000" b="1" dirty="0" smtClean="0"/>
              <a:t> </a:t>
            </a:r>
            <a:r>
              <a:rPr lang="cs-CZ" sz="2000" b="1" dirty="0" err="1" smtClean="0"/>
              <a:t>managery</a:t>
            </a:r>
            <a:r>
              <a:rPr lang="cs-CZ" sz="2000" b="1" dirty="0" smtClean="0"/>
              <a:t>:</a:t>
            </a:r>
          </a:p>
          <a:p>
            <a:r>
              <a:rPr lang="cs-CZ" sz="2000" dirty="0"/>
              <a:t>Windows </a:t>
            </a:r>
            <a:r>
              <a:rPr lang="cs-CZ" sz="2000" dirty="0" err="1"/>
              <a:t>Boot</a:t>
            </a:r>
            <a:r>
              <a:rPr lang="cs-CZ" sz="2000" dirty="0"/>
              <a:t> </a:t>
            </a:r>
            <a:r>
              <a:rPr lang="cs-CZ" sz="2000" dirty="0" err="1" smtClean="0"/>
              <a:t>Manager</a:t>
            </a:r>
            <a:endParaRPr lang="cs-CZ" sz="2000" dirty="0" smtClean="0"/>
          </a:p>
          <a:p>
            <a:r>
              <a:rPr lang="cs-CZ" sz="2000" dirty="0" smtClean="0"/>
              <a:t>GRUB</a:t>
            </a:r>
          </a:p>
          <a:p>
            <a:r>
              <a:rPr lang="cs-CZ" sz="2000" dirty="0" smtClean="0"/>
              <a:t>LILO</a:t>
            </a:r>
          </a:p>
          <a:p>
            <a:r>
              <a:rPr lang="cs-CZ" sz="2000" dirty="0" smtClean="0"/>
              <a:t>XOSL</a:t>
            </a:r>
          </a:p>
          <a:p>
            <a:pPr>
              <a:buNone/>
            </a:pPr>
            <a:endParaRPr lang="cs-CZ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Pevné disky (HDD)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cs-CZ" sz="2400" b="1" dirty="0" smtClean="0"/>
              <a:t>Rozdělujeme nejčastěji podle rozhraní: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200" b="1" dirty="0" smtClean="0"/>
              <a:t>SCSI</a:t>
            </a:r>
            <a:r>
              <a:rPr lang="cs-CZ" sz="2200" dirty="0" smtClean="0"/>
              <a:t> (servery</a:t>
            </a:r>
            <a:r>
              <a:rPr lang="cs-CZ" sz="2200" dirty="0" smtClean="0"/>
              <a:t>) – nutnost používat </a:t>
            </a:r>
            <a:r>
              <a:rPr lang="cs-CZ" sz="2200" dirty="0" err="1" smtClean="0"/>
              <a:t>TERMINATORy</a:t>
            </a:r>
            <a:r>
              <a:rPr lang="cs-CZ" sz="2200" dirty="0" smtClean="0"/>
              <a:t> </a:t>
            </a:r>
            <a:r>
              <a:rPr lang="cs-CZ" sz="2200" smtClean="0"/>
              <a:t>pro </a:t>
            </a:r>
            <a:r>
              <a:rPr lang="cs-CZ" sz="2200" dirty="0" smtClean="0"/>
              <a:t>„ukončení </a:t>
            </a:r>
            <a:r>
              <a:rPr lang="cs-CZ" sz="2200" smtClean="0"/>
              <a:t>kabelu“</a:t>
            </a:r>
            <a:endParaRPr lang="cs-CZ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cs-CZ" sz="2200" b="1" dirty="0" smtClean="0"/>
              <a:t>PATA(ATA) /IDE </a:t>
            </a:r>
            <a:r>
              <a:rPr lang="cs-CZ" sz="2200" dirty="0" smtClean="0"/>
              <a:t>(až 133MB/s, někdy podpora i 150MB/s – nebylo standardizováno)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200" b="1" dirty="0" smtClean="0"/>
              <a:t>SATA </a:t>
            </a:r>
            <a:r>
              <a:rPr lang="cs-CZ" sz="2200" dirty="0" smtClean="0"/>
              <a:t>(SATA1 = 150 MB/s, SATA2 = 300 MB/s, SATA3 = 600 MB/s)</a:t>
            </a:r>
          </a:p>
          <a:p>
            <a:pPr marL="514350" indent="-514350">
              <a:buNone/>
            </a:pPr>
            <a:r>
              <a:rPr lang="cs-CZ" sz="2200" b="1" dirty="0" smtClean="0"/>
              <a:t>Klíčové parametry při výběru:</a:t>
            </a:r>
          </a:p>
          <a:p>
            <a:pPr marL="514350" indent="-514350"/>
            <a:r>
              <a:rPr lang="cs-CZ" sz="2200" dirty="0"/>
              <a:t>t</a:t>
            </a:r>
            <a:r>
              <a:rPr lang="cs-CZ" sz="2200" dirty="0" smtClean="0"/>
              <a:t>yp a verze rozhraní</a:t>
            </a:r>
          </a:p>
          <a:p>
            <a:pPr marL="514350" indent="-514350"/>
            <a:r>
              <a:rPr lang="cs-CZ" sz="2200" dirty="0"/>
              <a:t>k</a:t>
            </a:r>
            <a:r>
              <a:rPr lang="cs-CZ" sz="2200" dirty="0" smtClean="0"/>
              <a:t>apacita</a:t>
            </a:r>
          </a:p>
          <a:p>
            <a:pPr marL="514350" indent="-514350"/>
            <a:r>
              <a:rPr lang="cs-CZ" sz="2200" dirty="0" smtClean="0"/>
              <a:t>otáčky</a:t>
            </a:r>
          </a:p>
          <a:p>
            <a:pPr marL="514350" indent="-514350"/>
            <a:r>
              <a:rPr lang="cs-CZ" sz="2200" dirty="0" smtClean="0"/>
              <a:t>velikost (1,8“; 2,5“; 3,5“)</a:t>
            </a:r>
          </a:p>
          <a:p>
            <a:pPr marL="514350" indent="-514350"/>
            <a:r>
              <a:rPr lang="cs-CZ" sz="2200" dirty="0" smtClean="0"/>
              <a:t>velikost vyrovnávací paměti</a:t>
            </a:r>
          </a:p>
          <a:p>
            <a:pPr marL="514350" indent="-514350"/>
            <a:r>
              <a:rPr lang="cs-CZ" sz="2200" dirty="0"/>
              <a:t>s</a:t>
            </a:r>
            <a:r>
              <a:rPr lang="cs-CZ" sz="2200" dirty="0" smtClean="0"/>
              <a:t>potřeba</a:t>
            </a:r>
          </a:p>
          <a:p>
            <a:pPr marL="514350" indent="-514350">
              <a:buNone/>
            </a:pPr>
            <a:endParaRPr lang="cs-CZ" sz="2200" dirty="0" smtClean="0"/>
          </a:p>
          <a:p>
            <a:pPr marL="514350" indent="-514350" algn="just">
              <a:buNone/>
            </a:pPr>
            <a:endParaRPr lang="cs-CZ" sz="2200" dirty="0" smtClean="0"/>
          </a:p>
        </p:txBody>
      </p:sp>
      <p:pic>
        <p:nvPicPr>
          <p:cNvPr id="2050" name="Picture 2" descr="C:\Users\Gamer\Desktop\hard-drive-recover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3645024"/>
            <a:ext cx="3847944" cy="244827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Princip pevných disků</a:t>
            </a:r>
            <a:endParaRPr lang="cs-CZ" dirty="0"/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sz="2200" dirty="0" smtClean="0"/>
              <a:t>Pevné disky fungují na principu magnetického záznamu</a:t>
            </a:r>
          </a:p>
          <a:p>
            <a:r>
              <a:rPr lang="cs-CZ" sz="2200" dirty="0" smtClean="0"/>
              <a:t>Hlavičky zapisují/čtou z magnetických ploten. Pohybují se nad plotnami = nikdy se jich nedotýkají (při jejich dotyku by došlo k nevratnému zničení disku – viz foto – tzv. </a:t>
            </a:r>
            <a:r>
              <a:rPr lang="cs-CZ" sz="2200" dirty="0" err="1" smtClean="0"/>
              <a:t>head</a:t>
            </a:r>
            <a:r>
              <a:rPr lang="cs-CZ" sz="2200" dirty="0" smtClean="0"/>
              <a:t> </a:t>
            </a:r>
            <a:r>
              <a:rPr lang="cs-CZ" sz="2200" dirty="0" err="1" smtClean="0"/>
              <a:t>crash</a:t>
            </a:r>
            <a:r>
              <a:rPr lang="cs-CZ" sz="2200" dirty="0" smtClean="0"/>
              <a:t>)</a:t>
            </a:r>
          </a:p>
          <a:p>
            <a:endParaRPr lang="cs-CZ" sz="2200" dirty="0"/>
          </a:p>
          <a:p>
            <a:endParaRPr lang="cs-CZ" sz="2200" dirty="0" smtClean="0"/>
          </a:p>
          <a:p>
            <a:endParaRPr lang="cs-CZ" sz="2200" dirty="0"/>
          </a:p>
          <a:p>
            <a:endParaRPr lang="cs-CZ" sz="2200" dirty="0" smtClean="0"/>
          </a:p>
          <a:p>
            <a:endParaRPr lang="cs-CZ" sz="2200" dirty="0" smtClean="0"/>
          </a:p>
          <a:p>
            <a:endParaRPr lang="cs-CZ" sz="2200" dirty="0" smtClean="0"/>
          </a:p>
          <a:p>
            <a:endParaRPr lang="cs-CZ" sz="2200" dirty="0" smtClean="0"/>
          </a:p>
          <a:p>
            <a:r>
              <a:rPr lang="cs-CZ" sz="2200" dirty="0" smtClean="0"/>
              <a:t>Při používání časem dochází k takovému opotřebení jednotlivých buněk, kdy už není možné rozeznat 1 od 0 a blok je poté označen jako vadný (</a:t>
            </a:r>
            <a:r>
              <a:rPr lang="cs-CZ" sz="2200" dirty="0" err="1" smtClean="0"/>
              <a:t>bad</a:t>
            </a:r>
            <a:r>
              <a:rPr lang="cs-CZ" sz="2200" dirty="0" smtClean="0"/>
              <a:t> </a:t>
            </a:r>
            <a:r>
              <a:rPr lang="cs-CZ" sz="2200" dirty="0" err="1" smtClean="0"/>
              <a:t>block</a:t>
            </a:r>
            <a:r>
              <a:rPr lang="cs-CZ" sz="2200" dirty="0" smtClean="0"/>
              <a:t>) </a:t>
            </a:r>
            <a:endParaRPr lang="cs-CZ" sz="2200" dirty="0"/>
          </a:p>
        </p:txBody>
      </p:sp>
      <p:pic>
        <p:nvPicPr>
          <p:cNvPr id="4100" name="Picture 4" descr="C:\Users\Gamer\Desktop\necistot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3068960"/>
            <a:ext cx="4104456" cy="1872857"/>
          </a:xfrm>
          <a:prstGeom prst="rect">
            <a:avLst/>
          </a:prstGeom>
          <a:noFill/>
        </p:spPr>
      </p:pic>
      <p:pic>
        <p:nvPicPr>
          <p:cNvPr id="4102" name="Picture 6" descr="C:\Users\Gamer\Desktop\Hard_disk_head_crash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2636912"/>
            <a:ext cx="3672408" cy="244827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Popis pevných disků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fontScale="92500"/>
          </a:bodyPr>
          <a:lstStyle/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r>
              <a:rPr lang="cs-CZ" sz="2000" b="1" dirty="0" smtClean="0"/>
              <a:t>Výrobci HDD: </a:t>
            </a:r>
            <a:r>
              <a:rPr lang="cs-CZ" sz="2000" dirty="0" smtClean="0"/>
              <a:t>v současnosti v podstatě pouze 2 – Western Digital a Seagate</a:t>
            </a:r>
          </a:p>
          <a:p>
            <a:r>
              <a:rPr lang="cs-CZ" sz="2000" dirty="0" smtClean="0"/>
              <a:t>Dříve i Samsung(ještě asi 2 roky nazpět), </a:t>
            </a:r>
            <a:r>
              <a:rPr lang="cs-CZ" sz="2000" dirty="0" err="1" smtClean="0"/>
              <a:t>Matrox</a:t>
            </a:r>
            <a:r>
              <a:rPr lang="cs-CZ" sz="2000" dirty="0" smtClean="0"/>
              <a:t>, aj.</a:t>
            </a:r>
            <a:endParaRPr lang="cs-CZ" sz="2000" dirty="0"/>
          </a:p>
        </p:txBody>
      </p:sp>
      <p:pic>
        <p:nvPicPr>
          <p:cNvPr id="5124" name="Picture 4" descr="C:\Users\Gamer\Desktop\image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196752"/>
            <a:ext cx="5441417" cy="4680520"/>
          </a:xfrm>
          <a:prstGeom prst="rect">
            <a:avLst/>
          </a:prstGeom>
          <a:noFill/>
        </p:spPr>
      </p:pic>
      <p:pic>
        <p:nvPicPr>
          <p:cNvPr id="5123" name="Picture 3" descr="C:\Users\Gamer\Desktop\disk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70602" y="1378997"/>
            <a:ext cx="3545127" cy="381268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Souborové systémy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cs-CZ" sz="2400" b="1" dirty="0" smtClean="0"/>
              <a:t>Windows:</a:t>
            </a:r>
          </a:p>
          <a:p>
            <a:r>
              <a:rPr lang="cs-CZ" sz="2600" b="1" dirty="0" smtClean="0"/>
              <a:t>FAT12, FAT16</a:t>
            </a:r>
          </a:p>
          <a:p>
            <a:r>
              <a:rPr lang="cs-CZ" sz="2600" b="1" dirty="0" smtClean="0"/>
              <a:t>FAT32 </a:t>
            </a:r>
            <a:r>
              <a:rPr lang="cs-CZ" sz="2100" dirty="0" smtClean="0"/>
              <a:t>(možno pracovat s max. 4GB soubory)</a:t>
            </a:r>
            <a:endParaRPr lang="cs-CZ" sz="2600" dirty="0" smtClean="0"/>
          </a:p>
          <a:p>
            <a:r>
              <a:rPr lang="cs-CZ" sz="2600" b="1" dirty="0" smtClean="0"/>
              <a:t>FAT+ </a:t>
            </a:r>
            <a:r>
              <a:rPr lang="cs-CZ" sz="2000" dirty="0" smtClean="0"/>
              <a:t>(možno pracovat se soubory velkými až 256GB)</a:t>
            </a:r>
          </a:p>
          <a:p>
            <a:r>
              <a:rPr lang="cs-CZ" sz="2600" b="1" dirty="0" err="1" smtClean="0"/>
              <a:t>exFAT</a:t>
            </a:r>
            <a:r>
              <a:rPr lang="cs-CZ" sz="2000" dirty="0" smtClean="0"/>
              <a:t> – verze především pro paměťové karty SDXC(od 64GB výše)</a:t>
            </a:r>
          </a:p>
          <a:p>
            <a:r>
              <a:rPr lang="cs-CZ" sz="2600" b="1" dirty="0" smtClean="0"/>
              <a:t>NTFS</a:t>
            </a:r>
            <a:r>
              <a:rPr lang="cs-CZ" sz="2000" b="1" dirty="0" smtClean="0"/>
              <a:t> </a:t>
            </a:r>
            <a:r>
              <a:rPr lang="cs-CZ" sz="2000" dirty="0" smtClean="0"/>
              <a:t>– výhody:</a:t>
            </a:r>
          </a:p>
          <a:p>
            <a:pPr>
              <a:buNone/>
            </a:pPr>
            <a:r>
              <a:rPr lang="cs-CZ" sz="2000" dirty="0" smtClean="0"/>
              <a:t>	</a:t>
            </a:r>
            <a:r>
              <a:rPr lang="cs-CZ" sz="2000" b="1" dirty="0" smtClean="0"/>
              <a:t>snížená fragmentace </a:t>
            </a:r>
          </a:p>
          <a:p>
            <a:pPr>
              <a:buNone/>
            </a:pPr>
            <a:r>
              <a:rPr lang="cs-CZ" sz="2000" dirty="0"/>
              <a:t>	</a:t>
            </a:r>
            <a:r>
              <a:rPr lang="cs-CZ" sz="2000" b="1" dirty="0" err="1" smtClean="0"/>
              <a:t>žurnálování</a:t>
            </a:r>
            <a:r>
              <a:rPr lang="cs-CZ" sz="2000" dirty="0" smtClean="0"/>
              <a:t>- pokud se zápis neočekávaně přeruší (pád systému, atp.), lze všechny operace dokončit nebo anulovat</a:t>
            </a:r>
          </a:p>
          <a:p>
            <a:pPr>
              <a:buNone/>
            </a:pPr>
            <a:r>
              <a:rPr lang="cs-CZ" sz="2000" dirty="0"/>
              <a:t>	</a:t>
            </a:r>
            <a:r>
              <a:rPr lang="cs-CZ" sz="2000" b="1" dirty="0" smtClean="0"/>
              <a:t>komprese</a:t>
            </a:r>
          </a:p>
          <a:p>
            <a:pPr>
              <a:buNone/>
            </a:pPr>
            <a:r>
              <a:rPr lang="cs-CZ" sz="2000" dirty="0"/>
              <a:t>	</a:t>
            </a:r>
            <a:r>
              <a:rPr lang="cs-CZ" sz="2000" b="1" dirty="0" smtClean="0"/>
              <a:t>šifrování</a:t>
            </a:r>
          </a:p>
          <a:p>
            <a:pPr>
              <a:buNone/>
            </a:pPr>
            <a:r>
              <a:rPr lang="cs-CZ" sz="2000" dirty="0" smtClean="0"/>
              <a:t>	</a:t>
            </a:r>
            <a:r>
              <a:rPr lang="cs-CZ" sz="2000" b="1" dirty="0" smtClean="0"/>
              <a:t>diskové kvóty - </a:t>
            </a:r>
            <a:r>
              <a:rPr lang="cs-CZ" sz="2000" dirty="0" smtClean="0"/>
              <a:t>každému uživateli můžeme nastavit, kolik místa bude mít na disku pro sebe</a:t>
            </a:r>
          </a:p>
          <a:p>
            <a:pPr>
              <a:buNone/>
            </a:pPr>
            <a:r>
              <a:rPr lang="cs-CZ" sz="2400" b="1" dirty="0" smtClean="0"/>
              <a:t>Linux:</a:t>
            </a:r>
          </a:p>
          <a:p>
            <a:r>
              <a:rPr lang="cs-CZ" sz="2600" b="1" dirty="0" smtClean="0"/>
              <a:t>UFS</a:t>
            </a:r>
            <a:r>
              <a:rPr lang="cs-CZ" sz="2000" dirty="0" smtClean="0"/>
              <a:t> – </a:t>
            </a:r>
            <a:r>
              <a:rPr lang="cs-CZ" sz="2000" dirty="0" err="1" smtClean="0"/>
              <a:t>unix</a:t>
            </a:r>
            <a:r>
              <a:rPr lang="cs-CZ" sz="2000" dirty="0" smtClean="0"/>
              <a:t> </a:t>
            </a:r>
            <a:r>
              <a:rPr lang="cs-CZ" sz="2000" dirty="0" err="1" smtClean="0"/>
              <a:t>file</a:t>
            </a:r>
            <a:r>
              <a:rPr lang="cs-CZ" sz="2000" dirty="0" smtClean="0"/>
              <a:t> </a:t>
            </a:r>
            <a:r>
              <a:rPr lang="cs-CZ" sz="2000" dirty="0" err="1" smtClean="0"/>
              <a:t>system</a:t>
            </a:r>
            <a:endParaRPr lang="cs-CZ" sz="2000" dirty="0" smtClean="0"/>
          </a:p>
          <a:p>
            <a:r>
              <a:rPr lang="cs-CZ" sz="2600" b="1" dirty="0" smtClean="0"/>
              <a:t>ext2</a:t>
            </a:r>
          </a:p>
          <a:p>
            <a:r>
              <a:rPr lang="cs-CZ" sz="2600" b="1" dirty="0" smtClean="0"/>
              <a:t>ext3, ext4 </a:t>
            </a:r>
            <a:r>
              <a:rPr lang="cs-CZ" sz="2000" dirty="0" smtClean="0"/>
              <a:t>(jsou </a:t>
            </a:r>
            <a:r>
              <a:rPr lang="cs-CZ" sz="2000" dirty="0" err="1" smtClean="0"/>
              <a:t>žurnálovací</a:t>
            </a:r>
            <a:r>
              <a:rPr lang="cs-CZ" sz="2000" dirty="0" smtClean="0"/>
              <a:t>)</a:t>
            </a:r>
            <a:endParaRPr lang="cs-CZ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RAID 0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cs-CZ" sz="1700" b="1" dirty="0" smtClean="0"/>
              <a:t>	Není skutečný RAID, protože souborům neposkytuje žádnou ochranu (spíše naopak) -tzn. </a:t>
            </a:r>
            <a:r>
              <a:rPr lang="cs-CZ" sz="1700" b="1" dirty="0"/>
              <a:t>j</a:t>
            </a:r>
            <a:r>
              <a:rPr lang="cs-CZ" sz="1700" b="1" dirty="0" smtClean="0"/>
              <a:t>akmile se 1 z disků pokazí, jsou data ztracena.</a:t>
            </a:r>
          </a:p>
          <a:p>
            <a:pPr>
              <a:buNone/>
            </a:pPr>
            <a:r>
              <a:rPr lang="cs-CZ" sz="1700" b="1" dirty="0" smtClean="0"/>
              <a:t>Jsou potřeba 2 disky</a:t>
            </a:r>
            <a:endParaRPr lang="cs-CZ" sz="1700" b="1" dirty="0"/>
          </a:p>
          <a:p>
            <a:pPr>
              <a:buNone/>
            </a:pPr>
            <a:r>
              <a:rPr lang="cs-CZ" sz="1700" b="1" dirty="0" smtClean="0"/>
              <a:t>2 druhy:</a:t>
            </a:r>
          </a:p>
          <a:p>
            <a:pPr>
              <a:buNone/>
            </a:pPr>
            <a:r>
              <a:rPr lang="cs-CZ" sz="1700" dirty="0" smtClean="0"/>
              <a:t>Lineární:</a:t>
            </a:r>
          </a:p>
          <a:p>
            <a:pPr>
              <a:buNone/>
            </a:pPr>
            <a:r>
              <a:rPr lang="cs-CZ" sz="1700" dirty="0"/>
              <a:t> </a:t>
            </a:r>
            <a:r>
              <a:rPr lang="cs-CZ" sz="1700" dirty="0" smtClean="0"/>
              <a:t>-	Data se ukládají nejdříve na první, poté na druhý, třetí, atp. disk</a:t>
            </a:r>
          </a:p>
          <a:p>
            <a:pPr>
              <a:buNone/>
            </a:pPr>
            <a:r>
              <a:rPr lang="cs-CZ" sz="1700" dirty="0" smtClean="0"/>
              <a:t>-	 Výhodou je snadné přidání dalšího členu</a:t>
            </a:r>
          </a:p>
          <a:p>
            <a:pPr>
              <a:buNone/>
            </a:pPr>
            <a:endParaRPr lang="cs-CZ" sz="1700" dirty="0"/>
          </a:p>
          <a:p>
            <a:pPr>
              <a:buNone/>
            </a:pPr>
            <a:r>
              <a:rPr lang="cs-CZ" sz="1700" dirty="0" smtClean="0"/>
              <a:t>Prokládání (</a:t>
            </a:r>
            <a:r>
              <a:rPr lang="cs-CZ" sz="1700" dirty="0" err="1" smtClean="0"/>
              <a:t>striping</a:t>
            </a:r>
            <a:r>
              <a:rPr lang="cs-CZ" sz="1700" dirty="0" smtClean="0"/>
              <a:t>):</a:t>
            </a:r>
          </a:p>
          <a:p>
            <a:pPr>
              <a:buNone/>
            </a:pPr>
            <a:r>
              <a:rPr lang="cs-CZ" sz="1700" dirty="0" smtClean="0"/>
              <a:t>-	Data se ukládají střídavě na jeden a hned po té na druhý disk</a:t>
            </a:r>
          </a:p>
          <a:p>
            <a:pPr>
              <a:buFontTx/>
              <a:buChar char="-"/>
            </a:pPr>
            <a:r>
              <a:rPr lang="cs-CZ" sz="1700" dirty="0" smtClean="0"/>
              <a:t>Zrychlení čtení a zápisu v praxi okolo 50% (tzn. máme 2 disky, každý má rychlost 100 MB/s, tak při zapojení v RADI0 bude výsledná rychlost okolo 150 MB/s)</a:t>
            </a:r>
          </a:p>
          <a:p>
            <a:pPr>
              <a:buFontTx/>
              <a:buChar char="-"/>
            </a:pPr>
            <a:r>
              <a:rPr lang="cs-CZ" sz="1700" dirty="0" smtClean="0"/>
              <a:t>Kvalitnější RAID řadiče znamenají větší rychlost</a:t>
            </a:r>
          </a:p>
          <a:p>
            <a:pPr>
              <a:buNone/>
            </a:pPr>
            <a:endParaRPr lang="cs-CZ" sz="1700" dirty="0"/>
          </a:p>
          <a:p>
            <a:endParaRPr lang="cs-CZ" b="1" dirty="0" smtClean="0"/>
          </a:p>
          <a:p>
            <a:endParaRPr lang="cs-CZ" dirty="0"/>
          </a:p>
        </p:txBody>
      </p:sp>
      <p:pic>
        <p:nvPicPr>
          <p:cNvPr id="7170" name="Picture 2" descr="http://upload.wikimedia.org/wikipedia/commons/thumb/9/9b/RAID_0.svg/110px-RAID_0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92280" y="2492896"/>
            <a:ext cx="1047750" cy="16097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RAID 1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1700" b="1" dirty="0" smtClean="0"/>
              <a:t>Zrcadlení (</a:t>
            </a:r>
            <a:r>
              <a:rPr lang="cs-CZ" sz="1700" b="1" dirty="0" err="1" smtClean="0"/>
              <a:t>mirroring</a:t>
            </a:r>
            <a:r>
              <a:rPr lang="cs-CZ" sz="1700" b="1" dirty="0" smtClean="0"/>
              <a:t>)</a:t>
            </a:r>
          </a:p>
          <a:p>
            <a:r>
              <a:rPr lang="cs-CZ" sz="1700" dirty="0" smtClean="0"/>
              <a:t>Jsou potřeba 2 disky</a:t>
            </a:r>
          </a:p>
          <a:p>
            <a:r>
              <a:rPr lang="cs-CZ" sz="1700" dirty="0" err="1" smtClean="0"/>
              <a:t>Využitelost</a:t>
            </a:r>
            <a:r>
              <a:rPr lang="cs-CZ" sz="1700" dirty="0" smtClean="0"/>
              <a:t> - 50% celkové kapacity disků</a:t>
            </a:r>
          </a:p>
          <a:p>
            <a:r>
              <a:rPr lang="cs-CZ" sz="1700" dirty="0" smtClean="0"/>
              <a:t>Stejná data jsou uložena na každém disku</a:t>
            </a:r>
          </a:p>
          <a:p>
            <a:r>
              <a:rPr lang="cs-CZ" sz="1700" dirty="0" smtClean="0"/>
              <a:t>Odolné proti výpadku 1 z disků</a:t>
            </a:r>
          </a:p>
          <a:p>
            <a:r>
              <a:rPr lang="cs-CZ" sz="1700" dirty="0" smtClean="0"/>
              <a:t>Při použití kvalitního hardwarového řadiče je možné zvýšení rychlosti čtení (teoreticky až na dvojnásobek, v praxi dle řadiče) a snížení přístupové doby, protože načítá část souboru z jednoho a část z druhého disku. </a:t>
            </a:r>
            <a:endParaRPr lang="cs-CZ" sz="1700" dirty="0"/>
          </a:p>
        </p:txBody>
      </p:sp>
      <p:pic>
        <p:nvPicPr>
          <p:cNvPr id="6146" name="Picture 2" descr="http://upload.wikimedia.org/wikipedia/commons/thumb/b/b7/RAID_1.svg/110px-RAID_1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04248" y="1268760"/>
            <a:ext cx="1047750" cy="16097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RAID 5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Alespoň 3 disky</a:t>
            </a:r>
          </a:p>
          <a:p>
            <a:r>
              <a:rPr lang="cs-CZ" dirty="0" smtClean="0"/>
              <a:t>Pokud máme 4 disky, tak na každém z nich je uložena 1/4 kontrolních dat)</a:t>
            </a:r>
          </a:p>
          <a:p>
            <a:r>
              <a:rPr lang="cs-CZ" dirty="0" smtClean="0"/>
              <a:t>Ve výsledku nám zbude 3/4 využitelné kapacity</a:t>
            </a:r>
          </a:p>
          <a:p>
            <a:r>
              <a:rPr lang="cs-CZ" dirty="0" smtClean="0"/>
              <a:t>Rychlejší čtení, ale pomalejší zápis (nutnost výpočtu kontrolní dat)</a:t>
            </a:r>
          </a:p>
        </p:txBody>
      </p:sp>
      <p:pic>
        <p:nvPicPr>
          <p:cNvPr id="23554" name="Picture 2" descr="http://upload.wikimedia.org/wikipedia/commons/thumb/6/64/RAID_5.svg/220px-RAID_5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2160" y="692696"/>
            <a:ext cx="2095500" cy="15525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RAID 10 (1+0)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dirty="0" smtClean="0"/>
              <a:t>Data se nejdříve v diskových polích s RAID 1 zrcadlí a pak teprve se vloží do dalšího pole s RAID 0</a:t>
            </a:r>
          </a:p>
          <a:p>
            <a:r>
              <a:rPr lang="cs-CZ" sz="2000" dirty="0" smtClean="0"/>
              <a:t>50% kapacity</a:t>
            </a:r>
          </a:p>
          <a:p>
            <a:r>
              <a:rPr lang="cs-CZ" sz="2000" dirty="0" smtClean="0"/>
              <a:t>Odolnost proti výpadku jednoho disku z každého pole</a:t>
            </a:r>
          </a:p>
          <a:p>
            <a:r>
              <a:rPr lang="cs-CZ" sz="2000" dirty="0" smtClean="0"/>
              <a:t>Zvýšení rychlosti </a:t>
            </a:r>
          </a:p>
          <a:p>
            <a:pPr>
              <a:buNone/>
            </a:pPr>
            <a:endParaRPr lang="cs-CZ" sz="2000" dirty="0" smtClean="0"/>
          </a:p>
          <a:p>
            <a:pPr>
              <a:buNone/>
            </a:pPr>
            <a:endParaRPr lang="cs-CZ" sz="2000" dirty="0" smtClean="0"/>
          </a:p>
          <a:p>
            <a:r>
              <a:rPr lang="cs-CZ" sz="2000" dirty="0" smtClean="0"/>
              <a:t>Obdobou je RAID 01 (0+1), který však funguje obráceně – data se v diskových polích nejdříve prokládají (RAID0) a pak teprve zrcadlí (RAID1)</a:t>
            </a:r>
            <a:endParaRPr lang="cs-CZ" sz="2000" dirty="0"/>
          </a:p>
        </p:txBody>
      </p:sp>
      <p:pic>
        <p:nvPicPr>
          <p:cNvPr id="24578" name="Picture 2" descr="http://upload.wikimedia.org/wikipedia/commons/thumb/5/56/RAID_10.png/220px-RAID_1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4208" y="1844824"/>
            <a:ext cx="2095500" cy="22479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SSD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dirty="0" smtClean="0"/>
              <a:t>Data se ukládají do paměťových čipů – </a:t>
            </a:r>
            <a:r>
              <a:rPr lang="cs-CZ" sz="2000" dirty="0" err="1" smtClean="0"/>
              <a:t>nevolativní</a:t>
            </a:r>
            <a:r>
              <a:rPr lang="cs-CZ" sz="2000" dirty="0" smtClean="0"/>
              <a:t> </a:t>
            </a:r>
            <a:r>
              <a:rPr lang="cs-CZ" sz="2000" dirty="0" err="1" smtClean="0"/>
              <a:t>flash</a:t>
            </a:r>
            <a:r>
              <a:rPr lang="cs-CZ" sz="2000" dirty="0" smtClean="0"/>
              <a:t> paměti</a:t>
            </a:r>
          </a:p>
          <a:p>
            <a:r>
              <a:rPr lang="cs-CZ" sz="2000" dirty="0" smtClean="0"/>
              <a:t>Rozhraní: SATA, PCI-E</a:t>
            </a:r>
          </a:p>
          <a:p>
            <a:r>
              <a:rPr lang="cs-CZ" sz="2000" dirty="0" smtClean="0"/>
              <a:t>Oproti klasickým HDD jsou rychlejší, bezhlučné, mají menší přístupovou dobu , nižší spotřebu a jsou podstatně odolnější proti pádům</a:t>
            </a:r>
          </a:p>
          <a:p>
            <a:r>
              <a:rPr lang="cs-CZ" sz="2000" dirty="0" smtClean="0"/>
              <a:t>Nevýhodou je omezený zápis do jednoho paměťového místa – nezapisovat na stále na stejná místa v paměti má na starost technologie TRIM (možnost využívat od Windows 7)</a:t>
            </a:r>
          </a:p>
          <a:p>
            <a:r>
              <a:rPr lang="cs-CZ" sz="2000" dirty="0" smtClean="0"/>
              <a:t>Výrobci: Kingston, OCZ, A-DATA, </a:t>
            </a:r>
            <a:r>
              <a:rPr lang="cs-CZ" sz="2000" dirty="0" err="1" smtClean="0"/>
              <a:t>Crucial</a:t>
            </a:r>
            <a:r>
              <a:rPr lang="cs-CZ" sz="2000" dirty="0" smtClean="0"/>
              <a:t>, </a:t>
            </a:r>
            <a:r>
              <a:rPr lang="cs-CZ" sz="2000" dirty="0" err="1" smtClean="0"/>
              <a:t>Corsair</a:t>
            </a:r>
            <a:r>
              <a:rPr lang="cs-CZ" sz="2000" dirty="0" smtClean="0"/>
              <a:t>, Intel, Seagate, </a:t>
            </a:r>
            <a:r>
              <a:rPr lang="cs-CZ" sz="2000" dirty="0" err="1" smtClean="0"/>
              <a:t>Transcend</a:t>
            </a:r>
            <a:r>
              <a:rPr lang="cs-CZ" sz="2000" dirty="0" smtClean="0"/>
              <a:t>, Samsung, a další…</a:t>
            </a:r>
            <a:endParaRPr lang="cs-CZ" sz="2000" dirty="0"/>
          </a:p>
        </p:txBody>
      </p:sp>
      <p:pic>
        <p:nvPicPr>
          <p:cNvPr id="25604" name="Picture 4" descr="http://www.maximumpc.com/files/u127998/ssd_drive_revoful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4365104"/>
            <a:ext cx="3524743" cy="2376264"/>
          </a:xfrm>
          <a:prstGeom prst="rect">
            <a:avLst/>
          </a:prstGeom>
          <a:noFill/>
        </p:spPr>
      </p:pic>
      <p:pic>
        <p:nvPicPr>
          <p:cNvPr id="25607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4653136"/>
            <a:ext cx="3168352" cy="2078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Flash</a:t>
            </a:r>
            <a:r>
              <a:rPr lang="cs-CZ" dirty="0" smtClean="0"/>
              <a:t> disk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Používá </a:t>
            </a:r>
            <a:r>
              <a:rPr lang="cs-CZ" dirty="0" err="1" smtClean="0"/>
              <a:t>nevolativní</a:t>
            </a:r>
            <a:r>
              <a:rPr lang="cs-CZ" dirty="0" smtClean="0"/>
              <a:t> paměťové čipy (standardně 1-2 čipy)</a:t>
            </a:r>
          </a:p>
          <a:p>
            <a:r>
              <a:rPr lang="cs-CZ" dirty="0" smtClean="0"/>
              <a:t>Nižší rychlosti oproti SSD</a:t>
            </a:r>
          </a:p>
          <a:p>
            <a:r>
              <a:rPr lang="cs-CZ" dirty="0" smtClean="0"/>
              <a:t>Připojení nejčastěji přes USB</a:t>
            </a:r>
          </a:p>
          <a:p>
            <a:endParaRPr lang="cs-CZ" dirty="0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2160" y="2276872"/>
            <a:ext cx="1800200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077072"/>
            <a:ext cx="28575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9792" y="3933056"/>
            <a:ext cx="6724650" cy="277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 smtClean="0"/>
              <a:t>Děkuji za pozornost</a:t>
            </a:r>
            <a:br>
              <a:rPr lang="cs-CZ" dirty="0" smtClean="0"/>
            </a:b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endParaRPr lang="cs-CZ" dirty="0" smtClean="0"/>
          </a:p>
          <a:p>
            <a:pPr algn="ctr">
              <a:buNone/>
            </a:pPr>
            <a:endParaRPr lang="cs-CZ" dirty="0" smtClean="0"/>
          </a:p>
          <a:p>
            <a:pPr algn="ctr">
              <a:buNone/>
            </a:pPr>
            <a:endParaRPr lang="cs-CZ" dirty="0" smtClean="0"/>
          </a:p>
          <a:p>
            <a:pPr algn="ctr">
              <a:buNone/>
            </a:pPr>
            <a:endParaRPr lang="cs-CZ" dirty="0" smtClean="0"/>
          </a:p>
          <a:p>
            <a:pPr algn="ctr">
              <a:buNone/>
            </a:pPr>
            <a:endParaRPr lang="cs-CZ" dirty="0" smtClean="0"/>
          </a:p>
          <a:p>
            <a:pPr algn="ctr">
              <a:buNone/>
            </a:pPr>
            <a:endParaRPr lang="cs-CZ" dirty="0" smtClean="0"/>
          </a:p>
          <a:p>
            <a:pPr algn="ctr">
              <a:buNone/>
            </a:pPr>
            <a:endParaRPr lang="cs-CZ" dirty="0" smtClean="0"/>
          </a:p>
          <a:p>
            <a:pPr algn="ctr">
              <a:buNone/>
            </a:pPr>
            <a:endParaRPr lang="cs-CZ" dirty="0" smtClean="0"/>
          </a:p>
          <a:p>
            <a:pPr>
              <a:buNone/>
            </a:pPr>
            <a:endParaRPr lang="cs-CZ" sz="2000" dirty="0" smtClean="0"/>
          </a:p>
          <a:p>
            <a:pPr>
              <a:buNone/>
            </a:pPr>
            <a:endParaRPr lang="cs-CZ" sz="1800" dirty="0" smtClean="0"/>
          </a:p>
          <a:p>
            <a:pPr>
              <a:buNone/>
            </a:pPr>
            <a:r>
              <a:rPr lang="cs-CZ" sz="1400" dirty="0" smtClean="0"/>
              <a:t>Zdroje: </a:t>
            </a:r>
            <a:r>
              <a:rPr lang="cs-CZ" sz="1400" dirty="0" err="1" smtClean="0"/>
              <a:t>wikipedia.org</a:t>
            </a:r>
            <a:r>
              <a:rPr lang="cs-CZ" sz="1400" dirty="0" smtClean="0"/>
              <a:t>, </a:t>
            </a:r>
            <a:r>
              <a:rPr lang="cs-CZ" sz="1400" dirty="0" err="1" smtClean="0"/>
              <a:t>pctuning.cz</a:t>
            </a:r>
            <a:r>
              <a:rPr lang="cs-CZ" sz="1400" dirty="0" smtClean="0"/>
              <a:t>, </a:t>
            </a:r>
            <a:r>
              <a:rPr lang="cs-CZ" sz="1400" dirty="0" err="1" smtClean="0"/>
              <a:t>svethardware.cz</a:t>
            </a:r>
            <a:r>
              <a:rPr lang="cs-CZ" sz="1400" smtClean="0"/>
              <a:t>, aj.</a:t>
            </a:r>
            <a:endParaRPr lang="cs-CZ" sz="1400" dirty="0"/>
          </a:p>
        </p:txBody>
      </p:sp>
      <p:pic>
        <p:nvPicPr>
          <p:cNvPr id="1026" name="Picture 2" descr="C:\Users\Gamer\Desktop\hard-drive-toys (5)[4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836712"/>
            <a:ext cx="6840760" cy="556065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791</Words>
  <Application>Microsoft Office PowerPoint</Application>
  <PresentationFormat>Předvádění na obrazovce (4:3)</PresentationFormat>
  <Paragraphs>145</Paragraphs>
  <Slides>15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16" baseType="lpstr">
      <vt:lpstr>Motiv sady Office</vt:lpstr>
      <vt:lpstr>2. téma</vt:lpstr>
      <vt:lpstr>Zavedení OS</vt:lpstr>
      <vt:lpstr>Více OS na jednom disku</vt:lpstr>
      <vt:lpstr>Bootovací manager</vt:lpstr>
      <vt:lpstr>Pevné disky (HDD)</vt:lpstr>
      <vt:lpstr>Princip pevných disků</vt:lpstr>
      <vt:lpstr>Popis pevných disků</vt:lpstr>
      <vt:lpstr>Souborové systémy</vt:lpstr>
      <vt:lpstr>RAID 0</vt:lpstr>
      <vt:lpstr>RAID 1</vt:lpstr>
      <vt:lpstr>RAID 5</vt:lpstr>
      <vt:lpstr>RAID 10 (1+0)</vt:lpstr>
      <vt:lpstr>SSD</vt:lpstr>
      <vt:lpstr>Flash disk</vt:lpstr>
      <vt:lpstr>Děkuji za pozornost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</dc:title>
  <dc:creator>Gamer</dc:creator>
  <cp:lastModifiedBy>Gamer</cp:lastModifiedBy>
  <cp:revision>64</cp:revision>
  <dcterms:created xsi:type="dcterms:W3CDTF">2014-02-26T20:19:38Z</dcterms:created>
  <dcterms:modified xsi:type="dcterms:W3CDTF">2014-03-19T21:49:10Z</dcterms:modified>
</cp:coreProperties>
</file>