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0" y="-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3DE1B3-0BAE-46DB-B4BC-1DCAAF87B0B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89CFBE3C-216D-4927-8628-A0A88B583328}">
      <dgm:prSet phldrT="[Text]"/>
      <dgm:spPr/>
      <dgm:t>
        <a:bodyPr/>
        <a:lstStyle/>
        <a:p>
          <a:r>
            <a:rPr lang="cs-CZ" dirty="0" smtClean="0"/>
            <a:t>Rozdělení OS dle prostředí</a:t>
          </a:r>
          <a:endParaRPr lang="cs-CZ" dirty="0"/>
        </a:p>
      </dgm:t>
    </dgm:pt>
    <dgm:pt modelId="{22B8EABD-24F2-400B-951C-07BA9EBAB4D5}" type="parTrans" cxnId="{1A78E5DB-8CC7-4594-9DA2-B36CB9482CC2}">
      <dgm:prSet/>
      <dgm:spPr/>
      <dgm:t>
        <a:bodyPr/>
        <a:lstStyle/>
        <a:p>
          <a:endParaRPr lang="cs-CZ"/>
        </a:p>
      </dgm:t>
    </dgm:pt>
    <dgm:pt modelId="{51956B50-11F4-4FE3-B12D-57C75E1C2F6E}" type="sibTrans" cxnId="{1A78E5DB-8CC7-4594-9DA2-B36CB9482CC2}">
      <dgm:prSet/>
      <dgm:spPr/>
      <dgm:t>
        <a:bodyPr/>
        <a:lstStyle/>
        <a:p>
          <a:endParaRPr lang="cs-CZ"/>
        </a:p>
      </dgm:t>
    </dgm:pt>
    <dgm:pt modelId="{94E59419-7131-456B-A751-818E01F41D6E}">
      <dgm:prSet phldrT="[Text]"/>
      <dgm:spPr/>
      <dgm:t>
        <a:bodyPr/>
        <a:lstStyle/>
        <a:p>
          <a:r>
            <a:rPr lang="cs-CZ" dirty="0" smtClean="0"/>
            <a:t>Textové </a:t>
          </a:r>
          <a:endParaRPr lang="cs-CZ" dirty="0"/>
        </a:p>
      </dgm:t>
    </dgm:pt>
    <dgm:pt modelId="{61572065-5AF0-4298-B793-E81AC5F76013}" type="parTrans" cxnId="{870C3807-8B50-44CA-BFDA-C692639EA035}">
      <dgm:prSet/>
      <dgm:spPr/>
      <dgm:t>
        <a:bodyPr/>
        <a:lstStyle/>
        <a:p>
          <a:endParaRPr lang="cs-CZ"/>
        </a:p>
      </dgm:t>
    </dgm:pt>
    <dgm:pt modelId="{44118C36-A00B-4467-9C83-6C2D63653DF2}" type="sibTrans" cxnId="{870C3807-8B50-44CA-BFDA-C692639EA035}">
      <dgm:prSet/>
      <dgm:spPr/>
      <dgm:t>
        <a:bodyPr/>
        <a:lstStyle/>
        <a:p>
          <a:endParaRPr lang="cs-CZ"/>
        </a:p>
      </dgm:t>
    </dgm:pt>
    <dgm:pt modelId="{F197B334-B3B2-4F16-95F3-1D06EB3592CE}">
      <dgm:prSet phldrT="[Text]"/>
      <dgm:spPr/>
      <dgm:t>
        <a:bodyPr/>
        <a:lstStyle/>
        <a:p>
          <a:r>
            <a:rPr lang="cs-CZ" dirty="0" smtClean="0"/>
            <a:t>Grafické</a:t>
          </a:r>
          <a:endParaRPr lang="cs-CZ" dirty="0"/>
        </a:p>
      </dgm:t>
    </dgm:pt>
    <dgm:pt modelId="{BA77B307-7D4E-458F-804F-86AF8269822C}" type="parTrans" cxnId="{DCCFE6F4-06D5-412D-90B3-A2CB35280030}">
      <dgm:prSet/>
      <dgm:spPr/>
      <dgm:t>
        <a:bodyPr/>
        <a:lstStyle/>
        <a:p>
          <a:endParaRPr lang="cs-CZ"/>
        </a:p>
      </dgm:t>
    </dgm:pt>
    <dgm:pt modelId="{FAFB96DF-752A-46CC-B096-75B2BA7EAF26}" type="sibTrans" cxnId="{DCCFE6F4-06D5-412D-90B3-A2CB35280030}">
      <dgm:prSet/>
      <dgm:spPr/>
      <dgm:t>
        <a:bodyPr/>
        <a:lstStyle/>
        <a:p>
          <a:endParaRPr lang="cs-CZ"/>
        </a:p>
      </dgm:t>
    </dgm:pt>
    <dgm:pt modelId="{E301A93E-C8B9-4C2E-AE4A-E3C1C40CDA4B}" type="pres">
      <dgm:prSet presAssocID="{853DE1B3-0BAE-46DB-B4BC-1DCAAF87B0B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5F9F4C5-1D50-4437-9BCF-B9CC09C8E3FB}" type="pres">
      <dgm:prSet presAssocID="{89CFBE3C-216D-4927-8628-A0A88B583328}" presName="hierRoot1" presStyleCnt="0">
        <dgm:presLayoutVars>
          <dgm:hierBranch val="init"/>
        </dgm:presLayoutVars>
      </dgm:prSet>
      <dgm:spPr/>
    </dgm:pt>
    <dgm:pt modelId="{5E733825-C040-4A2F-B25E-F48998BFA6F9}" type="pres">
      <dgm:prSet presAssocID="{89CFBE3C-216D-4927-8628-A0A88B583328}" presName="rootComposite1" presStyleCnt="0"/>
      <dgm:spPr/>
    </dgm:pt>
    <dgm:pt modelId="{F87B10E7-71ED-4792-8A90-170970897D39}" type="pres">
      <dgm:prSet presAssocID="{89CFBE3C-216D-4927-8628-A0A88B583328}" presName="rootText1" presStyleLbl="node0" presStyleIdx="0" presStyleCnt="1" custScaleX="171862" custScaleY="68606" custLinFactNeighborY="-52223">
        <dgm:presLayoutVars>
          <dgm:chPref val="3"/>
        </dgm:presLayoutVars>
      </dgm:prSet>
      <dgm:spPr/>
      <dgm:t>
        <a:bodyPr/>
        <a:lstStyle/>
        <a:p>
          <a:endParaRPr lang="cs-CZ"/>
        </a:p>
      </dgm:t>
    </dgm:pt>
    <dgm:pt modelId="{BACD68A1-4332-4E93-88A1-5B7A992A7497}" type="pres">
      <dgm:prSet presAssocID="{89CFBE3C-216D-4927-8628-A0A88B583328}" presName="rootConnector1" presStyleLbl="node1" presStyleIdx="0" presStyleCnt="0"/>
      <dgm:spPr/>
    </dgm:pt>
    <dgm:pt modelId="{ACE068A6-47F3-4273-984D-A5BE794210DD}" type="pres">
      <dgm:prSet presAssocID="{89CFBE3C-216D-4927-8628-A0A88B583328}" presName="hierChild2" presStyleCnt="0"/>
      <dgm:spPr/>
    </dgm:pt>
    <dgm:pt modelId="{C8903CEB-5E4B-4348-9832-F47CBDC2CB36}" type="pres">
      <dgm:prSet presAssocID="{61572065-5AF0-4298-B793-E81AC5F76013}" presName="Name37" presStyleLbl="parChTrans1D2" presStyleIdx="0" presStyleCnt="2"/>
      <dgm:spPr/>
    </dgm:pt>
    <dgm:pt modelId="{5D5AF7B6-E1EE-4AA2-92CC-DE16F2BE6B35}" type="pres">
      <dgm:prSet presAssocID="{94E59419-7131-456B-A751-818E01F41D6E}" presName="hierRoot2" presStyleCnt="0">
        <dgm:presLayoutVars>
          <dgm:hierBranch val="init"/>
        </dgm:presLayoutVars>
      </dgm:prSet>
      <dgm:spPr/>
    </dgm:pt>
    <dgm:pt modelId="{0D005E88-1DA0-45D0-BEFF-342F2315A2ED}" type="pres">
      <dgm:prSet presAssocID="{94E59419-7131-456B-A751-818E01F41D6E}" presName="rootComposite" presStyleCnt="0"/>
      <dgm:spPr/>
    </dgm:pt>
    <dgm:pt modelId="{76D01F03-A47D-4254-8AB5-9A398B76B5C0}" type="pres">
      <dgm:prSet presAssocID="{94E59419-7131-456B-A751-818E01F41D6E}" presName="rootText" presStyleLbl="node2" presStyleIdx="0" presStyleCnt="2" custScaleX="91284" custScaleY="31153" custLinFactNeighborX="6881" custLinFactNeighborY="-70824">
        <dgm:presLayoutVars>
          <dgm:chPref val="3"/>
        </dgm:presLayoutVars>
      </dgm:prSet>
      <dgm:spPr/>
    </dgm:pt>
    <dgm:pt modelId="{1326847D-8FA7-4422-9E77-6DCAB9A21A50}" type="pres">
      <dgm:prSet presAssocID="{94E59419-7131-456B-A751-818E01F41D6E}" presName="rootConnector" presStyleLbl="node2" presStyleIdx="0" presStyleCnt="2"/>
      <dgm:spPr/>
    </dgm:pt>
    <dgm:pt modelId="{95E7FF17-2CD6-4388-BAA4-C82AC9150698}" type="pres">
      <dgm:prSet presAssocID="{94E59419-7131-456B-A751-818E01F41D6E}" presName="hierChild4" presStyleCnt="0"/>
      <dgm:spPr/>
    </dgm:pt>
    <dgm:pt modelId="{12717B2B-C0D4-4041-9F1C-9924B73C4960}" type="pres">
      <dgm:prSet presAssocID="{94E59419-7131-456B-A751-818E01F41D6E}" presName="hierChild5" presStyleCnt="0"/>
      <dgm:spPr/>
    </dgm:pt>
    <dgm:pt modelId="{3C628818-B398-4A6A-9A9A-28FD89E00557}" type="pres">
      <dgm:prSet presAssocID="{BA77B307-7D4E-458F-804F-86AF8269822C}" presName="Name37" presStyleLbl="parChTrans1D2" presStyleIdx="1" presStyleCnt="2"/>
      <dgm:spPr/>
    </dgm:pt>
    <dgm:pt modelId="{67816699-4307-4B8D-9A39-753E6A6EE389}" type="pres">
      <dgm:prSet presAssocID="{F197B334-B3B2-4F16-95F3-1D06EB3592CE}" presName="hierRoot2" presStyleCnt="0">
        <dgm:presLayoutVars>
          <dgm:hierBranch val="init"/>
        </dgm:presLayoutVars>
      </dgm:prSet>
      <dgm:spPr/>
    </dgm:pt>
    <dgm:pt modelId="{236F134E-B0A4-4ECA-A9A8-A4F9944AF523}" type="pres">
      <dgm:prSet presAssocID="{F197B334-B3B2-4F16-95F3-1D06EB3592CE}" presName="rootComposite" presStyleCnt="0"/>
      <dgm:spPr/>
    </dgm:pt>
    <dgm:pt modelId="{EE7CDF1B-8647-4703-9FB0-0C85B1154786}" type="pres">
      <dgm:prSet presAssocID="{F197B334-B3B2-4F16-95F3-1D06EB3592CE}" presName="rootText" presStyleLbl="node2" presStyleIdx="1" presStyleCnt="2" custScaleX="89639" custScaleY="32340" custLinFactNeighborX="-3179" custLinFactNeighborY="-70824">
        <dgm:presLayoutVars>
          <dgm:chPref val="3"/>
        </dgm:presLayoutVars>
      </dgm:prSet>
      <dgm:spPr/>
    </dgm:pt>
    <dgm:pt modelId="{9966C969-7B21-48F5-92FE-7C1B062DB3D2}" type="pres">
      <dgm:prSet presAssocID="{F197B334-B3B2-4F16-95F3-1D06EB3592CE}" presName="rootConnector" presStyleLbl="node2" presStyleIdx="1" presStyleCnt="2"/>
      <dgm:spPr/>
    </dgm:pt>
    <dgm:pt modelId="{D682E80B-7C33-4BCB-A091-489B73B1A89B}" type="pres">
      <dgm:prSet presAssocID="{F197B334-B3B2-4F16-95F3-1D06EB3592CE}" presName="hierChild4" presStyleCnt="0"/>
      <dgm:spPr/>
    </dgm:pt>
    <dgm:pt modelId="{965DAA56-BB93-4AD6-9265-3049C4CAFA46}" type="pres">
      <dgm:prSet presAssocID="{F197B334-B3B2-4F16-95F3-1D06EB3592CE}" presName="hierChild5" presStyleCnt="0"/>
      <dgm:spPr/>
    </dgm:pt>
    <dgm:pt modelId="{E1C8DF32-F5AE-476C-A85B-15576F1902AB}" type="pres">
      <dgm:prSet presAssocID="{89CFBE3C-216D-4927-8628-A0A88B583328}" presName="hierChild3" presStyleCnt="0"/>
      <dgm:spPr/>
    </dgm:pt>
  </dgm:ptLst>
  <dgm:cxnLst>
    <dgm:cxn modelId="{870C3807-8B50-44CA-BFDA-C692639EA035}" srcId="{89CFBE3C-216D-4927-8628-A0A88B583328}" destId="{94E59419-7131-456B-A751-818E01F41D6E}" srcOrd="0" destOrd="0" parTransId="{61572065-5AF0-4298-B793-E81AC5F76013}" sibTransId="{44118C36-A00B-4467-9C83-6C2D63653DF2}"/>
    <dgm:cxn modelId="{6226C1E0-D86A-4F7B-BE33-7FF07B378C18}" type="presOf" srcId="{BA77B307-7D4E-458F-804F-86AF8269822C}" destId="{3C628818-B398-4A6A-9A9A-28FD89E00557}" srcOrd="0" destOrd="0" presId="urn:microsoft.com/office/officeart/2005/8/layout/orgChart1"/>
    <dgm:cxn modelId="{9FDE942E-D910-4B8E-919A-F29C03F4F8A6}" type="presOf" srcId="{61572065-5AF0-4298-B793-E81AC5F76013}" destId="{C8903CEB-5E4B-4348-9832-F47CBDC2CB36}" srcOrd="0" destOrd="0" presId="urn:microsoft.com/office/officeart/2005/8/layout/orgChart1"/>
    <dgm:cxn modelId="{45F74A84-2ECF-4FCD-A91D-0468C890A458}" type="presOf" srcId="{94E59419-7131-456B-A751-818E01F41D6E}" destId="{76D01F03-A47D-4254-8AB5-9A398B76B5C0}" srcOrd="0" destOrd="0" presId="urn:microsoft.com/office/officeart/2005/8/layout/orgChart1"/>
    <dgm:cxn modelId="{5B908991-FB70-46FA-8CBB-E536913E29F3}" type="presOf" srcId="{853DE1B3-0BAE-46DB-B4BC-1DCAAF87B0BE}" destId="{E301A93E-C8B9-4C2E-AE4A-E3C1C40CDA4B}" srcOrd="0" destOrd="0" presId="urn:microsoft.com/office/officeart/2005/8/layout/orgChart1"/>
    <dgm:cxn modelId="{1A78E5DB-8CC7-4594-9DA2-B36CB9482CC2}" srcId="{853DE1B3-0BAE-46DB-B4BC-1DCAAF87B0BE}" destId="{89CFBE3C-216D-4927-8628-A0A88B583328}" srcOrd="0" destOrd="0" parTransId="{22B8EABD-24F2-400B-951C-07BA9EBAB4D5}" sibTransId="{51956B50-11F4-4FE3-B12D-57C75E1C2F6E}"/>
    <dgm:cxn modelId="{C797F5DF-D841-444F-9EB4-6DBA4C138435}" type="presOf" srcId="{89CFBE3C-216D-4927-8628-A0A88B583328}" destId="{F87B10E7-71ED-4792-8A90-170970897D39}" srcOrd="0" destOrd="0" presId="urn:microsoft.com/office/officeart/2005/8/layout/orgChart1"/>
    <dgm:cxn modelId="{DCCFE6F4-06D5-412D-90B3-A2CB35280030}" srcId="{89CFBE3C-216D-4927-8628-A0A88B583328}" destId="{F197B334-B3B2-4F16-95F3-1D06EB3592CE}" srcOrd="1" destOrd="0" parTransId="{BA77B307-7D4E-458F-804F-86AF8269822C}" sibTransId="{FAFB96DF-752A-46CC-B096-75B2BA7EAF26}"/>
    <dgm:cxn modelId="{CB95018A-A3B3-4BE1-9FD5-89728BDFC25F}" type="presOf" srcId="{89CFBE3C-216D-4927-8628-A0A88B583328}" destId="{BACD68A1-4332-4E93-88A1-5B7A992A7497}" srcOrd="1" destOrd="0" presId="urn:microsoft.com/office/officeart/2005/8/layout/orgChart1"/>
    <dgm:cxn modelId="{3CE3B5DF-B448-4DB8-8866-A43888850891}" type="presOf" srcId="{F197B334-B3B2-4F16-95F3-1D06EB3592CE}" destId="{9966C969-7B21-48F5-92FE-7C1B062DB3D2}" srcOrd="1" destOrd="0" presId="urn:microsoft.com/office/officeart/2005/8/layout/orgChart1"/>
    <dgm:cxn modelId="{B453CC5D-79E8-4E35-A8AD-5C0692C30A3E}" type="presOf" srcId="{94E59419-7131-456B-A751-818E01F41D6E}" destId="{1326847D-8FA7-4422-9E77-6DCAB9A21A50}" srcOrd="1" destOrd="0" presId="urn:microsoft.com/office/officeart/2005/8/layout/orgChart1"/>
    <dgm:cxn modelId="{579D8932-3274-47AF-A554-B2E3EBED241B}" type="presOf" srcId="{F197B334-B3B2-4F16-95F3-1D06EB3592CE}" destId="{EE7CDF1B-8647-4703-9FB0-0C85B1154786}" srcOrd="0" destOrd="0" presId="urn:microsoft.com/office/officeart/2005/8/layout/orgChart1"/>
    <dgm:cxn modelId="{8C17A809-2B10-495E-A7C2-7E88EBA2C1B7}" type="presParOf" srcId="{E301A93E-C8B9-4C2E-AE4A-E3C1C40CDA4B}" destId="{E5F9F4C5-1D50-4437-9BCF-B9CC09C8E3FB}" srcOrd="0" destOrd="0" presId="urn:microsoft.com/office/officeart/2005/8/layout/orgChart1"/>
    <dgm:cxn modelId="{9F8FDFED-3F23-4A5E-B215-2094B2847E67}" type="presParOf" srcId="{E5F9F4C5-1D50-4437-9BCF-B9CC09C8E3FB}" destId="{5E733825-C040-4A2F-B25E-F48998BFA6F9}" srcOrd="0" destOrd="0" presId="urn:microsoft.com/office/officeart/2005/8/layout/orgChart1"/>
    <dgm:cxn modelId="{C2336C06-E61D-4F6D-B164-6C3074A970DC}" type="presParOf" srcId="{5E733825-C040-4A2F-B25E-F48998BFA6F9}" destId="{F87B10E7-71ED-4792-8A90-170970897D39}" srcOrd="0" destOrd="0" presId="urn:microsoft.com/office/officeart/2005/8/layout/orgChart1"/>
    <dgm:cxn modelId="{9C656929-44B4-460C-907D-1BBAF2404382}" type="presParOf" srcId="{5E733825-C040-4A2F-B25E-F48998BFA6F9}" destId="{BACD68A1-4332-4E93-88A1-5B7A992A7497}" srcOrd="1" destOrd="0" presId="urn:microsoft.com/office/officeart/2005/8/layout/orgChart1"/>
    <dgm:cxn modelId="{76513958-CEEB-4715-9DD7-36E7040C2550}" type="presParOf" srcId="{E5F9F4C5-1D50-4437-9BCF-B9CC09C8E3FB}" destId="{ACE068A6-47F3-4273-984D-A5BE794210DD}" srcOrd="1" destOrd="0" presId="urn:microsoft.com/office/officeart/2005/8/layout/orgChart1"/>
    <dgm:cxn modelId="{9B3048B4-0C12-413F-96DD-5D263DAAB650}" type="presParOf" srcId="{ACE068A6-47F3-4273-984D-A5BE794210DD}" destId="{C8903CEB-5E4B-4348-9832-F47CBDC2CB36}" srcOrd="0" destOrd="0" presId="urn:microsoft.com/office/officeart/2005/8/layout/orgChart1"/>
    <dgm:cxn modelId="{8B3018BA-AB39-4559-BB58-3C0385BC2C82}" type="presParOf" srcId="{ACE068A6-47F3-4273-984D-A5BE794210DD}" destId="{5D5AF7B6-E1EE-4AA2-92CC-DE16F2BE6B35}" srcOrd="1" destOrd="0" presId="urn:microsoft.com/office/officeart/2005/8/layout/orgChart1"/>
    <dgm:cxn modelId="{04079FAD-A89A-45AA-B46C-DCF37A6B3F45}" type="presParOf" srcId="{5D5AF7B6-E1EE-4AA2-92CC-DE16F2BE6B35}" destId="{0D005E88-1DA0-45D0-BEFF-342F2315A2ED}" srcOrd="0" destOrd="0" presId="urn:microsoft.com/office/officeart/2005/8/layout/orgChart1"/>
    <dgm:cxn modelId="{199D4C3F-FF48-416F-B14C-AC5C4CD34641}" type="presParOf" srcId="{0D005E88-1DA0-45D0-BEFF-342F2315A2ED}" destId="{76D01F03-A47D-4254-8AB5-9A398B76B5C0}" srcOrd="0" destOrd="0" presId="urn:microsoft.com/office/officeart/2005/8/layout/orgChart1"/>
    <dgm:cxn modelId="{F07686CA-ECF9-4B90-B614-BE5519E6E8BB}" type="presParOf" srcId="{0D005E88-1DA0-45D0-BEFF-342F2315A2ED}" destId="{1326847D-8FA7-4422-9E77-6DCAB9A21A50}" srcOrd="1" destOrd="0" presId="urn:microsoft.com/office/officeart/2005/8/layout/orgChart1"/>
    <dgm:cxn modelId="{D6C26740-FF39-4385-AB72-20F4D371A506}" type="presParOf" srcId="{5D5AF7B6-E1EE-4AA2-92CC-DE16F2BE6B35}" destId="{95E7FF17-2CD6-4388-BAA4-C82AC9150698}" srcOrd="1" destOrd="0" presId="urn:microsoft.com/office/officeart/2005/8/layout/orgChart1"/>
    <dgm:cxn modelId="{306C4980-C464-4A4B-B119-8511B9D2C353}" type="presParOf" srcId="{5D5AF7B6-E1EE-4AA2-92CC-DE16F2BE6B35}" destId="{12717B2B-C0D4-4041-9F1C-9924B73C4960}" srcOrd="2" destOrd="0" presId="urn:microsoft.com/office/officeart/2005/8/layout/orgChart1"/>
    <dgm:cxn modelId="{709380BD-E131-4925-8FF3-5C5AD8189A67}" type="presParOf" srcId="{ACE068A6-47F3-4273-984D-A5BE794210DD}" destId="{3C628818-B398-4A6A-9A9A-28FD89E00557}" srcOrd="2" destOrd="0" presId="urn:microsoft.com/office/officeart/2005/8/layout/orgChart1"/>
    <dgm:cxn modelId="{1DDE4C29-15F9-40E7-BCB8-7B104EDCF3D5}" type="presParOf" srcId="{ACE068A6-47F3-4273-984D-A5BE794210DD}" destId="{67816699-4307-4B8D-9A39-753E6A6EE389}" srcOrd="3" destOrd="0" presId="urn:microsoft.com/office/officeart/2005/8/layout/orgChart1"/>
    <dgm:cxn modelId="{2ACEB5AD-D810-4900-9EF7-E18104BADFF8}" type="presParOf" srcId="{67816699-4307-4B8D-9A39-753E6A6EE389}" destId="{236F134E-B0A4-4ECA-A9A8-A4F9944AF523}" srcOrd="0" destOrd="0" presId="urn:microsoft.com/office/officeart/2005/8/layout/orgChart1"/>
    <dgm:cxn modelId="{0E9F1CF6-A063-4BE6-B22F-515774C96E2F}" type="presParOf" srcId="{236F134E-B0A4-4ECA-A9A8-A4F9944AF523}" destId="{EE7CDF1B-8647-4703-9FB0-0C85B1154786}" srcOrd="0" destOrd="0" presId="urn:microsoft.com/office/officeart/2005/8/layout/orgChart1"/>
    <dgm:cxn modelId="{1C295D47-F639-49F6-B858-09D41FF36D65}" type="presParOf" srcId="{236F134E-B0A4-4ECA-A9A8-A4F9944AF523}" destId="{9966C969-7B21-48F5-92FE-7C1B062DB3D2}" srcOrd="1" destOrd="0" presId="urn:microsoft.com/office/officeart/2005/8/layout/orgChart1"/>
    <dgm:cxn modelId="{2A2E3980-5B98-47B3-9E98-21C13155F5EA}" type="presParOf" srcId="{67816699-4307-4B8D-9A39-753E6A6EE389}" destId="{D682E80B-7C33-4BCB-A091-489B73B1A89B}" srcOrd="1" destOrd="0" presId="urn:microsoft.com/office/officeart/2005/8/layout/orgChart1"/>
    <dgm:cxn modelId="{5FE4CE07-8880-452F-A385-00025A720A77}" type="presParOf" srcId="{67816699-4307-4B8D-9A39-753E6A6EE389}" destId="{965DAA56-BB93-4AD6-9265-3049C4CAFA46}" srcOrd="2" destOrd="0" presId="urn:microsoft.com/office/officeart/2005/8/layout/orgChart1"/>
    <dgm:cxn modelId="{9D105B28-236D-45A8-B7DB-C193878D964F}" type="presParOf" srcId="{E5F9F4C5-1D50-4437-9BCF-B9CC09C8E3FB}" destId="{E1C8DF32-F5AE-476C-A85B-15576F1902AB}" srcOrd="2" destOrd="0" presId="urn:microsoft.com/office/officeart/2005/8/layout/orgChar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2481B-5154-415F-B752-558547769AA3}" type="datetimeFigureOut">
              <a:rPr lang="cs-CZ" smtClean="0"/>
              <a:pPr/>
              <a:t>26.2.2014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1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Klaus, Líbal, Maděra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Co je to OS ?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dnes základním vybavením každého počítače</a:t>
            </a:r>
            <a:r>
              <a:rPr lang="cs-CZ" dirty="0" smtClean="0"/>
              <a:t>.</a:t>
            </a:r>
          </a:p>
          <a:p>
            <a:r>
              <a:rPr lang="cs-CZ" dirty="0" smtClean="0"/>
              <a:t>program</a:t>
            </a:r>
            <a:r>
              <a:rPr lang="cs-CZ" dirty="0" smtClean="0"/>
              <a:t>, který zabezpečuje komunikaci uživatele počítače s hardware.</a:t>
            </a:r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Úkoly OS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Zajišťuje komunikací uživatele s počítačem</a:t>
            </a:r>
          </a:p>
          <a:p>
            <a:r>
              <a:rPr lang="cs-CZ" dirty="0" smtClean="0"/>
              <a:t>Poskytuje vhodné prostředí pro spouštění programů</a:t>
            </a:r>
          </a:p>
          <a:p>
            <a:r>
              <a:rPr lang="cs-CZ" dirty="0" smtClean="0"/>
              <a:t>Provádí správu dat - většinou se jedná o diskové jednotky</a:t>
            </a:r>
          </a:p>
          <a:p>
            <a:r>
              <a:rPr lang="cs-CZ" dirty="0" smtClean="0"/>
              <a:t>Provádí správu hardwarových zdrojů - paměť, procesorový čas, I/0 zařízení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Rozdělení dle zpracování procesů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 </a:t>
            </a:r>
            <a:r>
              <a:rPr lang="cs-CZ" dirty="0" err="1" smtClean="0"/>
              <a:t>Monotask</a:t>
            </a:r>
            <a:endParaRPr lang="cs-CZ" dirty="0" smtClean="0"/>
          </a:p>
          <a:p>
            <a:pPr lvl="1"/>
            <a:r>
              <a:rPr lang="cs-CZ" dirty="0" smtClean="0"/>
              <a:t>Jedno úlohový OS</a:t>
            </a:r>
          </a:p>
          <a:p>
            <a:pPr lvl="1"/>
            <a:r>
              <a:rPr lang="cs-CZ" dirty="0" smtClean="0"/>
              <a:t>Umožňuje na jednou spustit pouze jednu úlohu</a:t>
            </a:r>
          </a:p>
          <a:p>
            <a:pPr lvl="1"/>
            <a:r>
              <a:rPr lang="cs-CZ" dirty="0" smtClean="0"/>
              <a:t>Malé nároky na </a:t>
            </a:r>
            <a:r>
              <a:rPr lang="cs-CZ" dirty="0" smtClean="0"/>
              <a:t>HW</a:t>
            </a:r>
          </a:p>
          <a:p>
            <a:r>
              <a:rPr lang="cs-CZ" dirty="0" err="1" smtClean="0"/>
              <a:t>Multitask</a:t>
            </a:r>
            <a:endParaRPr lang="cs-CZ" dirty="0" smtClean="0"/>
          </a:p>
          <a:p>
            <a:pPr lvl="1"/>
            <a:r>
              <a:rPr lang="cs-CZ" dirty="0" smtClean="0"/>
              <a:t>Více úlohový</a:t>
            </a:r>
          </a:p>
          <a:p>
            <a:pPr lvl="1"/>
            <a:r>
              <a:rPr lang="cs-CZ" dirty="0" smtClean="0"/>
              <a:t>Umožňuje spustit více než jednu úlohu</a:t>
            </a:r>
          </a:p>
          <a:p>
            <a:pPr lvl="1"/>
            <a:r>
              <a:rPr lang="cs-CZ" dirty="0" smtClean="0"/>
              <a:t>Mnoho složitější než </a:t>
            </a:r>
            <a:r>
              <a:rPr lang="cs-CZ" dirty="0" err="1" smtClean="0"/>
              <a:t>monotask</a:t>
            </a:r>
            <a:endParaRPr lang="cs-CZ" dirty="0" smtClean="0"/>
          </a:p>
          <a:p>
            <a:pPr lvl="1"/>
            <a:r>
              <a:rPr lang="cs-CZ" dirty="0" smtClean="0"/>
              <a:t>Mnohem větší nároky na HW než </a:t>
            </a:r>
            <a:r>
              <a:rPr lang="cs-CZ" dirty="0" err="1" smtClean="0"/>
              <a:t>monostask</a:t>
            </a:r>
            <a:endParaRPr lang="cs-CZ" dirty="0" smtClean="0"/>
          </a:p>
          <a:p>
            <a:pPr lvl="1">
              <a:buNone/>
            </a:pPr>
            <a:endParaRPr lang="cs-CZ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Rozdělení OS dle uživatelů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err="1" smtClean="0"/>
              <a:t>Monouser</a:t>
            </a:r>
            <a:r>
              <a:rPr lang="cs-CZ" dirty="0" smtClean="0"/>
              <a:t> </a:t>
            </a:r>
            <a:r>
              <a:rPr lang="cs-CZ" dirty="0" smtClean="0"/>
              <a:t>- Jedno uživatelský</a:t>
            </a:r>
          </a:p>
          <a:p>
            <a:pPr lvl="1"/>
            <a:r>
              <a:rPr lang="cs-CZ" dirty="0" smtClean="0"/>
              <a:t>Předpokládá se že bude pracovat pouze jeden uživatel, proto tento systém neobsahuje </a:t>
            </a:r>
            <a:r>
              <a:rPr lang="cs-CZ" dirty="0" err="1" smtClean="0"/>
              <a:t>téměr</a:t>
            </a:r>
            <a:r>
              <a:rPr lang="cs-CZ" dirty="0" smtClean="0"/>
              <a:t> </a:t>
            </a:r>
            <a:r>
              <a:rPr lang="cs-CZ" dirty="0" smtClean="0"/>
              <a:t>žádný systém pro ochranu neoprávněného přístupu</a:t>
            </a:r>
          </a:p>
          <a:p>
            <a:r>
              <a:rPr lang="cs-CZ" dirty="0" err="1" smtClean="0"/>
              <a:t>Multiuser</a:t>
            </a:r>
            <a:r>
              <a:rPr lang="cs-CZ" dirty="0" smtClean="0"/>
              <a:t> – Více uživatelský</a:t>
            </a:r>
          </a:p>
          <a:p>
            <a:pPr lvl="1"/>
            <a:r>
              <a:rPr lang="cs-CZ" dirty="0" smtClean="0"/>
              <a:t>Předpokládá se více než jeden uživatel</a:t>
            </a:r>
          </a:p>
          <a:p>
            <a:pPr lvl="1"/>
            <a:r>
              <a:rPr lang="cs-CZ" dirty="0" smtClean="0"/>
              <a:t>Umožňuje uživatelům sdílet i ochraňovat svoje data</a:t>
            </a:r>
          </a:p>
          <a:p>
            <a:pPr lvl="1"/>
            <a:r>
              <a:rPr lang="cs-CZ" dirty="0" smtClean="0"/>
              <a:t>Každý z uživatel má svoje </a:t>
            </a:r>
            <a:r>
              <a:rPr lang="cs-CZ" dirty="0" err="1" smtClean="0"/>
              <a:t>username</a:t>
            </a:r>
            <a:r>
              <a:rPr lang="cs-CZ" dirty="0" smtClean="0"/>
              <a:t> a heslo</a:t>
            </a:r>
          </a:p>
          <a:p>
            <a:pPr lvl="1"/>
            <a:endParaRPr lang="cs-CZ" dirty="0" smtClean="0"/>
          </a:p>
          <a:p>
            <a:pPr lvl="1"/>
            <a:endParaRPr lang="cs-CZ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Zástupný symbol pro obsah 3"/>
          <p:cNvGraphicFramePr>
            <a:graphicFrameLocks noGrp="1"/>
          </p:cNvGraphicFramePr>
          <p:nvPr>
            <p:ph idx="1"/>
          </p:nvPr>
        </p:nvGraphicFramePr>
        <p:xfrm>
          <a:off x="357158" y="214290"/>
          <a:ext cx="8329642" cy="5911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5720" y="3571876"/>
            <a:ext cx="4128127" cy="2310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000628" y="3500438"/>
            <a:ext cx="3693711" cy="3167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Další vlastnosti OS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Preemptivní </a:t>
            </a:r>
            <a:r>
              <a:rPr lang="cs-CZ" dirty="0" smtClean="0"/>
              <a:t>multitasking</a:t>
            </a:r>
          </a:p>
          <a:p>
            <a:pPr lvl="1"/>
            <a:r>
              <a:rPr lang="cs-CZ" dirty="0" smtClean="0"/>
              <a:t>Přidělování procesů řídí </a:t>
            </a:r>
            <a:r>
              <a:rPr lang="cs-CZ" dirty="0" smtClean="0"/>
              <a:t>OS</a:t>
            </a:r>
          </a:p>
          <a:p>
            <a:r>
              <a:rPr lang="cs-CZ" dirty="0" smtClean="0"/>
              <a:t>Kooperativní multitasking</a:t>
            </a:r>
          </a:p>
          <a:p>
            <a:pPr lvl="1"/>
            <a:r>
              <a:rPr lang="cs-CZ" dirty="0" smtClean="0"/>
              <a:t>Přidělování procesů řídí aplikace </a:t>
            </a:r>
            <a:r>
              <a:rPr lang="cs-CZ" dirty="0" err="1" smtClean="0"/>
              <a:t>Win</a:t>
            </a:r>
            <a:r>
              <a:rPr lang="cs-CZ" dirty="0" smtClean="0"/>
              <a:t> </a:t>
            </a:r>
            <a:r>
              <a:rPr lang="cs-CZ" dirty="0" smtClean="0"/>
              <a:t>3x</a:t>
            </a:r>
          </a:p>
          <a:p>
            <a:r>
              <a:rPr lang="cs-CZ" dirty="0" err="1" smtClean="0"/>
              <a:t>Multiprocesing</a:t>
            </a:r>
            <a:r>
              <a:rPr lang="cs-CZ" dirty="0" smtClean="0"/>
              <a:t> </a:t>
            </a:r>
          </a:p>
          <a:p>
            <a:pPr lvl="1"/>
            <a:r>
              <a:rPr lang="cs-CZ" dirty="0" smtClean="0"/>
              <a:t>systém na kterém lze paralelně zpracovávat více úloh a to nejen díky softwarovému vybavení, ale i díky HW – přítomnost více procesů</a:t>
            </a:r>
          </a:p>
          <a:p>
            <a:pPr lvl="1">
              <a:buNone/>
            </a:pPr>
            <a:endParaRPr lang="cs-CZ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Další vlastnosti OS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 smtClean="0"/>
              <a:t>Multithreading</a:t>
            </a:r>
            <a:endParaRPr lang="cs-CZ" dirty="0" smtClean="0"/>
          </a:p>
          <a:p>
            <a:pPr lvl="1"/>
            <a:r>
              <a:rPr lang="cs-CZ" dirty="0" smtClean="0"/>
              <a:t>Jednotlivé procesy jsou rozděleny na takzvaná vlákna - </a:t>
            </a:r>
            <a:r>
              <a:rPr lang="cs-CZ" dirty="0" err="1" smtClean="0"/>
              <a:t>thread</a:t>
            </a:r>
            <a:r>
              <a:rPr lang="cs-CZ" dirty="0" smtClean="0"/>
              <a:t>. Jedna aplikace mívá hlavní řídící vlákno, z kterého se pak děli další </a:t>
            </a:r>
          </a:p>
          <a:p>
            <a:pPr lvl="1"/>
            <a:r>
              <a:rPr lang="cs-CZ" dirty="0" smtClean="0"/>
              <a:t>Procesorový </a:t>
            </a:r>
            <a:r>
              <a:rPr lang="cs-CZ" dirty="0" smtClean="0"/>
              <a:t>čas je přidělován podle priorit jednotlivým vláknům - tuto funkci opět řídí OS. Díky této technologii je možno použít tzv. </a:t>
            </a:r>
            <a:r>
              <a:rPr lang="cs-CZ" b="1" dirty="0" err="1" smtClean="0"/>
              <a:t>reentrantní</a:t>
            </a:r>
            <a:r>
              <a:rPr lang="cs-CZ" b="1" dirty="0" smtClean="0"/>
              <a:t> </a:t>
            </a:r>
            <a:r>
              <a:rPr lang="cs-CZ" b="1" dirty="0" smtClean="0"/>
              <a:t>službu</a:t>
            </a:r>
            <a:r>
              <a:rPr lang="cs-CZ" dirty="0" smtClean="0"/>
              <a:t> </a:t>
            </a:r>
            <a:r>
              <a:rPr lang="cs-CZ" dirty="0" smtClean="0"/>
              <a:t>-  je možno požádat o službu dřív než se předchozí dokončí.</a:t>
            </a:r>
            <a:r>
              <a:rPr lang="cs-CZ" dirty="0" smtClean="0"/>
              <a:t> </a:t>
            </a:r>
            <a:endParaRPr lang="cs-CZ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Služby </a:t>
            </a:r>
            <a:r>
              <a:rPr lang="cs-CZ" b="1" dirty="0" smtClean="0"/>
              <a:t>OS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cs-CZ" dirty="0" smtClean="0"/>
              <a:t>správu procesorů</a:t>
            </a:r>
          </a:p>
          <a:p>
            <a:pPr lvl="0"/>
            <a:r>
              <a:rPr lang="cs-CZ" dirty="0" smtClean="0"/>
              <a:t>správa procesů</a:t>
            </a:r>
          </a:p>
          <a:p>
            <a:pPr lvl="0"/>
            <a:r>
              <a:rPr lang="cs-CZ" dirty="0" smtClean="0"/>
              <a:t>správa paměti</a:t>
            </a:r>
          </a:p>
          <a:p>
            <a:pPr lvl="0"/>
            <a:r>
              <a:rPr lang="cs-CZ" dirty="0" smtClean="0"/>
              <a:t>správa souborů</a:t>
            </a:r>
          </a:p>
          <a:p>
            <a:pPr lvl="0"/>
            <a:r>
              <a:rPr lang="cs-CZ" dirty="0" smtClean="0"/>
              <a:t>správu </a:t>
            </a:r>
            <a:r>
              <a:rPr lang="cs-CZ" dirty="0" err="1" smtClean="0"/>
              <a:t>vypnutě</a:t>
            </a:r>
            <a:r>
              <a:rPr lang="cs-CZ" dirty="0" smtClean="0"/>
              <a:t>/výstupního systému</a:t>
            </a:r>
          </a:p>
          <a:p>
            <a:pPr lvl="0"/>
            <a:r>
              <a:rPr lang="cs-CZ" dirty="0" smtClean="0"/>
              <a:t>sítě</a:t>
            </a:r>
          </a:p>
          <a:p>
            <a:pPr lvl="0"/>
            <a:r>
              <a:rPr lang="cs-CZ" dirty="0" smtClean="0"/>
              <a:t>systém ochran</a:t>
            </a:r>
          </a:p>
          <a:p>
            <a:pPr lvl="0"/>
            <a:r>
              <a:rPr lang="cs-CZ" dirty="0" smtClean="0"/>
              <a:t>interpret příkazů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Správa </a:t>
            </a:r>
            <a:r>
              <a:rPr lang="cs-CZ" b="1" dirty="0" smtClean="0"/>
              <a:t>procesorů/procesů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OS je odpovědný za vytváření a rušení procesů, potlačení a obnovení procesů a za </a:t>
            </a:r>
            <a:r>
              <a:rPr lang="cs-CZ" dirty="0" smtClean="0"/>
              <a:t>výběr aktuálního procesu</a:t>
            </a:r>
          </a:p>
          <a:p>
            <a:r>
              <a:rPr lang="cs-CZ" dirty="0" smtClean="0"/>
              <a:t>Dále </a:t>
            </a:r>
            <a:r>
              <a:rPr lang="cs-CZ" dirty="0" smtClean="0"/>
              <a:t>poskytuje prostředky, pomocí kterých mezi sebou procesy komunikují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Správa </a:t>
            </a:r>
            <a:r>
              <a:rPr lang="cs-CZ" b="1" dirty="0" smtClean="0"/>
              <a:t>paměti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OS vede přehled částí paměti, a kdo tyto části </a:t>
            </a:r>
            <a:r>
              <a:rPr lang="cs-CZ" dirty="0" smtClean="0"/>
              <a:t>využívá</a:t>
            </a:r>
          </a:p>
          <a:p>
            <a:r>
              <a:rPr lang="cs-CZ" dirty="0" smtClean="0"/>
              <a:t>Dále </a:t>
            </a:r>
            <a:r>
              <a:rPr lang="cs-CZ" dirty="0" smtClean="0"/>
              <a:t>rozhoduje o tom, kterému procesu bude při nedostatku paměti přidělena a kterému </a:t>
            </a:r>
            <a:r>
              <a:rPr lang="cs-CZ" dirty="0" smtClean="0"/>
              <a:t>ne </a:t>
            </a:r>
          </a:p>
          <a:p>
            <a:r>
              <a:rPr lang="cs-CZ" dirty="0" smtClean="0"/>
              <a:t>Mnoho </a:t>
            </a:r>
            <a:r>
              <a:rPr lang="cs-CZ" dirty="0" smtClean="0"/>
              <a:t>moderních OS používá takzvané swapování - neboli odkládáni části paměti na pevný </a:t>
            </a:r>
            <a:r>
              <a:rPr lang="cs-CZ" dirty="0" smtClean="0"/>
              <a:t>disk</a:t>
            </a:r>
            <a:endParaRPr lang="cs-CZ" dirty="0" smtClean="0"/>
          </a:p>
          <a:p>
            <a:endParaRPr lang="cs-CZ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Správa souborů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Z hlediska správy souborů je OS odpovědný za vytváření a rušení </a:t>
            </a:r>
            <a:r>
              <a:rPr lang="cs-CZ" dirty="0" smtClean="0"/>
              <a:t>souborů/adresářů</a:t>
            </a:r>
          </a:p>
          <a:p>
            <a:r>
              <a:rPr lang="cs-CZ" dirty="0" smtClean="0"/>
              <a:t>Musí poskytovat </a:t>
            </a:r>
            <a:r>
              <a:rPr lang="cs-CZ" dirty="0" smtClean="0"/>
              <a:t>nástroje pro základní manipulaci se </a:t>
            </a:r>
            <a:r>
              <a:rPr lang="cs-CZ" dirty="0" smtClean="0"/>
              <a:t>soubory</a:t>
            </a:r>
            <a:endParaRPr lang="cs-CZ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 smtClean="0"/>
              <a:t>Správa vstupně/výstupního </a:t>
            </a:r>
            <a:r>
              <a:rPr lang="cs-CZ" b="1" dirty="0" smtClean="0"/>
              <a:t>systému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Poskytuje programům univerzální rozhraní pro přístup k hardware počítače - </a:t>
            </a:r>
            <a:r>
              <a:rPr lang="cs-CZ" dirty="0" smtClean="0"/>
              <a:t>ovladače</a:t>
            </a:r>
            <a:endParaRPr lang="cs-CZ" dirty="0" smtClean="0"/>
          </a:p>
          <a:p>
            <a:pPr>
              <a:buNone/>
            </a:pPr>
            <a:endParaRPr lang="cs-CZ" b="1" dirty="0" smtClean="0"/>
          </a:p>
          <a:p>
            <a:endParaRPr lang="cs-CZ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Sítě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OS umožní přístup do sítí a poskytuje nástroje pro využívání služeb síti.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Systém ochran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Ochrana je mechanismus, kterým OS řídí přístup k systémovým a uživatelským zdrojům</a:t>
            </a:r>
            <a:r>
              <a:rPr lang="cs-CZ" dirty="0" smtClean="0"/>
              <a:t>.</a:t>
            </a:r>
            <a:endParaRPr lang="cs-CZ" dirty="0" smtClean="0"/>
          </a:p>
          <a:p>
            <a:r>
              <a:rPr lang="cs-CZ" dirty="0" smtClean="0"/>
              <a:t>Musí </a:t>
            </a:r>
            <a:r>
              <a:rPr lang="cs-CZ" dirty="0" smtClean="0"/>
              <a:t>rozlišovat mezi autorizovaným a neautorizovaným použitím.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Interpret </a:t>
            </a:r>
            <a:r>
              <a:rPr lang="cs-CZ" b="1" dirty="0" smtClean="0"/>
              <a:t>příkazů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Program, který čte a provádí a (interpretuje) </a:t>
            </a:r>
            <a:r>
              <a:rPr lang="cs-CZ" dirty="0" smtClean="0"/>
              <a:t>příkazy.</a:t>
            </a:r>
          </a:p>
          <a:p>
            <a:r>
              <a:rPr lang="cs-CZ" dirty="0" smtClean="0"/>
              <a:t>V</a:t>
            </a:r>
            <a:r>
              <a:rPr lang="cs-CZ" dirty="0" smtClean="0"/>
              <a:t> různých OS se nazývá jinak.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OS </a:t>
            </a:r>
            <a:r>
              <a:rPr lang="cs-CZ" dirty="0" smtClean="0"/>
              <a:t>Microsoft – </a:t>
            </a:r>
            <a:r>
              <a:rPr lang="cs-CZ" dirty="0" err="1" smtClean="0"/>
              <a:t>nejvýznamější</a:t>
            </a:r>
            <a:r>
              <a:rPr lang="cs-CZ" dirty="0" smtClean="0"/>
              <a:t>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cs-CZ" dirty="0" smtClean="0"/>
              <a:t>MS-DOS</a:t>
            </a:r>
          </a:p>
          <a:p>
            <a:pPr lvl="0"/>
            <a:r>
              <a:rPr lang="cs-CZ" dirty="0" smtClean="0"/>
              <a:t>Windows </a:t>
            </a:r>
            <a:r>
              <a:rPr lang="cs-CZ" dirty="0" smtClean="0"/>
              <a:t>3.1</a:t>
            </a:r>
            <a:endParaRPr lang="cs-CZ" dirty="0" smtClean="0"/>
          </a:p>
          <a:p>
            <a:pPr lvl="0"/>
            <a:r>
              <a:rPr lang="cs-CZ" dirty="0" smtClean="0"/>
              <a:t>Windows 95</a:t>
            </a:r>
          </a:p>
          <a:p>
            <a:r>
              <a:rPr lang="cs-CZ" dirty="0" smtClean="0"/>
              <a:t>Windows </a:t>
            </a:r>
            <a:r>
              <a:rPr lang="cs-CZ" dirty="0" smtClean="0"/>
              <a:t>98</a:t>
            </a:r>
            <a:endParaRPr lang="cs-CZ" dirty="0" smtClean="0"/>
          </a:p>
          <a:p>
            <a:r>
              <a:rPr lang="cs-CZ" dirty="0" smtClean="0"/>
              <a:t>Windows </a:t>
            </a:r>
            <a:r>
              <a:rPr lang="cs-CZ" dirty="0" smtClean="0"/>
              <a:t>ME</a:t>
            </a:r>
            <a:endParaRPr lang="cs-CZ" dirty="0" smtClean="0"/>
          </a:p>
          <a:p>
            <a:pPr lvl="0"/>
            <a:r>
              <a:rPr lang="cs-CZ" dirty="0" smtClean="0"/>
              <a:t>Windows XP</a:t>
            </a:r>
          </a:p>
          <a:p>
            <a:r>
              <a:rPr lang="cs-CZ" dirty="0" smtClean="0"/>
              <a:t>Windows </a:t>
            </a:r>
            <a:r>
              <a:rPr lang="cs-CZ" dirty="0" smtClean="0"/>
              <a:t>Vista</a:t>
            </a:r>
          </a:p>
          <a:p>
            <a:pPr lvl="0"/>
            <a:r>
              <a:rPr lang="cs-CZ" dirty="0" smtClean="0"/>
              <a:t>Windows </a:t>
            </a:r>
            <a:r>
              <a:rPr lang="cs-CZ" dirty="0" smtClean="0"/>
              <a:t>7</a:t>
            </a:r>
          </a:p>
          <a:p>
            <a:r>
              <a:rPr lang="cs-CZ" dirty="0" smtClean="0"/>
              <a:t>Windows 95</a:t>
            </a:r>
          </a:p>
          <a:p>
            <a:r>
              <a:rPr lang="cs-CZ" dirty="0" smtClean="0"/>
              <a:t>Windows </a:t>
            </a:r>
            <a:r>
              <a:rPr lang="cs-CZ" dirty="0" smtClean="0"/>
              <a:t>95</a:t>
            </a:r>
          </a:p>
          <a:p>
            <a:pPr lvl="0"/>
            <a:r>
              <a:rPr lang="cs-CZ" dirty="0" smtClean="0"/>
              <a:t>Windows 8</a:t>
            </a:r>
          </a:p>
          <a:p>
            <a:endParaRPr lang="cs-CZ" dirty="0" smtClean="0"/>
          </a:p>
          <a:p>
            <a:pPr lvl="0"/>
            <a:endParaRPr lang="cs-CZ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MS-DOS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hangingPunct="0"/>
            <a:r>
              <a:rPr lang="cs-CZ" b="1" dirty="0" smtClean="0"/>
              <a:t>Charakteristika </a:t>
            </a:r>
            <a:endParaRPr lang="cs-CZ" sz="2800" dirty="0" smtClean="0"/>
          </a:p>
          <a:p>
            <a:pPr lvl="1" hangingPunct="0"/>
            <a:r>
              <a:rPr lang="cs-CZ" dirty="0" smtClean="0"/>
              <a:t>16-ti bitový, </a:t>
            </a:r>
            <a:r>
              <a:rPr lang="cs-CZ" dirty="0" err="1" smtClean="0"/>
              <a:t>jednoúlohový</a:t>
            </a:r>
            <a:r>
              <a:rPr lang="cs-CZ" dirty="0" smtClean="0"/>
              <a:t> a jednouživatelský systém s textovým ovládáním </a:t>
            </a:r>
            <a:endParaRPr lang="cs-CZ" sz="2400" dirty="0" smtClean="0"/>
          </a:p>
          <a:p>
            <a:pPr lvl="0" hangingPunct="0"/>
            <a:r>
              <a:rPr lang="cs-CZ" b="1" dirty="0" smtClean="0"/>
              <a:t>Parametry </a:t>
            </a:r>
            <a:endParaRPr lang="cs-CZ" sz="2800" b="1" dirty="0" smtClean="0"/>
          </a:p>
          <a:p>
            <a:pPr lvl="1" hangingPunct="0"/>
            <a:r>
              <a:rPr lang="cs-CZ" dirty="0" smtClean="0"/>
              <a:t>souborový systém FAT-16, ovládání HW přes BIOS 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Výhody </a:t>
            </a:r>
            <a:endParaRPr lang="cs-CZ" sz="2800" dirty="0" smtClean="0"/>
          </a:p>
          <a:p>
            <a:pPr lvl="1" hangingPunct="0"/>
            <a:r>
              <a:rPr lang="cs-CZ" dirty="0" smtClean="0"/>
              <a:t>nízká HW náročnost 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Nevýhody </a:t>
            </a:r>
            <a:endParaRPr lang="cs-CZ" sz="2800" dirty="0" smtClean="0"/>
          </a:p>
          <a:p>
            <a:pPr lvl="1" hangingPunct="0"/>
            <a:r>
              <a:rPr lang="cs-CZ" dirty="0" smtClean="0"/>
              <a:t>textové rozhraní, bez podpory sítí a multimédií </a:t>
            </a:r>
            <a:endParaRPr lang="cs-CZ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Windows </a:t>
            </a:r>
            <a:r>
              <a:rPr lang="cs-CZ" b="1" dirty="0" smtClean="0"/>
              <a:t>3.1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hangingPunct="0"/>
            <a:r>
              <a:rPr lang="cs-CZ" b="1" dirty="0" smtClean="0"/>
              <a:t>Charakteristika </a:t>
            </a:r>
            <a:endParaRPr lang="cs-CZ" sz="2800" dirty="0" smtClean="0"/>
          </a:p>
          <a:p>
            <a:pPr lvl="1" hangingPunct="0"/>
            <a:r>
              <a:rPr lang="cs-CZ" dirty="0" smtClean="0"/>
              <a:t>16.bit operační systém </a:t>
            </a:r>
            <a:endParaRPr lang="cs-CZ" sz="2400" dirty="0" smtClean="0"/>
          </a:p>
          <a:p>
            <a:pPr lvl="1" hangingPunct="0"/>
            <a:r>
              <a:rPr lang="cs-CZ" dirty="0" smtClean="0"/>
              <a:t>používání kooperativního multitaskingu ( aplikace mohla zablokovat celý OS ) 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Parametry </a:t>
            </a:r>
            <a:r>
              <a:rPr lang="cs-CZ" dirty="0" smtClean="0"/>
              <a:t> </a:t>
            </a:r>
            <a:endParaRPr lang="cs-CZ" sz="2800" dirty="0" smtClean="0"/>
          </a:p>
          <a:p>
            <a:pPr lvl="1" hangingPunct="0"/>
            <a:r>
              <a:rPr lang="cs-CZ" dirty="0" smtClean="0"/>
              <a:t>souborový systém FAT-16, ovládání HW přes BIOS 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Výhody </a:t>
            </a:r>
            <a:endParaRPr lang="cs-CZ" sz="2800" dirty="0" smtClean="0"/>
          </a:p>
          <a:p>
            <a:pPr lvl="1" hangingPunct="0"/>
            <a:r>
              <a:rPr lang="cs-CZ" dirty="0" smtClean="0"/>
              <a:t>jádro na bázi NT , možnost překrývání oken, grafická nástavba MS-</a:t>
            </a:r>
            <a:r>
              <a:rPr lang="cs-CZ" dirty="0" err="1" smtClean="0"/>
              <a:t>DOSu</a:t>
            </a:r>
            <a:r>
              <a:rPr lang="cs-CZ" dirty="0" smtClean="0"/>
              <a:t> </a:t>
            </a:r>
            <a:endParaRPr lang="cs-CZ" sz="2400" dirty="0" smtClean="0"/>
          </a:p>
          <a:p>
            <a:pPr lvl="1" hangingPunct="0"/>
            <a:r>
              <a:rPr lang="cs-CZ" dirty="0" smtClean="0"/>
              <a:t>Nízká HW náročnost 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Nevýhody </a:t>
            </a:r>
            <a:endParaRPr lang="cs-CZ" sz="2800" dirty="0" smtClean="0"/>
          </a:p>
          <a:p>
            <a:pPr lvl="1" hangingPunct="0"/>
            <a:r>
              <a:rPr lang="cs-CZ" dirty="0" smtClean="0"/>
              <a:t>Relativní nestabilita systému </a:t>
            </a:r>
            <a:endParaRPr lang="cs-CZ" sz="2400" dirty="0" smtClean="0"/>
          </a:p>
          <a:p>
            <a:endParaRPr lang="cs-CZ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Windows </a:t>
            </a:r>
            <a:r>
              <a:rPr lang="cs-CZ" b="1" dirty="0" smtClean="0"/>
              <a:t>95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hangingPunct="0"/>
            <a:r>
              <a:rPr lang="cs-CZ" b="1" dirty="0" smtClean="0"/>
              <a:t>Charakteristika </a:t>
            </a:r>
            <a:r>
              <a:rPr lang="cs-CZ" dirty="0" smtClean="0"/>
              <a:t> </a:t>
            </a:r>
            <a:endParaRPr lang="cs-CZ" sz="2800" dirty="0" smtClean="0"/>
          </a:p>
          <a:p>
            <a:pPr lvl="1" hangingPunct="0"/>
            <a:r>
              <a:rPr lang="cs-CZ" dirty="0" smtClean="0"/>
              <a:t>smíšený 16bitový/32bitový grafický operační systém, obsahoval nabídku Start, plochu a kompletní zvuky 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Parametry </a:t>
            </a:r>
            <a:endParaRPr lang="cs-CZ" sz="2800" dirty="0" smtClean="0"/>
          </a:p>
          <a:p>
            <a:pPr lvl="1" hangingPunct="0"/>
            <a:r>
              <a:rPr lang="cs-CZ" dirty="0" smtClean="0"/>
              <a:t>rozšíření VFAT pro FAT-12 a FAT-16, 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Výhody </a:t>
            </a:r>
            <a:r>
              <a:rPr lang="cs-CZ" dirty="0" smtClean="0"/>
              <a:t> </a:t>
            </a:r>
            <a:endParaRPr lang="cs-CZ" sz="2800" dirty="0" smtClean="0"/>
          </a:p>
          <a:p>
            <a:pPr lvl="1" hangingPunct="0"/>
            <a:r>
              <a:rPr lang="cs-CZ" dirty="0" smtClean="0"/>
              <a:t>významné vylepšení GUI a správy procesů, podpora 256znakových jmen souborů 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Nevýhody </a:t>
            </a:r>
            <a:endParaRPr lang="cs-CZ" sz="2800" dirty="0" smtClean="0"/>
          </a:p>
          <a:p>
            <a:pPr lvl="1" hangingPunct="0"/>
            <a:r>
              <a:rPr lang="cs-CZ" dirty="0" smtClean="0"/>
              <a:t>modrá obrazovka smrti-méně závažná, ale častější </a:t>
            </a:r>
            <a:endParaRPr lang="cs-CZ" sz="2400" dirty="0" smtClean="0"/>
          </a:p>
          <a:p>
            <a:pPr lvl="1" hangingPunct="0"/>
            <a:r>
              <a:rPr lang="cs-CZ" dirty="0" smtClean="0"/>
              <a:t>pomalejší odezva </a:t>
            </a:r>
            <a:r>
              <a:rPr lang="cs-CZ" dirty="0" smtClean="0"/>
              <a:t>systému</a:t>
            </a:r>
            <a:endParaRPr lang="cs-CZ" sz="24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Windows </a:t>
            </a:r>
            <a:r>
              <a:rPr lang="cs-CZ" b="1" dirty="0" smtClean="0"/>
              <a:t>98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hangingPunct="0"/>
            <a:r>
              <a:rPr lang="cs-CZ" b="1" dirty="0" smtClean="0"/>
              <a:t>Charakteristika </a:t>
            </a:r>
            <a:endParaRPr lang="cs-CZ" sz="2800" dirty="0" smtClean="0"/>
          </a:p>
          <a:p>
            <a:pPr lvl="1" hangingPunct="0"/>
            <a:r>
              <a:rPr lang="cs-CZ" dirty="0" smtClean="0"/>
              <a:t>hybridní 16/32-bitový systém </a:t>
            </a:r>
            <a:endParaRPr lang="cs-CZ" sz="2400" dirty="0" smtClean="0"/>
          </a:p>
          <a:p>
            <a:pPr lvl="1" hangingPunct="0"/>
            <a:r>
              <a:rPr lang="cs-CZ" dirty="0" smtClean="0"/>
              <a:t>podpora </a:t>
            </a:r>
            <a:r>
              <a:rPr lang="cs-CZ" dirty="0" err="1" smtClean="0"/>
              <a:t>DOSu</a:t>
            </a:r>
            <a:r>
              <a:rPr lang="cs-CZ" dirty="0" smtClean="0"/>
              <a:t> 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Výhody</a:t>
            </a:r>
            <a:endParaRPr lang="cs-CZ" sz="2800" dirty="0" smtClean="0"/>
          </a:p>
          <a:p>
            <a:pPr lvl="1" hangingPunct="0"/>
            <a:r>
              <a:rPr lang="cs-CZ" dirty="0" smtClean="0"/>
              <a:t>lepší podpora </a:t>
            </a:r>
            <a:r>
              <a:rPr lang="cs-CZ" dirty="0" err="1" smtClean="0"/>
              <a:t>sběrnic</a:t>
            </a:r>
            <a:r>
              <a:rPr lang="cs-CZ" dirty="0" smtClean="0"/>
              <a:t> AGP a USB </a:t>
            </a:r>
            <a:endParaRPr lang="cs-CZ" dirty="0" smtClean="0"/>
          </a:p>
          <a:p>
            <a:pPr lvl="0" hangingPunct="0"/>
            <a:r>
              <a:rPr lang="cs-CZ" b="1" dirty="0" smtClean="0"/>
              <a:t>Nevýhody</a:t>
            </a:r>
            <a:r>
              <a:rPr lang="cs-CZ" dirty="0" smtClean="0"/>
              <a:t> </a:t>
            </a:r>
            <a:endParaRPr lang="cs-CZ" sz="2800" dirty="0" smtClean="0"/>
          </a:p>
          <a:p>
            <a:pPr lvl="1" hangingPunct="0"/>
            <a:r>
              <a:rPr lang="cs-CZ" dirty="0" smtClean="0"/>
              <a:t>problémy s nestabilitou a pády do modré obrazovky s chybovým hlášením, které se přezdívalo „Modrá obrazovka smrti“ (</a:t>
            </a:r>
            <a:r>
              <a:rPr lang="cs-CZ" dirty="0" err="1" smtClean="0"/>
              <a:t>Blue</a:t>
            </a:r>
            <a:r>
              <a:rPr lang="cs-CZ" dirty="0" smtClean="0"/>
              <a:t> </a:t>
            </a:r>
            <a:r>
              <a:rPr lang="cs-CZ" dirty="0" err="1" smtClean="0"/>
              <a:t>screen</a:t>
            </a:r>
            <a:r>
              <a:rPr lang="cs-CZ" dirty="0" smtClean="0"/>
              <a:t> </a:t>
            </a:r>
            <a:r>
              <a:rPr lang="cs-CZ" dirty="0" err="1" smtClean="0"/>
              <a:t>of</a:t>
            </a:r>
            <a:r>
              <a:rPr lang="cs-CZ" dirty="0" smtClean="0"/>
              <a:t> </a:t>
            </a:r>
            <a:r>
              <a:rPr lang="cs-CZ" dirty="0" err="1" smtClean="0"/>
              <a:t>death</a:t>
            </a:r>
            <a:r>
              <a:rPr lang="cs-CZ" dirty="0" smtClean="0"/>
              <a:t>, BSOD) </a:t>
            </a:r>
            <a:endParaRPr lang="cs-CZ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Windows ME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hangingPunct="0"/>
            <a:r>
              <a:rPr lang="cs-CZ" b="1" dirty="0" smtClean="0"/>
              <a:t>Charakteristika </a:t>
            </a:r>
            <a:endParaRPr lang="cs-CZ" sz="2800" dirty="0" smtClean="0"/>
          </a:p>
          <a:p>
            <a:pPr lvl="1" hangingPunct="0"/>
            <a:r>
              <a:rPr lang="cs-CZ" dirty="0" smtClean="0"/>
              <a:t>Je vylepšením stávajících Windows 98 a je posledním systémem běžícím jako nadstavba nad </a:t>
            </a:r>
            <a:r>
              <a:rPr lang="cs-CZ" dirty="0" smtClean="0"/>
              <a:t>MS-DOS.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Výhody</a:t>
            </a:r>
            <a:endParaRPr lang="cs-CZ" sz="2800" dirty="0" smtClean="0"/>
          </a:p>
          <a:p>
            <a:pPr lvl="1" hangingPunct="0"/>
            <a:r>
              <a:rPr lang="cs-CZ" dirty="0" smtClean="0"/>
              <a:t>Windows </a:t>
            </a:r>
            <a:r>
              <a:rPr lang="cs-CZ" dirty="0" err="1" smtClean="0"/>
              <a:t>Me</a:t>
            </a:r>
            <a:r>
              <a:rPr lang="cs-CZ" dirty="0" smtClean="0"/>
              <a:t> přebírají nový vzhled z Windows </a:t>
            </a:r>
            <a:r>
              <a:rPr lang="cs-CZ" dirty="0" smtClean="0"/>
              <a:t>2000</a:t>
            </a:r>
          </a:p>
          <a:p>
            <a:pPr lvl="1" hangingPunct="0"/>
            <a:r>
              <a:rPr lang="cs-CZ" dirty="0" smtClean="0"/>
              <a:t> Mají </a:t>
            </a:r>
            <a:r>
              <a:rPr lang="cs-CZ" dirty="0" smtClean="0"/>
              <a:t>vylepšenou </a:t>
            </a:r>
            <a:r>
              <a:rPr lang="cs-CZ" dirty="0" smtClean="0"/>
              <a:t>stabilitu</a:t>
            </a:r>
            <a:r>
              <a:rPr lang="cs-CZ" dirty="0" smtClean="0"/>
              <a:t>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Nevýhody</a:t>
            </a:r>
            <a:endParaRPr lang="cs-CZ" sz="2800" dirty="0" smtClean="0"/>
          </a:p>
          <a:p>
            <a:pPr lvl="1" hangingPunct="0"/>
            <a:r>
              <a:rPr lang="cs-CZ" dirty="0" smtClean="0"/>
              <a:t>Bezpečnost jádra Windows NT se rovnat nemohou</a:t>
            </a:r>
            <a:r>
              <a:rPr lang="cs-CZ" dirty="0" smtClean="0"/>
              <a:t>.</a:t>
            </a:r>
            <a:endParaRPr lang="cs-CZ" sz="2400" dirty="0" smtClean="0"/>
          </a:p>
          <a:p>
            <a:endParaRPr lang="cs-CZ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Windows XP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hangingPunct="0"/>
            <a:r>
              <a:rPr lang="cs-CZ" b="1" dirty="0" smtClean="0"/>
              <a:t>Charakteristika </a:t>
            </a:r>
            <a:endParaRPr lang="cs-CZ" sz="2800" dirty="0" smtClean="0"/>
          </a:p>
          <a:p>
            <a:pPr lvl="1" hangingPunct="0"/>
            <a:r>
              <a:rPr lang="cs-CZ" dirty="0" smtClean="0"/>
              <a:t>První </a:t>
            </a:r>
            <a:r>
              <a:rPr lang="cs-CZ" dirty="0" err="1" smtClean="0"/>
              <a:t>windows</a:t>
            </a:r>
            <a:r>
              <a:rPr lang="cs-CZ" dirty="0" smtClean="0"/>
              <a:t> </a:t>
            </a:r>
            <a:r>
              <a:rPr lang="cs-CZ" dirty="0" smtClean="0"/>
              <a:t>určený </a:t>
            </a:r>
            <a:r>
              <a:rPr lang="cs-CZ" dirty="0" smtClean="0"/>
              <a:t>pro firmy i osobni </a:t>
            </a:r>
            <a:r>
              <a:rPr lang="cs-CZ" dirty="0" smtClean="0"/>
              <a:t>použití </a:t>
            </a:r>
            <a:endParaRPr lang="cs-CZ" sz="2800" dirty="0" smtClean="0"/>
          </a:p>
          <a:p>
            <a:pPr lvl="1" hangingPunct="0"/>
            <a:r>
              <a:rPr lang="cs-CZ" dirty="0" smtClean="0"/>
              <a:t>Je založen na 32bitové architektuře, ve verzi ,,64-bit </a:t>
            </a:r>
            <a:r>
              <a:rPr lang="cs-CZ" dirty="0" err="1" smtClean="0"/>
              <a:t>Edition</a:t>
            </a:r>
            <a:r>
              <a:rPr lang="cs-CZ" dirty="0" smtClean="0"/>
              <a:t>" na 64bitové architektuře, kterou ale musí podporovat procesor.  </a:t>
            </a:r>
            <a:endParaRPr lang="cs-CZ" sz="2800" dirty="0" smtClean="0"/>
          </a:p>
          <a:p>
            <a:pPr lvl="1" hangingPunct="0"/>
            <a:r>
              <a:rPr lang="cs-CZ" dirty="0" smtClean="0"/>
              <a:t>na jádře systému Windows </a:t>
            </a:r>
            <a:r>
              <a:rPr lang="cs-CZ" dirty="0" smtClean="0"/>
              <a:t>NT </a:t>
            </a:r>
            <a:endParaRPr lang="cs-CZ" sz="2400" dirty="0" smtClean="0"/>
          </a:p>
          <a:p>
            <a:pPr lvl="1" hangingPunct="0"/>
            <a:r>
              <a:rPr lang="cs-CZ" dirty="0" smtClean="0"/>
              <a:t>NTFS  </a:t>
            </a:r>
            <a:endParaRPr lang="cs-CZ" sz="2400" dirty="0" smtClean="0"/>
          </a:p>
          <a:p>
            <a:pPr lvl="0" hangingPunct="0"/>
            <a:r>
              <a:rPr lang="cs-CZ" b="1" dirty="0" smtClean="0"/>
              <a:t>Výhody</a:t>
            </a:r>
            <a:endParaRPr lang="cs-CZ" sz="2400" dirty="0" smtClean="0"/>
          </a:p>
          <a:p>
            <a:pPr lvl="1" hangingPunct="0"/>
            <a:r>
              <a:rPr lang="cs-CZ" dirty="0" smtClean="0"/>
              <a:t>Stabilní, pokrokový, poměrně </a:t>
            </a:r>
            <a:r>
              <a:rPr lang="cs-CZ" dirty="0" err="1" smtClean="0"/>
              <a:t>nenaročný</a:t>
            </a:r>
            <a:endParaRPr lang="cs-CZ" sz="24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Windows Vista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hangingPunct="0"/>
            <a:r>
              <a:rPr lang="cs-CZ" b="1" dirty="0" smtClean="0"/>
              <a:t>Charakteristika </a:t>
            </a:r>
            <a:endParaRPr lang="cs-CZ" sz="2800" dirty="0" smtClean="0"/>
          </a:p>
          <a:p>
            <a:pPr lvl="1" hangingPunct="0"/>
            <a:r>
              <a:rPr lang="cs-CZ" dirty="0" smtClean="0"/>
              <a:t>32 a 64-bitová verze  </a:t>
            </a:r>
            <a:endParaRPr lang="cs-CZ" sz="2400" dirty="0" smtClean="0"/>
          </a:p>
          <a:p>
            <a:pPr lvl="0" hangingPunct="0"/>
            <a:r>
              <a:rPr lang="cs-CZ" b="1" dirty="0" smtClean="0"/>
              <a:t>Výhody </a:t>
            </a:r>
            <a:endParaRPr lang="cs-CZ" sz="2800" dirty="0" smtClean="0"/>
          </a:p>
          <a:p>
            <a:pPr lvl="1" hangingPunct="0"/>
            <a:r>
              <a:rPr lang="cs-CZ" dirty="0" smtClean="0"/>
              <a:t>Poměrně rychlé naběhnutí a vypnutí systému </a:t>
            </a:r>
            <a:endParaRPr lang="cs-CZ" sz="2400" dirty="0" smtClean="0"/>
          </a:p>
          <a:p>
            <a:pPr lvl="1" hangingPunct="0"/>
            <a:r>
              <a:rPr lang="cs-CZ" dirty="0" smtClean="0"/>
              <a:t>Vypnutím grafických efektů lze výrazně snížit spotřebu energie u Notebooků  </a:t>
            </a:r>
            <a:endParaRPr lang="cs-CZ" sz="2800" dirty="0" smtClean="0"/>
          </a:p>
          <a:p>
            <a:pPr lvl="0" hangingPunct="0"/>
            <a:r>
              <a:rPr lang="cs-CZ" b="1" dirty="0" smtClean="0"/>
              <a:t>Nevýhody </a:t>
            </a:r>
            <a:r>
              <a:rPr lang="cs-CZ" dirty="0" smtClean="0"/>
              <a:t> </a:t>
            </a:r>
            <a:endParaRPr lang="cs-CZ" sz="2800" dirty="0" smtClean="0"/>
          </a:p>
          <a:p>
            <a:pPr lvl="1" hangingPunct="0"/>
            <a:r>
              <a:rPr lang="cs-CZ" dirty="0" smtClean="0"/>
              <a:t>Všechno ve </a:t>
            </a:r>
            <a:r>
              <a:rPr lang="cs-CZ" dirty="0" err="1" smtClean="0"/>
              <a:t>Vistách</a:t>
            </a:r>
            <a:r>
              <a:rPr lang="cs-CZ" dirty="0" smtClean="0"/>
              <a:t> běží „přes grafiku“ </a:t>
            </a:r>
            <a:r>
              <a:rPr lang="cs-CZ" dirty="0" smtClean="0"/>
              <a:t>–  </a:t>
            </a:r>
            <a:r>
              <a:rPr lang="cs-CZ" dirty="0" smtClean="0"/>
              <a:t>starší a středně staré počítače můžou mít s tímto prostředím </a:t>
            </a:r>
            <a:r>
              <a:rPr lang="cs-CZ" dirty="0" smtClean="0"/>
              <a:t>problémy</a:t>
            </a:r>
            <a:endParaRPr lang="cs-CZ" sz="2800" dirty="0" smtClean="0"/>
          </a:p>
          <a:p>
            <a:pPr lvl="1" hangingPunct="0"/>
            <a:r>
              <a:rPr lang="cs-CZ" dirty="0" smtClean="0"/>
              <a:t>Stále poměrně vysoká cena na Evropské </a:t>
            </a:r>
            <a:r>
              <a:rPr lang="cs-CZ" dirty="0" smtClean="0"/>
              <a:t>poměry</a:t>
            </a:r>
          </a:p>
          <a:p>
            <a:pPr lvl="1" hangingPunct="0"/>
            <a:r>
              <a:rPr lang="cs-CZ" dirty="0" smtClean="0"/>
              <a:t>Málo podporovaný SW pro </a:t>
            </a:r>
            <a:r>
              <a:rPr lang="cs-CZ" dirty="0" err="1" smtClean="0"/>
              <a:t>Win</a:t>
            </a:r>
            <a:r>
              <a:rPr lang="cs-CZ" dirty="0" smtClean="0"/>
              <a:t> Vista</a:t>
            </a:r>
            <a:endParaRPr lang="cs-CZ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Windows </a:t>
            </a:r>
            <a:r>
              <a:rPr lang="cs-CZ" b="1" dirty="0" smtClean="0"/>
              <a:t>7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hangingPunct="0"/>
            <a:r>
              <a:rPr lang="cs-CZ" b="1" dirty="0" smtClean="0"/>
              <a:t>Charakteristika </a:t>
            </a:r>
            <a:endParaRPr lang="cs-CZ" sz="2800" dirty="0" smtClean="0"/>
          </a:p>
          <a:p>
            <a:pPr lvl="1" hangingPunct="0"/>
            <a:r>
              <a:rPr lang="cs-CZ" dirty="0" smtClean="0"/>
              <a:t>32 a 64-bitová </a:t>
            </a:r>
            <a:r>
              <a:rPr lang="cs-CZ" dirty="0" smtClean="0"/>
              <a:t>verze</a:t>
            </a:r>
          </a:p>
          <a:p>
            <a:pPr lvl="0" hangingPunct="0"/>
            <a:r>
              <a:rPr lang="cs-CZ" b="1" dirty="0" smtClean="0"/>
              <a:t>Výhody </a:t>
            </a:r>
            <a:endParaRPr lang="cs-CZ" sz="2800" dirty="0" smtClean="0"/>
          </a:p>
          <a:p>
            <a:pPr lvl="1" hangingPunct="0"/>
            <a:r>
              <a:rPr lang="cs-CZ" dirty="0" smtClean="0"/>
              <a:t>Perfektní pro notebooky</a:t>
            </a:r>
          </a:p>
          <a:p>
            <a:pPr lvl="1" hangingPunct="0"/>
            <a:r>
              <a:rPr lang="cs-CZ" dirty="0" smtClean="0"/>
              <a:t>Nejrychlejší OS na bázi NT</a:t>
            </a:r>
          </a:p>
          <a:p>
            <a:pPr lvl="1" hangingPunct="0"/>
            <a:r>
              <a:rPr lang="cs-CZ" dirty="0" smtClean="0"/>
              <a:t>Běží i na starším HW</a:t>
            </a:r>
          </a:p>
          <a:p>
            <a:pPr lvl="1" hangingPunct="0"/>
            <a:r>
              <a:rPr lang="cs-CZ" dirty="0" smtClean="0"/>
              <a:t>Rychlý start systému</a:t>
            </a:r>
          </a:p>
          <a:p>
            <a:pPr lvl="0" hangingPunct="0"/>
            <a:r>
              <a:rPr lang="cs-CZ" b="1" dirty="0" smtClean="0"/>
              <a:t>Nevýhody </a:t>
            </a:r>
            <a:r>
              <a:rPr lang="cs-CZ" dirty="0" smtClean="0"/>
              <a:t> </a:t>
            </a:r>
            <a:endParaRPr lang="cs-CZ" sz="2800" dirty="0" smtClean="0"/>
          </a:p>
          <a:p>
            <a:pPr lvl="1" hangingPunct="0"/>
            <a:r>
              <a:rPr lang="cs-CZ" dirty="0" smtClean="0"/>
              <a:t>?</a:t>
            </a:r>
          </a:p>
          <a:p>
            <a:pPr lvl="1" hangingPunct="0">
              <a:buNone/>
            </a:pPr>
            <a:endParaRPr lang="cs-CZ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 smtClean="0"/>
              <a:t>Windows </a:t>
            </a:r>
            <a:r>
              <a:rPr lang="cs-CZ" b="1" dirty="0" smtClean="0"/>
              <a:t>8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hangingPunct="0"/>
            <a:r>
              <a:rPr lang="cs-CZ" b="1" dirty="0" smtClean="0"/>
              <a:t>Charakteristika</a:t>
            </a:r>
          </a:p>
          <a:p>
            <a:pPr lvl="1" hangingPunct="0"/>
            <a:r>
              <a:rPr lang="cs-CZ" dirty="0" smtClean="0"/>
              <a:t>Určený spíše pro všecko </a:t>
            </a:r>
            <a:r>
              <a:rPr lang="cs-CZ" dirty="0" smtClean="0"/>
              <a:t>dotykové</a:t>
            </a:r>
            <a:endParaRPr lang="cs-CZ" b="1" dirty="0" smtClean="0"/>
          </a:p>
          <a:p>
            <a:pPr lvl="0" hangingPunct="0"/>
            <a:r>
              <a:rPr lang="cs-CZ" b="1" dirty="0" smtClean="0"/>
              <a:t>Výhody</a:t>
            </a:r>
          </a:p>
          <a:p>
            <a:pPr lvl="1" hangingPunct="0"/>
            <a:r>
              <a:rPr lang="cs-CZ" dirty="0" smtClean="0"/>
              <a:t>Je to hezký</a:t>
            </a:r>
          </a:p>
          <a:p>
            <a:pPr lvl="0" hangingPunct="0"/>
            <a:r>
              <a:rPr lang="cs-CZ" b="1" dirty="0" smtClean="0"/>
              <a:t>Nevýhody</a:t>
            </a:r>
          </a:p>
          <a:p>
            <a:pPr lvl="1" hangingPunct="0"/>
            <a:r>
              <a:rPr lang="cs-CZ" dirty="0" smtClean="0"/>
              <a:t>Snad úplně všecko</a:t>
            </a:r>
            <a:endParaRPr lang="cs-CZ" dirty="0" smtClean="0"/>
          </a:p>
          <a:p>
            <a:pPr lvl="1" hangingPunct="0">
              <a:buNone/>
            </a:pPr>
            <a:endParaRPr lang="cs-CZ" dirty="0" smtClean="0"/>
          </a:p>
          <a:p>
            <a:pPr lvl="1" hangingPunct="0"/>
            <a:endParaRPr lang="cs-CZ" dirty="0" smtClean="0"/>
          </a:p>
          <a:p>
            <a:pPr lvl="1" hangingPunct="0"/>
            <a:endParaRPr lang="cs-CZ" dirty="0" smtClean="0"/>
          </a:p>
          <a:p>
            <a:endParaRPr lang="cs-CZ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618</Words>
  <PresentationFormat>Předvádění na obrazovce (4:3)</PresentationFormat>
  <Paragraphs>165</Paragraphs>
  <Slides>26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26</vt:i4>
      </vt:variant>
    </vt:vector>
  </HeadingPairs>
  <TitlesOfParts>
    <vt:vector size="27" baseType="lpstr">
      <vt:lpstr>Motiv sady Office</vt:lpstr>
      <vt:lpstr>1</vt:lpstr>
      <vt:lpstr>Co je to OS ?</vt:lpstr>
      <vt:lpstr>Úkoly OS</vt:lpstr>
      <vt:lpstr>Rozdělení dle zpracování procesů</vt:lpstr>
      <vt:lpstr>Rozdělení OS dle uživatelů</vt:lpstr>
      <vt:lpstr>Snímek 6</vt:lpstr>
      <vt:lpstr>Další vlastnosti OS</vt:lpstr>
      <vt:lpstr>Další vlastnosti OS</vt:lpstr>
      <vt:lpstr>Služby OS</vt:lpstr>
      <vt:lpstr>Správa procesorů/procesů</vt:lpstr>
      <vt:lpstr>Správa paměti</vt:lpstr>
      <vt:lpstr>Správa souborů</vt:lpstr>
      <vt:lpstr>Správa vstupně/výstupního systému</vt:lpstr>
      <vt:lpstr>Sítě</vt:lpstr>
      <vt:lpstr>Systém ochran</vt:lpstr>
      <vt:lpstr>Interpret příkazů</vt:lpstr>
      <vt:lpstr>OS Microsoft – nejvýznamější </vt:lpstr>
      <vt:lpstr>MS-DOS</vt:lpstr>
      <vt:lpstr>Windows 3.1</vt:lpstr>
      <vt:lpstr>Windows 95</vt:lpstr>
      <vt:lpstr>Windows 98</vt:lpstr>
      <vt:lpstr>Windows ME</vt:lpstr>
      <vt:lpstr>Windows XP</vt:lpstr>
      <vt:lpstr>Windows Vista</vt:lpstr>
      <vt:lpstr>Windows 7</vt:lpstr>
      <vt:lpstr>Windows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Honza</dc:creator>
  <cp:lastModifiedBy>Honza</cp:lastModifiedBy>
  <cp:revision>7</cp:revision>
  <dcterms:created xsi:type="dcterms:W3CDTF">2014-02-26T15:26:10Z</dcterms:created>
  <dcterms:modified xsi:type="dcterms:W3CDTF">2014-02-26T16:27:19Z</dcterms:modified>
</cp:coreProperties>
</file>