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3"/>
    <p:restoredTop sz="95859"/>
  </p:normalViewPr>
  <p:slideViewPr>
    <p:cSldViewPr snapToGrid="0" snapToObjects="1">
      <p:cViewPr>
        <p:scale>
          <a:sx n="89" d="100"/>
          <a:sy n="89" d="100"/>
        </p:scale>
        <p:origin x="232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1/3/22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1/3/22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1/3/22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1/3/22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1/3/22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1/3/22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1/3/22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.com/" TargetMode="External"/><Relationship Id="rId7" Type="http://schemas.openxmlformats.org/officeDocument/2006/relationships/hyperlink" Target="http://web.natur.cuni.cz/~jmakov/ExcelStranky/AdresExcel.html" TargetMode="External"/><Relationship Id="rId2" Type="http://schemas.openxmlformats.org/officeDocument/2006/relationships/hyperlink" Target="https://cs.wikipedia.org/wiki/Tabulkov&#253;_proceso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upport.microsoft.com/cs-cz/office/vytvo&#345;en%C3%AD-grafu-od-za&#269;&#225;tku-do-konce-0baf399e-dd61-4e18-8a73-b3fd5d5680c2" TargetMode="External"/><Relationship Id="rId5" Type="http://schemas.openxmlformats.org/officeDocument/2006/relationships/hyperlink" Target="https://cs.education-wiki.com/5247487-excel-print-area" TargetMode="External"/><Relationship Id="rId4" Type="http://schemas.openxmlformats.org/officeDocument/2006/relationships/hyperlink" Target="https://office.lasakovi.com/excel/formatovani/vlastni-format-bunek-pokrocile-nastaveni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A813-2BB1-5C49-BB90-445D872893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Z" dirty="0"/>
              <a:t>Tabulkový kalkulátor 1.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53FB87-A5F2-0D41-85C3-09C98092DC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Z" dirty="0"/>
              <a:t>Střádala Nicolas, Monika Douchová</a:t>
            </a:r>
          </a:p>
        </p:txBody>
      </p:sp>
    </p:spTree>
    <p:extLst>
      <p:ext uri="{BB962C8B-B14F-4D97-AF65-F5344CB8AC3E}">
        <p14:creationId xmlns:p14="http://schemas.microsoft.com/office/powerpoint/2010/main" val="352368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704D3-BCB8-6D44-A7BD-3DEEBAFD0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Používaný SW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70C35-3B13-2440-923E-43707BB79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Z" dirty="0"/>
              <a:t>Microsoft Excel</a:t>
            </a:r>
          </a:p>
          <a:p>
            <a:r>
              <a:rPr lang="en-CZ" dirty="0"/>
              <a:t>Quattro Pro</a:t>
            </a:r>
          </a:p>
          <a:p>
            <a:r>
              <a:rPr lang="en-CZ" dirty="0"/>
              <a:t>Lotus 1-2-3</a:t>
            </a:r>
          </a:p>
          <a:p>
            <a:r>
              <a:rPr lang="en-CZ" dirty="0"/>
              <a:t>Gnumetric</a:t>
            </a:r>
          </a:p>
          <a:p>
            <a:r>
              <a:rPr lang="en-CZ" dirty="0"/>
              <a:t>KSPread</a:t>
            </a:r>
          </a:p>
          <a:p>
            <a:r>
              <a:rPr lang="en-CZ" dirty="0"/>
              <a:t>OpenOffice.org Calc</a:t>
            </a:r>
          </a:p>
          <a:p>
            <a:r>
              <a:rPr lang="en-CZ" dirty="0"/>
              <a:t>LibreOffice Calc</a:t>
            </a:r>
          </a:p>
          <a:p>
            <a:r>
              <a:rPr lang="en-CZ" dirty="0"/>
              <a:t>Numbers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99B253-8387-5043-8BB1-3D568581D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657" y="1656503"/>
            <a:ext cx="580686" cy="540159"/>
          </a:xfrm>
          <a:prstGeom prst="rect">
            <a:avLst/>
          </a:prstGeom>
        </p:spPr>
      </p:pic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3AB8555A-6DC1-2747-A318-EE88073F4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04574" y="2879135"/>
            <a:ext cx="664368" cy="664368"/>
          </a:xfrm>
          <a:prstGeom prst="rect">
            <a:avLst/>
          </a:prstGeom>
        </p:spPr>
      </p:pic>
      <p:pic>
        <p:nvPicPr>
          <p:cNvPr id="9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4154233B-D7A8-B749-A92C-1C1FCC224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332" y="2371535"/>
            <a:ext cx="1028954" cy="771715"/>
          </a:xfrm>
          <a:prstGeom prst="rect">
            <a:avLst/>
          </a:prstGeom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8C597923-004B-DD46-A355-811192B6AE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212" y="4180444"/>
            <a:ext cx="664368" cy="664368"/>
          </a:xfrm>
          <a:prstGeom prst="rect">
            <a:avLst/>
          </a:prstGeom>
        </p:spPr>
      </p:pic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46EF0758-9025-CD48-99F8-6DC1ECCA36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32" y="4512628"/>
            <a:ext cx="955180" cy="95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097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4D98-B917-814F-BAD1-E64393DC1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Sešit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3583428-8940-DD4C-B8EB-F0202AF339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1650" y="323241"/>
            <a:ext cx="6758939" cy="422433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94445F-CA6D-0641-B3C8-8D0079BAAEA0}"/>
              </a:ext>
            </a:extLst>
          </p:cNvPr>
          <p:cNvSpPr txBox="1"/>
          <p:nvPr/>
        </p:nvSpPr>
        <p:spPr>
          <a:xfrm>
            <a:off x="3999820" y="4900613"/>
            <a:ext cx="75667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Z" dirty="0"/>
              <a:t>Sešit je dokument našeho tabulkové kalkulátoru. Pokud chceme uložit např.</a:t>
            </a:r>
          </a:p>
          <a:p>
            <a:pPr algn="ctr"/>
            <a:r>
              <a:rPr lang="en-GB" dirty="0"/>
              <a:t>E</a:t>
            </a:r>
            <a:r>
              <a:rPr lang="en-CZ" dirty="0"/>
              <a:t>xcelový soubor, tak jej uložíme v takzvaném sešitu, který obsahuje námi</a:t>
            </a:r>
          </a:p>
          <a:p>
            <a:pPr algn="ctr"/>
            <a:r>
              <a:rPr lang="en-GB" dirty="0" err="1"/>
              <a:t>vytvořené</a:t>
            </a:r>
            <a:r>
              <a:rPr lang="en-GB" dirty="0"/>
              <a:t> </a:t>
            </a:r>
            <a:r>
              <a:rPr lang="en-GB" dirty="0" err="1"/>
              <a:t>listy</a:t>
            </a:r>
            <a:r>
              <a:rPr lang="en-GB" dirty="0"/>
              <a:t>. Dalo by se </a:t>
            </a:r>
            <a:r>
              <a:rPr lang="en-GB" dirty="0" err="1"/>
              <a:t>říci</a:t>
            </a:r>
            <a:r>
              <a:rPr lang="en-GB" dirty="0"/>
              <a:t>, </a:t>
            </a:r>
            <a:r>
              <a:rPr lang="en-GB" dirty="0" err="1"/>
              <a:t>že</a:t>
            </a:r>
            <a:r>
              <a:rPr lang="en-GB" dirty="0"/>
              <a:t> </a:t>
            </a:r>
            <a:r>
              <a:rPr lang="en-GB" dirty="0" err="1"/>
              <a:t>Excelový</a:t>
            </a:r>
            <a:r>
              <a:rPr lang="en-GB" dirty="0"/>
              <a:t> document </a:t>
            </a:r>
            <a:r>
              <a:rPr lang="en-GB" dirty="0" err="1"/>
              <a:t>funguje</a:t>
            </a:r>
            <a:r>
              <a:rPr lang="en-GB" dirty="0"/>
              <a:t> </a:t>
            </a:r>
            <a:r>
              <a:rPr lang="en-GB" dirty="0" err="1"/>
              <a:t>jako</a:t>
            </a:r>
            <a:r>
              <a:rPr lang="en-GB" dirty="0"/>
              <a:t> </a:t>
            </a:r>
            <a:r>
              <a:rPr lang="en-GB" dirty="0" err="1"/>
              <a:t>reálný</a:t>
            </a:r>
            <a:r>
              <a:rPr lang="en-GB" dirty="0"/>
              <a:t> </a:t>
            </a:r>
            <a:r>
              <a:rPr lang="en-GB" dirty="0" err="1"/>
              <a:t>sešit</a:t>
            </a:r>
            <a:r>
              <a:rPr lang="en-GB" dirty="0"/>
              <a:t>.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818737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0ADDC-56CB-0D47-A239-D4CEADEC5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703ED-C9D4-AF44-89B0-B502A50A7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Z" dirty="0"/>
              <a:t>List je samostatná tabulka.</a:t>
            </a:r>
          </a:p>
          <a:p>
            <a:r>
              <a:rPr lang="en-CZ" dirty="0"/>
              <a:t>List je obsahem sešitu, do kterého zapisujeme své hodnoty.</a:t>
            </a:r>
          </a:p>
          <a:p>
            <a:r>
              <a:rPr lang="en-CZ" dirty="0"/>
              <a:t>Můžeme jich vytvořit nespočet.</a:t>
            </a:r>
          </a:p>
          <a:p>
            <a:r>
              <a:rPr lang="en-CZ" dirty="0"/>
              <a:t>Mohou na sebe odkazovat např. </a:t>
            </a:r>
            <a:r>
              <a:rPr lang="en-GB" dirty="0"/>
              <a:t>s </a:t>
            </a:r>
            <a:r>
              <a:rPr lang="en-GB" dirty="0" err="1"/>
              <a:t>grafy</a:t>
            </a:r>
            <a:r>
              <a:rPr lang="en-GB" dirty="0"/>
              <a:t>, v </a:t>
            </a:r>
            <a:r>
              <a:rPr lang="en-GB" dirty="0" err="1"/>
              <a:t>jednom</a:t>
            </a:r>
            <a:r>
              <a:rPr lang="en-GB" dirty="0"/>
              <a:t> </a:t>
            </a:r>
            <a:r>
              <a:rPr lang="en-GB" dirty="0" err="1"/>
              <a:t>listu</a:t>
            </a:r>
            <a:r>
              <a:rPr lang="en-GB" dirty="0"/>
              <a:t> </a:t>
            </a:r>
            <a:r>
              <a:rPr lang="en-GB" dirty="0" err="1"/>
              <a:t>mohou</a:t>
            </a:r>
            <a:r>
              <a:rPr lang="en-GB" dirty="0"/>
              <a:t> </a:t>
            </a:r>
            <a:r>
              <a:rPr lang="en-GB" dirty="0" err="1"/>
              <a:t>být</a:t>
            </a:r>
            <a:r>
              <a:rPr lang="en-GB" dirty="0"/>
              <a:t> </a:t>
            </a:r>
            <a:r>
              <a:rPr lang="en-GB" dirty="0" err="1"/>
              <a:t>hodnoty</a:t>
            </a:r>
            <a:r>
              <a:rPr lang="en-GB" dirty="0"/>
              <a:t> a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druhém</a:t>
            </a:r>
            <a:r>
              <a:rPr lang="en-GB" dirty="0"/>
              <a:t> </a:t>
            </a:r>
            <a:r>
              <a:rPr lang="en-GB" dirty="0" err="1"/>
              <a:t>grafy</a:t>
            </a:r>
            <a:r>
              <a:rPr lang="en-GB" dirty="0"/>
              <a:t> s </a:t>
            </a:r>
            <a:r>
              <a:rPr lang="en-GB" dirty="0" err="1"/>
              <a:t>hodnotami</a:t>
            </a:r>
            <a:r>
              <a:rPr lang="en-GB" dirty="0"/>
              <a:t> z </a:t>
            </a:r>
            <a:r>
              <a:rPr lang="en-GB" dirty="0" err="1"/>
              <a:t>prvního</a:t>
            </a:r>
            <a:r>
              <a:rPr lang="en-GB" dirty="0"/>
              <a:t>.</a:t>
            </a:r>
          </a:p>
          <a:p>
            <a:r>
              <a:rPr lang="en-GB" dirty="0" err="1"/>
              <a:t>Můžeme</a:t>
            </a:r>
            <a:r>
              <a:rPr lang="en-GB" dirty="0"/>
              <a:t> je </a:t>
            </a:r>
            <a:r>
              <a:rPr lang="en-GB" dirty="0" err="1"/>
              <a:t>dle</a:t>
            </a:r>
            <a:r>
              <a:rPr lang="en-GB" dirty="0"/>
              <a:t> </a:t>
            </a:r>
            <a:r>
              <a:rPr lang="en-GB" dirty="0" err="1"/>
              <a:t>libosti</a:t>
            </a:r>
            <a:r>
              <a:rPr lang="en-GB" dirty="0"/>
              <a:t> </a:t>
            </a:r>
            <a:r>
              <a:rPr lang="en-GB" dirty="0" err="1"/>
              <a:t>seřezovat</a:t>
            </a:r>
            <a:r>
              <a:rPr lang="en-GB" dirty="0"/>
              <a:t> </a:t>
            </a:r>
            <a:r>
              <a:rPr lang="en-GB" dirty="0" err="1"/>
              <a:t>nebo</a:t>
            </a:r>
            <a:r>
              <a:rPr lang="en-GB" dirty="0"/>
              <a:t> </a:t>
            </a:r>
            <a:r>
              <a:rPr lang="en-GB" dirty="0" err="1"/>
              <a:t>pojmenovávat</a:t>
            </a:r>
            <a:r>
              <a:rPr lang="en-GB" dirty="0"/>
              <a:t>.</a:t>
            </a:r>
          </a:p>
          <a:p>
            <a:r>
              <a:rPr lang="en-GB" dirty="0" err="1"/>
              <a:t>Nové</a:t>
            </a:r>
            <a:r>
              <a:rPr lang="en-GB" dirty="0"/>
              <a:t> </a:t>
            </a:r>
            <a:r>
              <a:rPr lang="en-GB" dirty="0" err="1"/>
              <a:t>listy</a:t>
            </a:r>
            <a:r>
              <a:rPr lang="en-GB" dirty="0"/>
              <a:t> </a:t>
            </a:r>
            <a:r>
              <a:rPr lang="en-GB" dirty="0" err="1"/>
              <a:t>přidáváme</a:t>
            </a:r>
            <a:r>
              <a:rPr lang="en-GB" dirty="0"/>
              <a:t> </a:t>
            </a:r>
            <a:r>
              <a:rPr lang="en-GB" dirty="0" err="1"/>
              <a:t>pomocí</a:t>
            </a:r>
            <a:r>
              <a:rPr lang="en-GB" dirty="0"/>
              <a:t> </a:t>
            </a:r>
            <a:r>
              <a:rPr lang="en-GB" dirty="0" err="1"/>
              <a:t>tlačítka</a:t>
            </a:r>
            <a:r>
              <a:rPr lang="en-GB" dirty="0"/>
              <a:t> plus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spodní</a:t>
            </a:r>
            <a:r>
              <a:rPr lang="en-GB" dirty="0"/>
              <a:t> </a:t>
            </a:r>
            <a:r>
              <a:rPr lang="en-GB" dirty="0" err="1"/>
              <a:t>liště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C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B0F67-5481-F345-85A3-653370F3D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868" y="4575048"/>
            <a:ext cx="32258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041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8FA29-688C-A64D-8A5E-5B9B8EB77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Výběr buněk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2930-09A7-E645-ABCF-A201140C7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Z" dirty="0"/>
              <a:t>Můžeme je vybrat pomocí kurzoru</a:t>
            </a:r>
          </a:p>
          <a:p>
            <a:r>
              <a:rPr lang="en-CZ" dirty="0"/>
              <a:t>Nebo pomocí cesty s pomocí</a:t>
            </a:r>
            <a:br>
              <a:rPr lang="en-CZ" dirty="0"/>
            </a:br>
            <a:r>
              <a:rPr lang="en-CZ" dirty="0"/>
              <a:t>s pomocí středníku</a:t>
            </a:r>
          </a:p>
          <a:p>
            <a:pPr marL="0" indent="0">
              <a:buNone/>
            </a:pPr>
            <a:endParaRPr lang="en-CZ" dirty="0"/>
          </a:p>
          <a:p>
            <a:endParaRPr lang="en-CZ" dirty="0"/>
          </a:p>
          <a:p>
            <a:endParaRPr lang="en-CZ" dirty="0"/>
          </a:p>
          <a:p>
            <a:endParaRPr lang="en-CZ" dirty="0"/>
          </a:p>
          <a:p>
            <a:endParaRPr lang="en-CZ" dirty="0"/>
          </a:p>
          <a:p>
            <a:endParaRPr lang="en-CZ" dirty="0"/>
          </a:p>
          <a:p>
            <a:pPr marL="0" indent="0">
              <a:buNone/>
            </a:pPr>
            <a:endParaRPr lang="en-CZ" dirty="0"/>
          </a:p>
          <a:p>
            <a:endParaRPr lang="en-CZ" dirty="0"/>
          </a:p>
          <a:p>
            <a:pPr marL="0" indent="0">
              <a:buNone/>
            </a:pPr>
            <a:endParaRPr lang="en-C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1790DB-948C-F24B-9ABC-8D907F40A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412" y="458787"/>
            <a:ext cx="3607823" cy="4029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6BF6A5-2597-CC4C-BDD4-A07EA306C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440" y="1998662"/>
            <a:ext cx="36068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84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FD81A-EC03-DD4F-94F1-9576E55C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Řádky a sloupce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B1C72-8E40-C54D-906B-047ADE59D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Z" dirty="0"/>
              <a:t>Můžeme vytvářet jak řádky tak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sloupce</a:t>
            </a:r>
            <a:r>
              <a:rPr lang="en-GB" dirty="0"/>
              <a:t> </a:t>
            </a:r>
            <a:r>
              <a:rPr lang="en-GB" dirty="0" err="1"/>
              <a:t>kliknutím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záhlaví</a:t>
            </a:r>
            <a:r>
              <a:rPr lang="en-GB" dirty="0"/>
              <a:t> </a:t>
            </a:r>
            <a:r>
              <a:rPr lang="en-GB" dirty="0" err="1"/>
              <a:t>pravým</a:t>
            </a:r>
            <a:r>
              <a:rPr lang="en-GB" dirty="0"/>
              <a:t> </a:t>
            </a:r>
            <a:r>
              <a:rPr lang="en-GB" dirty="0" err="1"/>
              <a:t>tlačítkem</a:t>
            </a:r>
            <a:r>
              <a:rPr lang="en-GB" dirty="0"/>
              <a:t> a </a:t>
            </a:r>
            <a:r>
              <a:rPr lang="en-GB" dirty="0" err="1"/>
              <a:t>stiskneme</a:t>
            </a:r>
            <a:r>
              <a:rPr lang="en-GB" dirty="0"/>
              <a:t> </a:t>
            </a:r>
            <a:r>
              <a:rPr lang="en-GB" dirty="0" err="1"/>
              <a:t>vložit</a:t>
            </a:r>
            <a:r>
              <a:rPr lang="en-GB" dirty="0"/>
              <a:t> </a:t>
            </a:r>
            <a:r>
              <a:rPr lang="en-GB" dirty="0" err="1"/>
              <a:t>řádek</a:t>
            </a:r>
            <a:r>
              <a:rPr lang="en-GB" dirty="0"/>
              <a:t> </a:t>
            </a:r>
            <a:r>
              <a:rPr lang="en-GB" dirty="0" err="1"/>
              <a:t>nebo</a:t>
            </a:r>
            <a:r>
              <a:rPr lang="en-GB" dirty="0"/>
              <a:t> </a:t>
            </a:r>
            <a:r>
              <a:rPr lang="en-GB" dirty="0" err="1"/>
              <a:t>sloupec</a:t>
            </a:r>
            <a:r>
              <a:rPr lang="en-GB" dirty="0"/>
              <a:t>.</a:t>
            </a:r>
          </a:p>
          <a:p>
            <a:r>
              <a:rPr lang="en-GB" dirty="0" err="1"/>
              <a:t>Řádky</a:t>
            </a:r>
            <a:r>
              <a:rPr lang="en-GB" dirty="0"/>
              <a:t> a </a:t>
            </a:r>
            <a:r>
              <a:rPr lang="en-GB" dirty="0" err="1"/>
              <a:t>sloupce</a:t>
            </a:r>
            <a:r>
              <a:rPr lang="en-GB" dirty="0"/>
              <a:t> </a:t>
            </a:r>
            <a:r>
              <a:rPr lang="en-GB" dirty="0" err="1"/>
              <a:t>lze</a:t>
            </a:r>
            <a:r>
              <a:rPr lang="en-GB" dirty="0"/>
              <a:t> </a:t>
            </a:r>
            <a:r>
              <a:rPr lang="en-GB" dirty="0" err="1"/>
              <a:t>rozšiřovat</a:t>
            </a:r>
            <a:r>
              <a:rPr lang="en-GB" dirty="0"/>
              <a:t> </a:t>
            </a:r>
            <a:r>
              <a:rPr lang="en-GB" dirty="0" err="1"/>
              <a:t>nebo</a:t>
            </a:r>
            <a:r>
              <a:rPr lang="en-GB" dirty="0"/>
              <a:t> </a:t>
            </a:r>
            <a:r>
              <a:rPr lang="en-GB" dirty="0" err="1"/>
              <a:t>zvyšovat</a:t>
            </a:r>
            <a:endParaRPr lang="en-GB" dirty="0"/>
          </a:p>
          <a:p>
            <a:r>
              <a:rPr lang="en-GB" dirty="0" err="1"/>
              <a:t>Jde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ukotvovat</a:t>
            </a:r>
            <a:r>
              <a:rPr lang="en-GB" dirty="0"/>
              <a:t> </a:t>
            </a:r>
            <a:r>
              <a:rPr lang="en-GB" dirty="0" err="1"/>
              <a:t>řádky</a:t>
            </a:r>
            <a:r>
              <a:rPr lang="en-GB" dirty="0"/>
              <a:t> a </a:t>
            </a:r>
            <a:r>
              <a:rPr lang="en-GB" dirty="0" err="1"/>
              <a:t>sloupce</a:t>
            </a:r>
            <a:r>
              <a:rPr lang="en-GB" dirty="0"/>
              <a:t>, pro </a:t>
            </a:r>
            <a:r>
              <a:rPr lang="en-GB" dirty="0" err="1"/>
              <a:t>větší</a:t>
            </a:r>
            <a:r>
              <a:rPr lang="en-GB" dirty="0"/>
              <a:t> </a:t>
            </a:r>
            <a:r>
              <a:rPr lang="en-GB" dirty="0" err="1"/>
              <a:t>pohodlnost</a:t>
            </a:r>
            <a:br>
              <a:rPr lang="en-GB" dirty="0"/>
            </a:br>
            <a:r>
              <a:rPr lang="en-GB" dirty="0" err="1"/>
              <a:t>nastavíme</a:t>
            </a:r>
            <a:r>
              <a:rPr lang="en-GB" dirty="0"/>
              <a:t> </a:t>
            </a:r>
            <a:r>
              <a:rPr lang="en-GB" dirty="0" err="1"/>
              <a:t>kurzor</a:t>
            </a:r>
            <a:r>
              <a:rPr lang="en-GB" dirty="0"/>
              <a:t> </a:t>
            </a:r>
            <a:r>
              <a:rPr lang="en-GB" dirty="0" err="1"/>
              <a:t>tak</a:t>
            </a:r>
            <a:r>
              <a:rPr lang="en-GB" dirty="0"/>
              <a:t>, aby </a:t>
            </a:r>
            <a:r>
              <a:rPr lang="en-GB" dirty="0" err="1"/>
              <a:t>byl</a:t>
            </a:r>
            <a:r>
              <a:rPr lang="en-GB" dirty="0"/>
              <a:t> </a:t>
            </a:r>
            <a:r>
              <a:rPr lang="en-GB" dirty="0" err="1"/>
              <a:t>umístěn</a:t>
            </a:r>
            <a:r>
              <a:rPr lang="en-GB" dirty="0"/>
              <a:t> </a:t>
            </a:r>
            <a:r>
              <a:rPr lang="en-GB" dirty="0" err="1"/>
              <a:t>těsně</a:t>
            </a:r>
            <a:r>
              <a:rPr lang="en-GB" dirty="0"/>
              <a:t> pod </a:t>
            </a:r>
            <a:r>
              <a:rPr lang="en-GB" dirty="0" err="1"/>
              <a:t>řádkem</a:t>
            </a:r>
            <a:r>
              <a:rPr lang="en-GB" dirty="0"/>
              <a:t> a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kartě</a:t>
            </a:r>
            <a:r>
              <a:rPr lang="en-GB" dirty="0"/>
              <a:t> </a:t>
            </a:r>
            <a:r>
              <a:rPr lang="en-GB" dirty="0" err="1"/>
              <a:t>Zobrazení</a:t>
            </a:r>
            <a:r>
              <a:rPr lang="en-GB" dirty="0"/>
              <a:t> -&gt; </a:t>
            </a:r>
            <a:r>
              <a:rPr lang="en-GB" dirty="0" err="1"/>
              <a:t>Okno</a:t>
            </a:r>
            <a:r>
              <a:rPr lang="en-GB" dirty="0"/>
              <a:t> </a:t>
            </a:r>
            <a:r>
              <a:rPr lang="en-GB" dirty="0" err="1"/>
              <a:t>rozbalíme</a:t>
            </a:r>
            <a:r>
              <a:rPr lang="en-GB" dirty="0"/>
              <a:t> </a:t>
            </a:r>
            <a:r>
              <a:rPr lang="en-GB" dirty="0" err="1"/>
              <a:t>nabídku</a:t>
            </a:r>
            <a:r>
              <a:rPr lang="en-GB" dirty="0"/>
              <a:t> </a:t>
            </a:r>
            <a:r>
              <a:rPr lang="en-GB" dirty="0" err="1"/>
              <a:t>Ukotvit</a:t>
            </a:r>
            <a:r>
              <a:rPr lang="en-GB" dirty="0"/>
              <a:t> </a:t>
            </a:r>
            <a:r>
              <a:rPr lang="en-GB" dirty="0" err="1"/>
              <a:t>příčky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  </a:t>
            </a:r>
            <a:endParaRPr lang="en-C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A31D00-136E-1B40-8106-1E80A0107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717" y="1967408"/>
            <a:ext cx="1099502" cy="3214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78ACFC-4239-EC46-82C9-5ECC4BFB6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239" y="4363559"/>
            <a:ext cx="4617507" cy="201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40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25E68-C94A-094F-A0B9-AEE161559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Formát buňky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E16BA-53AE-9F44-BAC6-481EC5D69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Z" dirty="0"/>
              <a:t>Dělíme na funkční formát buňky</a:t>
            </a:r>
          </a:p>
          <a:p>
            <a:r>
              <a:rPr lang="en-GB" dirty="0"/>
              <a:t>A</a:t>
            </a:r>
            <a:r>
              <a:rPr lang="en-CZ" dirty="0"/>
              <a:t> na vizuální formát buňky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52F4CC-7398-AE45-AB57-69B68EEDB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875" y="1707642"/>
            <a:ext cx="4202389" cy="401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1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FA1DD-8BC6-8845-A983-AF739E4F5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Vlastní formát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7D39F-CB4C-8247-96EE-F522EFCF7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Z" dirty="0"/>
              <a:t>Vlastní formát buňek je dobrý především pro pokročilé uživatele</a:t>
            </a:r>
          </a:p>
          <a:p>
            <a:r>
              <a:rPr lang="en-CZ" dirty="0"/>
              <a:t>Lze s nimi nahradit například záporné číslo slovem ”ztráta”, ukazat záporné čísla červěně, zeleně kladné a černě nulu apod.</a:t>
            </a:r>
          </a:p>
          <a:p>
            <a:endParaRPr lang="en-CZ" dirty="0"/>
          </a:p>
          <a:p>
            <a:endParaRPr lang="en-CZ" dirty="0"/>
          </a:p>
          <a:p>
            <a:endParaRPr lang="en-CZ" dirty="0"/>
          </a:p>
          <a:p>
            <a:endParaRPr lang="en-CZ" dirty="0"/>
          </a:p>
          <a:p>
            <a:endParaRPr lang="en-CZ" dirty="0"/>
          </a:p>
          <a:p>
            <a:endParaRPr lang="en-CZ" dirty="0"/>
          </a:p>
          <a:p>
            <a:endParaRPr lang="en-CZ" dirty="0"/>
          </a:p>
          <a:p>
            <a:endParaRPr lang="en-CZ" dirty="0"/>
          </a:p>
          <a:p>
            <a:endParaRPr lang="en-C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55096-D031-4841-8AEB-B899ED368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383" y="2075956"/>
            <a:ext cx="4438970" cy="458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23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0F0A4-1146-B442-9BDC-30FCE997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Vzorce a jejich rozšiřování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43CD7-B96D-1C4F-920E-BA3F0DC2A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Z" dirty="0"/>
              <a:t>Vzorce jsou základem Excelu, pomáhají nám sčítat, násobit porovnávat atd. </a:t>
            </a:r>
            <a:r>
              <a:rPr lang="en-GB" dirty="0"/>
              <a:t>n</a:t>
            </a:r>
            <a:r>
              <a:rPr lang="en-CZ" dirty="0"/>
              <a:t>aše data.</a:t>
            </a:r>
          </a:p>
          <a:p>
            <a:r>
              <a:rPr lang="en-CZ" dirty="0"/>
              <a:t>Každý vzorec musí začínat ”=”</a:t>
            </a:r>
          </a:p>
          <a:p>
            <a:r>
              <a:rPr lang="en-CZ" dirty="0"/>
              <a:t>Musí být zapsaný syntakticky správně</a:t>
            </a:r>
          </a:p>
          <a:p>
            <a:r>
              <a:rPr lang="en-CZ" dirty="0"/>
              <a:t>Musíme zapsat opravdu CELÝ postup</a:t>
            </a:r>
          </a:p>
          <a:p>
            <a:r>
              <a:rPr lang="en-CZ" dirty="0"/>
              <a:t>Rozšíření vzorce provedeme změnou vybraných buněk, pokud máme v původním vzorci </a:t>
            </a:r>
            <a:r>
              <a:rPr lang="en-GB" dirty="0"/>
              <a:t>C11 a D11, ale </a:t>
            </a:r>
            <a:r>
              <a:rPr lang="en-GB" dirty="0" err="1"/>
              <a:t>nová</a:t>
            </a:r>
            <a:r>
              <a:rPr lang="en-GB" dirty="0"/>
              <a:t> data </a:t>
            </a:r>
            <a:r>
              <a:rPr lang="en-GB" dirty="0" err="1"/>
              <a:t>končí</a:t>
            </a:r>
            <a:r>
              <a:rPr lang="en-GB" dirty="0"/>
              <a:t> v </a:t>
            </a:r>
            <a:r>
              <a:rPr lang="en-GB" dirty="0" err="1"/>
              <a:t>buňkách</a:t>
            </a:r>
            <a:r>
              <a:rPr lang="en-GB" dirty="0"/>
              <a:t> C13 a D13, </a:t>
            </a:r>
            <a:r>
              <a:rPr lang="en-GB" dirty="0" err="1"/>
              <a:t>nahradíme</a:t>
            </a:r>
            <a:r>
              <a:rPr lang="en-GB" dirty="0"/>
              <a:t> C11 a D11 </a:t>
            </a:r>
            <a:r>
              <a:rPr lang="en-GB" dirty="0" err="1"/>
              <a:t>ve</a:t>
            </a:r>
            <a:r>
              <a:rPr lang="en-GB" dirty="0"/>
              <a:t> </a:t>
            </a:r>
            <a:r>
              <a:rPr lang="en-GB" dirty="0" err="1"/>
              <a:t>vzorci</a:t>
            </a:r>
            <a:r>
              <a:rPr lang="en-GB" dirty="0"/>
              <a:t> </a:t>
            </a:r>
            <a:r>
              <a:rPr lang="en-GB" dirty="0" err="1"/>
              <a:t>buňkami</a:t>
            </a:r>
            <a:r>
              <a:rPr lang="en-GB" dirty="0"/>
              <a:t> C13 a D13.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CZ" dirty="0"/>
          </a:p>
        </p:txBody>
      </p:sp>
      <p:pic>
        <p:nvPicPr>
          <p:cNvPr id="5" name="Picture 4" descr="Graphical user interface, application, table, Excel&#10;&#10;Description automatically generated">
            <a:extLst>
              <a:ext uri="{FF2B5EF4-FFF2-40B4-BE49-F238E27FC236}">
                <a16:creationId xmlns:a16="http://schemas.microsoft.com/office/drawing/2014/main" id="{6040A355-8A86-4A4B-8AD7-7A9438CD4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912" y="3867150"/>
            <a:ext cx="4716463" cy="270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673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8F386-B0A6-B242-92B6-08CFC2C95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Adresování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732A9-3035-5F44-91EA-92131C011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err="1"/>
              <a:t>Absolutní</a:t>
            </a:r>
            <a:r>
              <a:rPr lang="en-GB" b="1" dirty="0"/>
              <a:t> </a:t>
            </a:r>
            <a:r>
              <a:rPr lang="en-GB" b="1" dirty="0" err="1"/>
              <a:t>adresy</a:t>
            </a:r>
            <a:endParaRPr lang="en-GB" b="1" dirty="0"/>
          </a:p>
          <a:p>
            <a:r>
              <a:rPr lang="en-GB" dirty="0" err="1"/>
              <a:t>Obsahují</a:t>
            </a:r>
            <a:r>
              <a:rPr lang="en-GB" dirty="0"/>
              <a:t> </a:t>
            </a:r>
            <a:r>
              <a:rPr lang="en-GB" dirty="0" err="1"/>
              <a:t>před</a:t>
            </a:r>
            <a:r>
              <a:rPr lang="en-GB" dirty="0"/>
              <a:t> </a:t>
            </a:r>
            <a:r>
              <a:rPr lang="en-GB" dirty="0" err="1"/>
              <a:t>označením</a:t>
            </a:r>
            <a:r>
              <a:rPr lang="en-GB" dirty="0"/>
              <a:t> </a:t>
            </a:r>
            <a:r>
              <a:rPr lang="en-GB" dirty="0" err="1"/>
              <a:t>řádku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sloupce</a:t>
            </a:r>
            <a:r>
              <a:rPr lang="en-GB" dirty="0"/>
              <a:t> </a:t>
            </a:r>
            <a:r>
              <a:rPr lang="en-GB" dirty="0" err="1"/>
              <a:t>znak</a:t>
            </a:r>
            <a:r>
              <a:rPr lang="en-GB" dirty="0"/>
              <a:t> </a:t>
            </a:r>
            <a:r>
              <a:rPr lang="en-GB" dirty="0" err="1"/>
              <a:t>dolaru</a:t>
            </a:r>
            <a:r>
              <a:rPr lang="en-GB" dirty="0"/>
              <a:t>, </a:t>
            </a:r>
            <a:r>
              <a:rPr lang="en-GB" dirty="0" err="1"/>
              <a:t>např</a:t>
            </a:r>
            <a:r>
              <a:rPr lang="en-GB" dirty="0"/>
              <a:t>. $A$1.</a:t>
            </a:r>
          </a:p>
          <a:p>
            <a:pPr marL="0" indent="0">
              <a:buNone/>
            </a:pPr>
            <a:r>
              <a:rPr lang="en-GB" b="1" dirty="0" err="1"/>
              <a:t>Relativní</a:t>
            </a:r>
            <a:r>
              <a:rPr lang="en-GB" b="1" dirty="0"/>
              <a:t> </a:t>
            </a:r>
            <a:r>
              <a:rPr lang="en-GB" b="1" dirty="0" err="1"/>
              <a:t>adresy</a:t>
            </a:r>
            <a:endParaRPr lang="en-GB" b="1" dirty="0"/>
          </a:p>
          <a:p>
            <a:r>
              <a:rPr lang="en-GB" dirty="0" err="1"/>
              <a:t>Znak</a:t>
            </a:r>
            <a:r>
              <a:rPr lang="en-GB" dirty="0"/>
              <a:t> </a:t>
            </a:r>
            <a:r>
              <a:rPr lang="en-GB" dirty="0" err="1"/>
              <a:t>dolaru</a:t>
            </a:r>
            <a:r>
              <a:rPr lang="en-GB" dirty="0"/>
              <a:t> </a:t>
            </a:r>
            <a:r>
              <a:rPr lang="en-GB" dirty="0" err="1"/>
              <a:t>neobsahují</a:t>
            </a:r>
            <a:r>
              <a:rPr lang="en-GB" dirty="0"/>
              <a:t>, </a:t>
            </a:r>
            <a:r>
              <a:rPr lang="en-GB" dirty="0" err="1"/>
              <a:t>např</a:t>
            </a:r>
            <a:r>
              <a:rPr lang="en-GB" dirty="0"/>
              <a:t>. A1.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 err="1"/>
              <a:t>Smíšené</a:t>
            </a:r>
            <a:r>
              <a:rPr lang="en-GB" b="1" dirty="0"/>
              <a:t> </a:t>
            </a:r>
            <a:r>
              <a:rPr lang="en-GB" b="1" dirty="0" err="1"/>
              <a:t>adresy</a:t>
            </a:r>
            <a:endParaRPr lang="en-GB" b="1" dirty="0"/>
          </a:p>
          <a:p>
            <a:r>
              <a:rPr lang="en-GB" dirty="0" err="1"/>
              <a:t>Obsahují</a:t>
            </a:r>
            <a:r>
              <a:rPr lang="en-GB" dirty="0"/>
              <a:t> </a:t>
            </a:r>
            <a:r>
              <a:rPr lang="en-GB" dirty="0" err="1"/>
              <a:t>jeden</a:t>
            </a:r>
            <a:r>
              <a:rPr lang="en-GB" dirty="0"/>
              <a:t> </a:t>
            </a:r>
            <a:r>
              <a:rPr lang="en-GB" dirty="0" err="1"/>
              <a:t>znak</a:t>
            </a:r>
            <a:r>
              <a:rPr lang="en-GB" dirty="0"/>
              <a:t> </a:t>
            </a:r>
            <a:r>
              <a:rPr lang="en-GB" dirty="0" err="1"/>
              <a:t>dolaru</a:t>
            </a:r>
            <a:r>
              <a:rPr lang="en-GB" dirty="0"/>
              <a:t> - </a:t>
            </a:r>
            <a:r>
              <a:rPr lang="en-GB" dirty="0" err="1"/>
              <a:t>před</a:t>
            </a:r>
            <a:r>
              <a:rPr lang="en-GB" dirty="0"/>
              <a:t> </a:t>
            </a:r>
            <a:r>
              <a:rPr lang="en-GB" dirty="0" err="1"/>
              <a:t>označením</a:t>
            </a:r>
            <a:r>
              <a:rPr lang="en-GB" dirty="0"/>
              <a:t> </a:t>
            </a:r>
            <a:r>
              <a:rPr lang="en-GB" dirty="0" err="1"/>
              <a:t>řádku</a:t>
            </a:r>
            <a:r>
              <a:rPr lang="en-GB" dirty="0"/>
              <a:t>, </a:t>
            </a:r>
            <a:r>
              <a:rPr lang="en-GB" dirty="0" err="1"/>
              <a:t>nebo</a:t>
            </a:r>
            <a:r>
              <a:rPr lang="en-GB" dirty="0"/>
              <a:t> </a:t>
            </a:r>
            <a:r>
              <a:rPr lang="en-GB" dirty="0" err="1"/>
              <a:t>sloupce</a:t>
            </a:r>
            <a:r>
              <a:rPr lang="en-GB" dirty="0"/>
              <a:t>, </a:t>
            </a:r>
            <a:r>
              <a:rPr lang="en-GB" dirty="0" err="1"/>
              <a:t>např</a:t>
            </a:r>
            <a:r>
              <a:rPr lang="en-GB" dirty="0"/>
              <a:t>. $A1, </a:t>
            </a:r>
            <a:r>
              <a:rPr lang="en-GB" dirty="0" err="1"/>
              <a:t>nebo</a:t>
            </a:r>
            <a:r>
              <a:rPr lang="en-GB" dirty="0"/>
              <a:t> A$1.</a:t>
            </a:r>
          </a:p>
          <a:p>
            <a:pPr marL="0" indent="0">
              <a:buNone/>
            </a:pPr>
            <a:r>
              <a:rPr lang="en-GB" b="1" dirty="0" err="1"/>
              <a:t>Změna</a:t>
            </a:r>
            <a:r>
              <a:rPr lang="en-GB" b="1" dirty="0"/>
              <a:t> </a:t>
            </a:r>
            <a:r>
              <a:rPr lang="en-GB" b="1" dirty="0" err="1"/>
              <a:t>typu</a:t>
            </a:r>
            <a:r>
              <a:rPr lang="en-GB" b="1" dirty="0"/>
              <a:t> </a:t>
            </a:r>
            <a:r>
              <a:rPr lang="en-GB" b="1" dirty="0" err="1"/>
              <a:t>adresování</a:t>
            </a:r>
            <a:endParaRPr lang="en-GB" b="1" dirty="0"/>
          </a:p>
          <a:p>
            <a:r>
              <a:rPr lang="en-GB" dirty="0" err="1"/>
              <a:t>Znak</a:t>
            </a:r>
            <a:r>
              <a:rPr lang="en-GB" dirty="0"/>
              <a:t> </a:t>
            </a:r>
            <a:r>
              <a:rPr lang="en-GB" dirty="0" err="1"/>
              <a:t>dolaru</a:t>
            </a:r>
            <a:r>
              <a:rPr lang="en-GB" dirty="0"/>
              <a:t> </a:t>
            </a:r>
            <a:r>
              <a:rPr lang="en-GB" dirty="0" err="1"/>
              <a:t>nepíšeme</a:t>
            </a:r>
            <a:r>
              <a:rPr lang="en-GB" dirty="0"/>
              <a:t> z </a:t>
            </a:r>
            <a:r>
              <a:rPr lang="en-GB" dirty="0" err="1"/>
              <a:t>klávesnice</a:t>
            </a:r>
            <a:r>
              <a:rPr lang="en-GB" dirty="0"/>
              <a:t>. </a:t>
            </a:r>
            <a:r>
              <a:rPr lang="en-GB" dirty="0" err="1"/>
              <a:t>Mezi</a:t>
            </a:r>
            <a:r>
              <a:rPr lang="en-GB" dirty="0"/>
              <a:t> </a:t>
            </a:r>
            <a:r>
              <a:rPr lang="en-GB" dirty="0" err="1"/>
              <a:t>jednotlivými</a:t>
            </a:r>
            <a:r>
              <a:rPr lang="en-GB" dirty="0"/>
              <a:t> </a:t>
            </a:r>
            <a:r>
              <a:rPr lang="en-GB" dirty="0" err="1"/>
              <a:t>typy</a:t>
            </a:r>
            <a:r>
              <a:rPr lang="en-GB" dirty="0"/>
              <a:t> </a:t>
            </a:r>
            <a:r>
              <a:rPr lang="en-GB" dirty="0" err="1"/>
              <a:t>adres</a:t>
            </a:r>
            <a:r>
              <a:rPr lang="en-GB" dirty="0"/>
              <a:t> </a:t>
            </a:r>
            <a:r>
              <a:rPr lang="en-GB" dirty="0" err="1"/>
              <a:t>přecházíme</a:t>
            </a:r>
            <a:r>
              <a:rPr lang="en-GB" dirty="0"/>
              <a:t> </a:t>
            </a:r>
            <a:r>
              <a:rPr lang="en-GB" dirty="0" err="1"/>
              <a:t>klávesou</a:t>
            </a:r>
            <a:r>
              <a:rPr lang="en-GB" dirty="0"/>
              <a:t> F4.</a:t>
            </a:r>
          </a:p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910062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6F668-DB56-B241-9320-4319B5CD4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Oblast tisku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54615-38AF-4D4B-8205-9426CB19A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Na </a:t>
            </a:r>
            <a:r>
              <a:rPr lang="en-GB" dirty="0" err="1"/>
              <a:t>listu</a:t>
            </a:r>
            <a:r>
              <a:rPr lang="en-GB" dirty="0"/>
              <a:t> </a:t>
            </a:r>
            <a:r>
              <a:rPr lang="en-GB" dirty="0" err="1"/>
              <a:t>vyberte</a:t>
            </a:r>
            <a:r>
              <a:rPr lang="en-GB" dirty="0"/>
              <a:t> </a:t>
            </a:r>
            <a:r>
              <a:rPr lang="en-GB" dirty="0" err="1"/>
              <a:t>buňky</a:t>
            </a:r>
            <a:r>
              <a:rPr lang="en-GB" dirty="0"/>
              <a:t>, </a:t>
            </a:r>
            <a:r>
              <a:rPr lang="en-GB" dirty="0" err="1"/>
              <a:t>které</a:t>
            </a:r>
            <a:r>
              <a:rPr lang="en-GB" dirty="0"/>
              <a:t> </a:t>
            </a:r>
            <a:r>
              <a:rPr lang="en-GB" dirty="0" err="1"/>
              <a:t>chcete</a:t>
            </a:r>
            <a:r>
              <a:rPr lang="en-GB" dirty="0"/>
              <a:t> </a:t>
            </a:r>
            <a:r>
              <a:rPr lang="en-GB" dirty="0" err="1"/>
              <a:t>definovat</a:t>
            </a:r>
            <a:r>
              <a:rPr lang="en-GB" dirty="0"/>
              <a:t> </a:t>
            </a:r>
            <a:r>
              <a:rPr lang="en-GB" dirty="0" err="1"/>
              <a:t>jako</a:t>
            </a:r>
            <a:r>
              <a:rPr lang="en-GB" dirty="0"/>
              <a:t> oblast </a:t>
            </a:r>
            <a:r>
              <a:rPr lang="en-GB" dirty="0" err="1"/>
              <a:t>tisku</a:t>
            </a:r>
            <a:r>
              <a:rPr lang="en-GB" dirty="0"/>
              <a:t>.</a:t>
            </a:r>
          </a:p>
          <a:p>
            <a:r>
              <a:rPr lang="en-GB" dirty="0"/>
              <a:t>Na </a:t>
            </a:r>
            <a:r>
              <a:rPr lang="en-GB" dirty="0" err="1"/>
              <a:t>kartě</a:t>
            </a:r>
            <a:r>
              <a:rPr lang="en-GB" dirty="0"/>
              <a:t> </a:t>
            </a:r>
            <a:r>
              <a:rPr lang="en-GB" dirty="0" err="1"/>
              <a:t>Rozložení</a:t>
            </a:r>
            <a:r>
              <a:rPr lang="en-GB" dirty="0"/>
              <a:t> </a:t>
            </a:r>
            <a:r>
              <a:rPr lang="en-GB" dirty="0" err="1"/>
              <a:t>stránky</a:t>
            </a:r>
            <a:r>
              <a:rPr lang="en-GB" dirty="0"/>
              <a:t> </a:t>
            </a:r>
            <a:r>
              <a:rPr lang="en-GB" dirty="0" err="1"/>
              <a:t>klikněte</a:t>
            </a:r>
            <a:r>
              <a:rPr lang="en-GB" dirty="0"/>
              <a:t> </a:t>
            </a:r>
            <a:r>
              <a:rPr lang="en-GB" dirty="0" err="1"/>
              <a:t>ve</a:t>
            </a:r>
            <a:r>
              <a:rPr lang="en-GB" dirty="0"/>
              <a:t> </a:t>
            </a:r>
            <a:r>
              <a:rPr lang="en-GB" dirty="0" err="1"/>
              <a:t>skupině</a:t>
            </a:r>
            <a:r>
              <a:rPr lang="en-GB" dirty="0"/>
              <a:t> </a:t>
            </a:r>
            <a:r>
              <a:rPr lang="en-GB" dirty="0" err="1"/>
              <a:t>Vzhled</a:t>
            </a:r>
            <a:r>
              <a:rPr lang="en-GB" dirty="0"/>
              <a:t> </a:t>
            </a:r>
            <a:r>
              <a:rPr lang="en-GB" dirty="0" err="1"/>
              <a:t>stránky</a:t>
            </a:r>
            <a:r>
              <a:rPr lang="en-GB" dirty="0"/>
              <a:t> </a:t>
            </a:r>
            <a:r>
              <a:rPr lang="en-GB" dirty="0" err="1"/>
              <a:t>na</a:t>
            </a:r>
            <a:r>
              <a:rPr lang="en-GB" dirty="0"/>
              <a:t> Oblast </a:t>
            </a:r>
            <a:r>
              <a:rPr lang="en-GB" dirty="0" err="1"/>
              <a:t>tiskua</a:t>
            </a:r>
            <a:r>
              <a:rPr lang="en-GB" dirty="0"/>
              <a:t> </a:t>
            </a:r>
            <a:r>
              <a:rPr lang="en-GB" dirty="0" err="1"/>
              <a:t>potom</a:t>
            </a:r>
            <a:r>
              <a:rPr lang="en-GB" dirty="0"/>
              <a:t> </a:t>
            </a:r>
            <a:r>
              <a:rPr lang="en-GB" dirty="0" err="1"/>
              <a:t>klikněte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Nastavit</a:t>
            </a:r>
            <a:r>
              <a:rPr lang="en-GB" dirty="0"/>
              <a:t> oblast </a:t>
            </a:r>
            <a:r>
              <a:rPr lang="en-GB" dirty="0" err="1"/>
              <a:t>tisku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Stejným</a:t>
            </a:r>
            <a:r>
              <a:rPr lang="en-GB" dirty="0"/>
              <a:t> </a:t>
            </a:r>
            <a:r>
              <a:rPr lang="en-GB" dirty="0" err="1"/>
              <a:t>tlačítkem</a:t>
            </a:r>
            <a:r>
              <a:rPr lang="en-GB" dirty="0"/>
              <a:t> </a:t>
            </a:r>
            <a:r>
              <a:rPr lang="en-GB" dirty="0" err="1"/>
              <a:t>lze</a:t>
            </a:r>
            <a:r>
              <a:rPr lang="en-GB" dirty="0"/>
              <a:t> </a:t>
            </a:r>
            <a:r>
              <a:rPr lang="en-GB" dirty="0" err="1"/>
              <a:t>přidávat</a:t>
            </a:r>
            <a:r>
              <a:rPr lang="en-GB" dirty="0"/>
              <a:t>, </a:t>
            </a:r>
            <a:r>
              <a:rPr lang="en-GB" dirty="0" err="1"/>
              <a:t>či</a:t>
            </a:r>
            <a:r>
              <a:rPr lang="en-GB" dirty="0"/>
              <a:t> </a:t>
            </a:r>
            <a:r>
              <a:rPr lang="en-GB" dirty="0" err="1"/>
              <a:t>mazat</a:t>
            </a:r>
            <a:r>
              <a:rPr lang="en-GB" dirty="0"/>
              <a:t> </a:t>
            </a:r>
            <a:r>
              <a:rPr lang="en-GB" dirty="0" err="1"/>
              <a:t>buňky</a:t>
            </a:r>
            <a:r>
              <a:rPr lang="en-GB" dirty="0"/>
              <a:t> a </a:t>
            </a:r>
            <a:r>
              <a:rPr lang="en-GB" dirty="0" err="1"/>
              <a:t>sloupce</a:t>
            </a:r>
            <a:r>
              <a:rPr lang="en-GB" dirty="0"/>
              <a:t> z </a:t>
            </a:r>
            <a:r>
              <a:rPr lang="en-GB" dirty="0" err="1"/>
              <a:t>oblasti</a:t>
            </a:r>
            <a:r>
              <a:rPr lang="en-GB" dirty="0"/>
              <a:t> </a:t>
            </a:r>
            <a:r>
              <a:rPr lang="en-GB" dirty="0" err="1"/>
              <a:t>tisku</a:t>
            </a:r>
            <a:r>
              <a:rPr lang="en-GB" dirty="0"/>
              <a:t>.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CZ" dirty="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AE57469-69F5-0E48-BA53-ED1C6FE05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418" y="2097088"/>
            <a:ext cx="3175000" cy="1206500"/>
          </a:xfrm>
          <a:prstGeom prst="rect">
            <a:avLst/>
          </a:prstGeom>
        </p:spPr>
      </p:pic>
      <p:pic>
        <p:nvPicPr>
          <p:cNvPr id="7" name="Picture 6" descr="Graphical user interface, application, Word, Excel&#10;&#10;Description automatically generated">
            <a:extLst>
              <a:ext uri="{FF2B5EF4-FFF2-40B4-BE49-F238E27FC236}">
                <a16:creationId xmlns:a16="http://schemas.microsoft.com/office/drawing/2014/main" id="{7CF2D084-840A-4440-B051-DDF90159A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4436556"/>
            <a:ext cx="36195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80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72FCF-8654-764B-B90F-4D54FA82E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Nastavení stránky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89DE8-540E-0E4B-B474-C274E96C0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Z" dirty="0"/>
              <a:t>Na každé listu můžeme nastavit, smazat nebo změnit konec stránky.</a:t>
            </a:r>
          </a:p>
          <a:p>
            <a:endParaRPr lang="en-CZ" dirty="0"/>
          </a:p>
          <a:p>
            <a:endParaRPr lang="en-CZ" dirty="0"/>
          </a:p>
          <a:p>
            <a:endParaRPr lang="en-CZ" dirty="0"/>
          </a:p>
          <a:p>
            <a:endParaRPr lang="en-CZ" dirty="0"/>
          </a:p>
          <a:p>
            <a:endParaRPr lang="en-CZ" dirty="0"/>
          </a:p>
          <a:p>
            <a:endParaRPr lang="en-CZ" dirty="0"/>
          </a:p>
          <a:p>
            <a:endParaRPr lang="en-CZ" dirty="0"/>
          </a:p>
          <a:p>
            <a:endParaRPr lang="en-CZ" dirty="0"/>
          </a:p>
          <a:p>
            <a:endParaRPr lang="en-CZ" dirty="0"/>
          </a:p>
        </p:txBody>
      </p:sp>
      <p:pic>
        <p:nvPicPr>
          <p:cNvPr id="9" name="Picture 8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630347E0-5427-E843-801E-AD2676821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968" y="2789428"/>
            <a:ext cx="3111500" cy="1270000"/>
          </a:xfrm>
          <a:prstGeom prst="rect">
            <a:avLst/>
          </a:prstGeom>
        </p:spPr>
      </p:pic>
      <p:pic>
        <p:nvPicPr>
          <p:cNvPr id="13" name="Picture 12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09744049-E938-0640-B92E-D6F84A615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268" y="2827528"/>
            <a:ext cx="37592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5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312-3D76-DF43-AFF9-CB077E91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Grafy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28982-E1D2-C84D-ABF9-890065090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 err="1"/>
              <a:t>Grafy</a:t>
            </a:r>
            <a:r>
              <a:rPr lang="en-GB" dirty="0"/>
              <a:t> </a:t>
            </a:r>
            <a:r>
              <a:rPr lang="en-GB" dirty="0" err="1"/>
              <a:t>můžeme</a:t>
            </a:r>
            <a:r>
              <a:rPr lang="en-GB" dirty="0"/>
              <a:t> </a:t>
            </a:r>
            <a:r>
              <a:rPr lang="en-GB" dirty="0" err="1"/>
              <a:t>tvořit</a:t>
            </a:r>
            <a:r>
              <a:rPr lang="en-GB" dirty="0"/>
              <a:t> z </a:t>
            </a:r>
            <a:r>
              <a:rPr lang="en-GB" dirty="0" err="1"/>
              <a:t>námi</a:t>
            </a:r>
            <a:r>
              <a:rPr lang="en-GB" dirty="0"/>
              <a:t> </a:t>
            </a:r>
            <a:r>
              <a:rPr lang="en-GB" dirty="0" err="1"/>
              <a:t>zadaných</a:t>
            </a:r>
            <a:r>
              <a:rPr lang="en-GB" dirty="0"/>
              <a:t> </a:t>
            </a:r>
            <a:r>
              <a:rPr lang="en-GB" dirty="0" err="1"/>
              <a:t>dat</a:t>
            </a:r>
            <a:r>
              <a:rPr lang="en-GB" dirty="0"/>
              <a:t> v </a:t>
            </a:r>
            <a:r>
              <a:rPr lang="en-GB" dirty="0" err="1"/>
              <a:t>buňkách</a:t>
            </a:r>
            <a:r>
              <a:rPr lang="en-GB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err="1"/>
              <a:t>Vyberte</a:t>
            </a:r>
            <a:r>
              <a:rPr lang="en-GB" dirty="0"/>
              <a:t> data, </a:t>
            </a:r>
            <a:r>
              <a:rPr lang="en-GB" dirty="0" err="1"/>
              <a:t>ze</a:t>
            </a:r>
            <a:r>
              <a:rPr lang="en-GB" dirty="0"/>
              <a:t> </a:t>
            </a:r>
            <a:r>
              <a:rPr lang="en-GB" dirty="0" err="1"/>
              <a:t>kterých</a:t>
            </a:r>
            <a:r>
              <a:rPr lang="en-GB" dirty="0"/>
              <a:t> </a:t>
            </a:r>
            <a:r>
              <a:rPr lang="en-GB" dirty="0" err="1"/>
              <a:t>chcete</a:t>
            </a:r>
            <a:r>
              <a:rPr lang="en-GB" dirty="0"/>
              <a:t> </a:t>
            </a:r>
            <a:r>
              <a:rPr lang="en-GB" dirty="0" err="1"/>
              <a:t>vytvořit</a:t>
            </a:r>
            <a:r>
              <a:rPr lang="en-GB" dirty="0"/>
              <a:t> </a:t>
            </a:r>
            <a:r>
              <a:rPr lang="en-GB" dirty="0" err="1"/>
              <a:t>graf</a:t>
            </a:r>
            <a:r>
              <a:rPr lang="en-GB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err="1"/>
              <a:t>Klikněte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 </a:t>
            </a:r>
            <a:r>
              <a:rPr lang="en-GB" dirty="0" err="1"/>
              <a:t>Vložení</a:t>
            </a:r>
            <a:r>
              <a:rPr lang="en-GB" dirty="0"/>
              <a:t> -&gt; </a:t>
            </a:r>
            <a:r>
              <a:rPr lang="en-GB" dirty="0" err="1"/>
              <a:t>Doporučené</a:t>
            </a:r>
            <a:r>
              <a:rPr lang="en-GB" dirty="0"/>
              <a:t> </a:t>
            </a:r>
            <a:r>
              <a:rPr lang="en-GB" dirty="0" err="1"/>
              <a:t>grafy</a:t>
            </a:r>
            <a:r>
              <a:rPr lang="en-GB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Po </a:t>
            </a:r>
            <a:r>
              <a:rPr lang="en-GB" dirty="0" err="1"/>
              <a:t>výběru</a:t>
            </a:r>
            <a:r>
              <a:rPr lang="en-GB" dirty="0"/>
              <a:t> </a:t>
            </a:r>
            <a:r>
              <a:rPr lang="en-GB" dirty="0" err="1"/>
              <a:t>typu</a:t>
            </a:r>
            <a:r>
              <a:rPr lang="en-GB" dirty="0"/>
              <a:t> </a:t>
            </a:r>
            <a:r>
              <a:rPr lang="en-GB" dirty="0" err="1"/>
              <a:t>grafu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kartě</a:t>
            </a:r>
            <a:r>
              <a:rPr lang="en-GB" dirty="0"/>
              <a:t> </a:t>
            </a:r>
            <a:r>
              <a:rPr lang="en-GB" dirty="0" err="1"/>
              <a:t>Doporučené</a:t>
            </a:r>
            <a:r>
              <a:rPr lang="en-GB" dirty="0"/>
              <a:t> </a:t>
            </a:r>
            <a:r>
              <a:rPr lang="en-GB" dirty="0" err="1"/>
              <a:t>grafy</a:t>
            </a:r>
            <a:r>
              <a:rPr lang="en-GB" dirty="0"/>
              <a:t> se </a:t>
            </a:r>
            <a:r>
              <a:rPr lang="en-GB" dirty="0" err="1"/>
              <a:t>vám</a:t>
            </a:r>
            <a:r>
              <a:rPr lang="en-GB" dirty="0"/>
              <a:t> </a:t>
            </a:r>
            <a:r>
              <a:rPr lang="en-GB" dirty="0" err="1"/>
              <a:t>zobrazí</a:t>
            </a:r>
            <a:r>
              <a:rPr lang="en-GB" dirty="0"/>
              <a:t> </a:t>
            </a:r>
            <a:r>
              <a:rPr lang="en-GB" dirty="0" err="1"/>
              <a:t>náhled</a:t>
            </a:r>
            <a:r>
              <a:rPr lang="en-GB" dirty="0"/>
              <a:t> </a:t>
            </a:r>
            <a:r>
              <a:rPr lang="en-GB" dirty="0" err="1"/>
              <a:t>grafu</a:t>
            </a:r>
            <a:r>
              <a:rPr lang="en-GB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err="1"/>
              <a:t>Vyberte</a:t>
            </a:r>
            <a:r>
              <a:rPr lang="en-GB" dirty="0"/>
              <a:t> </a:t>
            </a:r>
            <a:r>
              <a:rPr lang="en-GB" dirty="0" err="1"/>
              <a:t>graf</a:t>
            </a:r>
            <a:r>
              <a:rPr lang="en-GB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 err="1"/>
              <a:t>Vyberte</a:t>
            </a:r>
            <a:r>
              <a:rPr lang="en-GB" dirty="0"/>
              <a:t> OK.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endParaRPr lang="en-GB" dirty="0"/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CC41CAE7-D6FF-AB46-8406-C6FA7D599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925" y="2890838"/>
            <a:ext cx="34671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033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3852A-C654-7841-B84A-2ACA84C2B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Zdroje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C210C-ED0D-3E43-B38B-B0BB39A24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Z" dirty="0"/>
              <a:t>Wikipedie </a:t>
            </a:r>
            <a:r>
              <a:rPr lang="en-GB" dirty="0">
                <a:hlinkClick r:id="rId2"/>
              </a:rPr>
              <a:t>https://cs.wikipedia.org/wiki/Tabulkový_procesor</a:t>
            </a:r>
            <a:endParaRPr lang="en-GB" dirty="0"/>
          </a:p>
          <a:p>
            <a:r>
              <a:rPr lang="en-GB" dirty="0"/>
              <a:t>Google </a:t>
            </a:r>
            <a:r>
              <a:rPr lang="en-GB" dirty="0" err="1"/>
              <a:t>obrázky</a:t>
            </a:r>
            <a:r>
              <a:rPr lang="en-GB" dirty="0"/>
              <a:t> </a:t>
            </a:r>
            <a:r>
              <a:rPr lang="en-GB" dirty="0">
                <a:hlinkClick r:id="rId3"/>
              </a:rPr>
              <a:t>https://google.com/</a:t>
            </a:r>
            <a:endParaRPr lang="en-GB" dirty="0"/>
          </a:p>
          <a:p>
            <a:r>
              <a:rPr lang="en-GB" dirty="0"/>
              <a:t>Office </a:t>
            </a:r>
            <a:r>
              <a:rPr lang="en-GB" dirty="0" err="1"/>
              <a:t>Lasakovi</a:t>
            </a:r>
            <a:r>
              <a:rPr lang="en-GB" dirty="0"/>
              <a:t> </a:t>
            </a:r>
            <a:r>
              <a:rPr lang="en-GB" dirty="0">
                <a:hlinkClick r:id="rId4"/>
              </a:rPr>
              <a:t>https://office.lasakovi.com/excel/formatovani/vlastni-format-bunek-pokrocile-nastaveni/</a:t>
            </a:r>
            <a:endParaRPr lang="en-GB" dirty="0"/>
          </a:p>
          <a:p>
            <a:r>
              <a:rPr lang="en-GB" dirty="0"/>
              <a:t>CS </a:t>
            </a:r>
            <a:r>
              <a:rPr lang="en-GB" dirty="0" err="1"/>
              <a:t>Educaiton</a:t>
            </a:r>
            <a:r>
              <a:rPr lang="en-GB" dirty="0"/>
              <a:t> </a:t>
            </a:r>
            <a:r>
              <a:rPr lang="en-GB" dirty="0">
                <a:hlinkClick r:id="rId5"/>
              </a:rPr>
              <a:t>https://cs.education-wiki.com/5247487-excel-print-area</a:t>
            </a:r>
            <a:endParaRPr lang="en-GB" dirty="0"/>
          </a:p>
          <a:p>
            <a:r>
              <a:rPr lang="en-GB" dirty="0"/>
              <a:t>Microsoft </a:t>
            </a:r>
            <a:r>
              <a:rPr lang="en-GB" dirty="0">
                <a:hlinkClick r:id="rId6"/>
              </a:rPr>
              <a:t>https://support.microsoft.com/cs-cz/office/vytvořen%C3%AD-grafu-od-začátku-do-konce-0baf399e-dd61-4e18-8a73-b3fd5d5680c2</a:t>
            </a:r>
            <a:endParaRPr lang="en-GB" dirty="0"/>
          </a:p>
          <a:p>
            <a:r>
              <a:rPr lang="en-GB" dirty="0"/>
              <a:t>CUNI </a:t>
            </a:r>
            <a:r>
              <a:rPr lang="en-GB" dirty="0">
                <a:hlinkClick r:id="rId7"/>
              </a:rPr>
              <a:t>http://web.natur.cuni.cz/~jmakov/ExcelStranky/AdresExcel.html</a:t>
            </a:r>
            <a:endParaRPr lang="en-GB" dirty="0"/>
          </a:p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258230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085594-3788-5D48-8608-6FF99D2E2F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Z" dirty="0"/>
              <a:t>Děkujeme za pozornost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C0EA9AF-B1E3-5F46-BE22-04D4F8B3CC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371057617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71</TotalTime>
  <Words>597</Words>
  <Application>Microsoft Macintosh PowerPoint</Application>
  <PresentationFormat>Widescreen</PresentationFormat>
  <Paragraphs>106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Corbel</vt:lpstr>
      <vt:lpstr>Wingdings 2</vt:lpstr>
      <vt:lpstr>Frame</vt:lpstr>
      <vt:lpstr>Tabulkový kalkulátor 1.</vt:lpstr>
      <vt:lpstr>Používaný SW</vt:lpstr>
      <vt:lpstr>Sešit</vt:lpstr>
      <vt:lpstr>List</vt:lpstr>
      <vt:lpstr>Výběr buněk</vt:lpstr>
      <vt:lpstr>Řádky a sloupce</vt:lpstr>
      <vt:lpstr>Formát buňky</vt:lpstr>
      <vt:lpstr>Vlastní formát</vt:lpstr>
      <vt:lpstr>Vzorce a jejich rozšiřování</vt:lpstr>
      <vt:lpstr>Adresování</vt:lpstr>
      <vt:lpstr>Oblast tisku</vt:lpstr>
      <vt:lpstr>Nastavení stránky</vt:lpstr>
      <vt:lpstr>Grafy</vt:lpstr>
      <vt:lpstr>Zdroje</vt:lpstr>
      <vt:lpstr>Děkujeme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Tabulkový kalkulátor 1.</dc:title>
  <dc:creator>Střádala Nicolas</dc:creator>
  <cp:lastModifiedBy>Střádala Nicolas</cp:lastModifiedBy>
  <cp:revision>5</cp:revision>
  <dcterms:created xsi:type="dcterms:W3CDTF">2022-01-03T20:17:05Z</dcterms:created>
  <dcterms:modified xsi:type="dcterms:W3CDTF">2022-01-03T21:28:45Z</dcterms:modified>
</cp:coreProperties>
</file>