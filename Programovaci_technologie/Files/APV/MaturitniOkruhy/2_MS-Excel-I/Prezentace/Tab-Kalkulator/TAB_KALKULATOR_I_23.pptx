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51" d="100"/>
          <a:sy n="51" d="100"/>
        </p:scale>
        <p:origin x="84" y="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E7646A-528E-E823-EC76-7EFDF1D63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343CB06-894D-F88C-6714-D27DA801B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98AF68-C788-C26C-EA13-B454A41D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4D3A078-302F-1A4E-97C2-27F909BC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43823C-784F-DFCA-C603-FA45AE45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564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5F1712-27E4-32F9-A278-34E2A7AC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7BE9E3-D42F-1F35-D06B-7BA4E2017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4414929-8BE3-F7F7-B100-9EC75BCA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DC24E94-F8B9-C299-FD14-A21AB274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2D81EA-BE3E-E42A-34D2-9E12596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695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71ACA1-F6E2-A605-D0FC-3C5398F8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2843064-893B-97FD-9278-C7CCB5BE5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A32BB3-56DB-4454-EA4B-2429C2EC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89D697-BD98-DAA3-1D8B-094EC3EC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0CCC94E-C5FF-F84C-DE12-194E61A7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483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4AF0FD-5DE8-5B12-D743-60984A98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EC61F3-7CB2-6246-89C8-1860278F1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116C329-1F4E-AC8E-9ED5-0BF157713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E2A33FE-31B5-DBAD-8461-F2EB72DF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3E06CB0-7BBA-C764-4FCE-26123766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1DB0526-2B9C-B965-6F3A-5CA273E6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035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76ACDC-CF4F-296B-189B-83C54092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4CDA116-15A4-FE05-7C15-4B5043E76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7495696-1935-9F24-57FB-A51BFC2CB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4C04703-0C6B-8231-A4AF-6A5ADD398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BA1F569-FB8D-396B-0DE8-ECB09C1DC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61573AB-4247-1BF2-069D-206083A0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9026FB0-B992-0ACD-352E-FB2D5988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1F22CC7-5871-B31C-86B3-573B8DD2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492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E6B9C1-6461-F58F-8E2F-367576B8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BD02DB9-1C36-1CC6-AE92-81AD32E1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47EDC9C-A4B0-6C36-DE57-AB3763FC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227044D-1562-7E46-2DD8-D5D6E5DA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177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780CB95-287C-D10B-0524-A9FDE3C7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B280C58-2518-D535-3353-3B2C4735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F4EB82C-40A0-58B2-A873-06C7018E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9442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18B7F-EACE-D2C8-0B38-815E178B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274DFB-6679-F408-4142-2DEE0441E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5494100-F4A2-0EBB-1017-965267FFE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63AEFD2-4255-5A37-0C8B-643F4FEC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F92BE49-72D1-DD18-B280-62F87160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8A5420E-42E7-0685-7D97-A3E80C30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316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E95180-6240-21B4-5C86-92941C17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0E85CA1-86D4-EA0B-9274-16F500F99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78D592D-54D7-CA0B-AD79-11067A18E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18A00B3-C93D-92BC-7414-1607296CB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7680A7A-80EC-ACB0-32A4-FFCC5FFF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4F2D916-E637-8C20-8979-20B536BD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539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73F0B-EB2B-4D06-F965-1AD09D6D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D84DB37-7EA1-A1CA-1086-1C4B6CD1F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FD9311-F275-E231-6705-5479B67A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CD1F43-0088-6B48-3DD9-15D68263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84A735-82A6-B3DC-7F5E-1AAE73FD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256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F45D49-6AA6-0F44-5DE2-E4D6618D7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E18A164-2FD7-2C09-0591-0ED5F16D2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8A9891-2193-102D-063B-877FAC8A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82EFA9D-F0A7-C589-B4AD-91655C2B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B3E9B08-4A28-A808-ED24-F8F82567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214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9982C64-25CD-EC33-913B-4838CB23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20074D3-5F66-42B4-33AB-4AC267D25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C8D19F-D7D8-A712-DC05-4EE0A4DE3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32970-02FD-425A-A520-671E99B9FCB1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B50D1FE-DA0B-0E25-8B42-F04345EC0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25C5533-136B-517D-8EAC-98E3A6959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D7781-0942-443B-9E24-3C6523E558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437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Tabulkov%C3%BD_proceso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bcsx3kp2k1lc.cloudfront.net/files/5b/5b3ece41-2614-4e75-ae5e-6144949b16d2.webp?v=202210120915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bsah obrázku obloha, mapa, text&#10;&#10;Popis byl vytvořen automaticky">
            <a:extLst>
              <a:ext uri="{FF2B5EF4-FFF2-40B4-BE49-F238E27FC236}">
                <a16:creationId xmlns:a16="http://schemas.microsoft.com/office/drawing/2014/main" id="{A46EDA6C-829A-067B-743A-6FCED58195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0" t="9091" r="19299" b="-2"/>
          <a:stretch/>
        </p:blipFill>
        <p:spPr>
          <a:xfrm>
            <a:off x="4818888" y="1"/>
            <a:ext cx="7373112" cy="6857999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223861-A3E8-48E6-8C01-F3C9AD22D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8896786" cy="6858478"/>
          </a:xfrm>
          <a:custGeom>
            <a:avLst/>
            <a:gdLst>
              <a:gd name="connsiteX0" fmla="*/ 1472231 w 8896786"/>
              <a:gd name="connsiteY0" fmla="*/ 6858478 h 6858478"/>
              <a:gd name="connsiteX1" fmla="*/ 8896786 w 8896786"/>
              <a:gd name="connsiteY1" fmla="*/ 6858478 h 6858478"/>
              <a:gd name="connsiteX2" fmla="*/ 5720411 w 8896786"/>
              <a:gd name="connsiteY2" fmla="*/ 0 h 6858478"/>
              <a:gd name="connsiteX3" fmla="*/ 5714834 w 8896786"/>
              <a:gd name="connsiteY3" fmla="*/ 0 h 6858478"/>
              <a:gd name="connsiteX4" fmla="*/ 4648606 w 8896786"/>
              <a:gd name="connsiteY4" fmla="*/ 0 h 6858478"/>
              <a:gd name="connsiteX5" fmla="*/ 0 w 8896786"/>
              <a:gd name="connsiteY5" fmla="*/ 0 h 6858478"/>
              <a:gd name="connsiteX6" fmla="*/ 0 w 8896786"/>
              <a:gd name="connsiteY6" fmla="*/ 6857915 h 6858478"/>
              <a:gd name="connsiteX7" fmla="*/ 1472491 w 8896786"/>
              <a:gd name="connsiteY7" fmla="*/ 6857915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6786" h="6858478">
                <a:moveTo>
                  <a:pt x="1472231" y="6858478"/>
                </a:moveTo>
                <a:lnTo>
                  <a:pt x="8896786" y="6858478"/>
                </a:lnTo>
                <a:lnTo>
                  <a:pt x="5720411" y="0"/>
                </a:lnTo>
                <a:lnTo>
                  <a:pt x="5714834" y="0"/>
                </a:lnTo>
                <a:lnTo>
                  <a:pt x="4648606" y="0"/>
                </a:lnTo>
                <a:lnTo>
                  <a:pt x="0" y="0"/>
                </a:lnTo>
                <a:lnTo>
                  <a:pt x="0" y="6857915"/>
                </a:lnTo>
                <a:lnTo>
                  <a:pt x="1472491" y="685791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E940727-F42D-4F2B-AF71-DA5D9FAB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9"/>
            <a:ext cx="8096249" cy="6858479"/>
          </a:xfrm>
          <a:custGeom>
            <a:avLst/>
            <a:gdLst>
              <a:gd name="connsiteX0" fmla="*/ 0 w 8096249"/>
              <a:gd name="connsiteY0" fmla="*/ 6858479 h 6858479"/>
              <a:gd name="connsiteX1" fmla="*/ 2130297 w 8096249"/>
              <a:gd name="connsiteY1" fmla="*/ 6858479 h 6858479"/>
              <a:gd name="connsiteX2" fmla="*/ 2130297 w 8096249"/>
              <a:gd name="connsiteY2" fmla="*/ 6858478 h 6858479"/>
              <a:gd name="connsiteX3" fmla="*/ 8096249 w 8096249"/>
              <a:gd name="connsiteY3" fmla="*/ 6858478 h 6858479"/>
              <a:gd name="connsiteX4" fmla="*/ 4919874 w 8096249"/>
              <a:gd name="connsiteY4" fmla="*/ 0 h 6858479"/>
              <a:gd name="connsiteX5" fmla="*/ 4914297 w 8096249"/>
              <a:gd name="connsiteY5" fmla="*/ 0 h 6858479"/>
              <a:gd name="connsiteX6" fmla="*/ 3848069 w 8096249"/>
              <a:gd name="connsiteY6" fmla="*/ 0 h 6858479"/>
              <a:gd name="connsiteX7" fmla="*/ 18197 w 8096249"/>
              <a:gd name="connsiteY7" fmla="*/ 0 h 6858479"/>
              <a:gd name="connsiteX8" fmla="*/ 18197 w 8096249"/>
              <a:gd name="connsiteY8" fmla="*/ 479 h 6858479"/>
              <a:gd name="connsiteX9" fmla="*/ 0 w 8096249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96249" h="6858479">
                <a:moveTo>
                  <a:pt x="0" y="6858479"/>
                </a:moveTo>
                <a:lnTo>
                  <a:pt x="2130297" y="6858479"/>
                </a:lnTo>
                <a:lnTo>
                  <a:pt x="2130297" y="6858478"/>
                </a:lnTo>
                <a:lnTo>
                  <a:pt x="8096249" y="6858478"/>
                </a:lnTo>
                <a:lnTo>
                  <a:pt x="4919874" y="0"/>
                </a:lnTo>
                <a:lnTo>
                  <a:pt x="4914297" y="0"/>
                </a:lnTo>
                <a:lnTo>
                  <a:pt x="3848069" y="0"/>
                </a:lnTo>
                <a:lnTo>
                  <a:pt x="18197" y="0"/>
                </a:lnTo>
                <a:lnTo>
                  <a:pt x="18197" y="479"/>
                </a:lnTo>
                <a:lnTo>
                  <a:pt x="0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A276C39-4E0A-F1E3-1E22-5AD45CE21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74442"/>
            <a:ext cx="5291328" cy="3072384"/>
          </a:xfrm>
        </p:spPr>
        <p:txBody>
          <a:bodyPr anchor="b">
            <a:normAutofit/>
          </a:bodyPr>
          <a:lstStyle/>
          <a:p>
            <a:pPr algn="l"/>
            <a:r>
              <a:rPr lang="cs-CZ" sz="5400" dirty="0"/>
              <a:t>TABULKOVÝ KALKULÁTOR 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9238972-98AD-2B60-C14A-B1567545B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093130"/>
            <a:ext cx="4169664" cy="1155525"/>
          </a:xfrm>
        </p:spPr>
        <p:txBody>
          <a:bodyPr anchor="t">
            <a:normAutofit/>
          </a:bodyPr>
          <a:lstStyle/>
          <a:p>
            <a:pPr algn="l"/>
            <a:r>
              <a:rPr lang="cs-CZ" sz="2000"/>
              <a:t>Adam Munduch a Matěj Vojna</a:t>
            </a:r>
          </a:p>
        </p:txBody>
      </p:sp>
    </p:spTree>
    <p:extLst>
      <p:ext uri="{BB962C8B-B14F-4D97-AF65-F5344CB8AC3E}">
        <p14:creationId xmlns:p14="http://schemas.microsoft.com/office/powerpoint/2010/main" val="114683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D7179B-FF7C-482F-B3D9-2BE9ED113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10300" cy="6858000"/>
          </a:xfrm>
          <a:custGeom>
            <a:avLst/>
            <a:gdLst>
              <a:gd name="connsiteX0" fmla="*/ 0 w 6210300"/>
              <a:gd name="connsiteY0" fmla="*/ 0 h 6858000"/>
              <a:gd name="connsiteX1" fmla="*/ 2628900 w 6210300"/>
              <a:gd name="connsiteY1" fmla="*/ 0 h 6858000"/>
              <a:gd name="connsiteX2" fmla="*/ 3034146 w 6210300"/>
              <a:gd name="connsiteY2" fmla="*/ 0 h 6858000"/>
              <a:gd name="connsiteX3" fmla="*/ 6210300 w 6210300"/>
              <a:gd name="connsiteY3" fmla="*/ 6858000 h 6858000"/>
              <a:gd name="connsiteX4" fmla="*/ 2628900 w 6210300"/>
              <a:gd name="connsiteY4" fmla="*/ 6858000 h 6858000"/>
              <a:gd name="connsiteX5" fmla="*/ 0 w 62103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10300" h="6858000">
                <a:moveTo>
                  <a:pt x="0" y="0"/>
                </a:moveTo>
                <a:lnTo>
                  <a:pt x="2628900" y="0"/>
                </a:lnTo>
                <a:lnTo>
                  <a:pt x="3034146" y="0"/>
                </a:lnTo>
                <a:lnTo>
                  <a:pt x="6210300" y="6858000"/>
                </a:lnTo>
                <a:lnTo>
                  <a:pt x="2628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0EE639C-6F24-DC70-087C-585B7F6E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3973667" cy="5811837"/>
          </a:xfrm>
        </p:spPr>
        <p:txBody>
          <a:bodyPr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Tabulkový kalkulátor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7909BD-5F6A-9518-7BAD-033DF659F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927" y="365125"/>
            <a:ext cx="5996871" cy="5811837"/>
          </a:xfrm>
        </p:spPr>
        <p:txBody>
          <a:bodyPr anchor="ctr">
            <a:normAutofit/>
          </a:bodyPr>
          <a:lstStyle/>
          <a:p>
            <a:r>
              <a:rPr lang="cs-CZ" sz="2500" dirty="0">
                <a:solidFill>
                  <a:srgbClr val="FFFFFF"/>
                </a:solidFill>
              </a:rPr>
              <a:t>Program sloužící k matematickým operacím s číselnými údaji</a:t>
            </a:r>
          </a:p>
          <a:p>
            <a:r>
              <a:rPr lang="cs-CZ" sz="2500" b="0" i="0" dirty="0">
                <a:effectLst/>
              </a:rPr>
              <a:t>Síla tabulkových procesorů spočívá v tom, že lidé se lépe orientují v prostorových vazbách</a:t>
            </a:r>
            <a:endParaRPr lang="cs-CZ" sz="2500" dirty="0"/>
          </a:p>
          <a:p>
            <a:r>
              <a:rPr lang="cs-CZ" sz="2500" dirty="0">
                <a:solidFill>
                  <a:srgbClr val="FFFFFF"/>
                </a:solidFill>
              </a:rPr>
              <a:t>Soubor se označuje jako sešit</a:t>
            </a:r>
          </a:p>
          <a:p>
            <a:r>
              <a:rPr lang="cs-CZ" sz="2500" dirty="0">
                <a:solidFill>
                  <a:srgbClr val="FFFFFF"/>
                </a:solidFill>
              </a:rPr>
              <a:t>Sešit se skládá z listů</a:t>
            </a:r>
          </a:p>
          <a:p>
            <a:r>
              <a:rPr lang="cs-CZ" sz="2500" dirty="0">
                <a:solidFill>
                  <a:srgbClr val="FFFFFF"/>
                </a:solidFill>
              </a:rPr>
              <a:t>Listy obsahují tabulky, grafy, obrázky a texty</a:t>
            </a:r>
          </a:p>
          <a:p>
            <a:r>
              <a:rPr lang="cs-CZ" sz="2500" dirty="0">
                <a:solidFill>
                  <a:srgbClr val="FFFFFF"/>
                </a:solidFill>
              </a:rPr>
              <a:t>Řádky se označují čísly, sloupce písmeny</a:t>
            </a:r>
          </a:p>
        </p:txBody>
      </p:sp>
    </p:spTree>
    <p:extLst>
      <p:ext uri="{BB962C8B-B14F-4D97-AF65-F5344CB8AC3E}">
        <p14:creationId xmlns:p14="http://schemas.microsoft.com/office/powerpoint/2010/main" val="3006851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EAD7E7-B089-AF0B-8A07-EB6C0E89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Buňky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3C69E9-C93C-766F-796D-4474F4DB2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22601"/>
            <a:ext cx="10515598" cy="4154361"/>
          </a:xfrm>
        </p:spPr>
        <p:txBody>
          <a:bodyPr>
            <a:normAutofit/>
          </a:bodyPr>
          <a:lstStyle/>
          <a:p>
            <a:r>
              <a:rPr lang="cs-CZ" sz="3000" dirty="0">
                <a:solidFill>
                  <a:srgbClr val="FFFFFF"/>
                </a:solidFill>
              </a:rPr>
              <a:t>Průsečík řádku a sloupce je buňka</a:t>
            </a:r>
          </a:p>
          <a:p>
            <a:r>
              <a:rPr lang="cs-CZ" sz="3000" dirty="0">
                <a:solidFill>
                  <a:srgbClr val="FFFFFF"/>
                </a:solidFill>
              </a:rPr>
              <a:t>Sloupec se vybírá kliknutím na písmeno, řádek potom kliknutím na číslo</a:t>
            </a:r>
          </a:p>
          <a:p>
            <a:r>
              <a:rPr lang="cs-CZ" sz="3000" dirty="0">
                <a:solidFill>
                  <a:srgbClr val="FFFFFF"/>
                </a:solidFill>
              </a:rPr>
              <a:t>Poslední buňka v dolním rohu má adresu XFD1048576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Formáty buněk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	- Vyvolává se kliknutím pravého tlačítka na buňku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	Karty buněk – číslo, zarovnání, písmo, ohraničení, výplň</a:t>
            </a:r>
          </a:p>
        </p:txBody>
      </p:sp>
    </p:spTree>
    <p:extLst>
      <p:ext uri="{BB962C8B-B14F-4D97-AF65-F5344CB8AC3E}">
        <p14:creationId xmlns:p14="http://schemas.microsoft.com/office/powerpoint/2010/main" val="1780726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8C86C9-94A4-2BC9-90FF-9DDB519D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22515"/>
            <a:ext cx="10515598" cy="56544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6000" dirty="0">
                <a:solidFill>
                  <a:srgbClr val="FFFFFF"/>
                </a:solidFill>
                <a:latin typeface="+mj-lt"/>
              </a:rPr>
              <a:t>Vzorce</a:t>
            </a:r>
          </a:p>
          <a:p>
            <a:r>
              <a:rPr lang="cs-CZ" sz="3000" dirty="0">
                <a:solidFill>
                  <a:srgbClr val="FFFFFF"/>
                </a:solidFill>
              </a:rPr>
              <a:t>Na začátku musí být znak rovnítka</a:t>
            </a:r>
          </a:p>
          <a:p>
            <a:r>
              <a:rPr lang="cs-CZ" sz="3000" dirty="0">
                <a:solidFill>
                  <a:srgbClr val="FFFFFF"/>
                </a:solidFill>
              </a:rPr>
              <a:t>Zobrazuje se v poli vzorců</a:t>
            </a:r>
          </a:p>
          <a:p>
            <a:r>
              <a:rPr lang="cs-CZ" sz="3000" dirty="0">
                <a:solidFill>
                  <a:srgbClr val="FFFFFF"/>
                </a:solidFill>
              </a:rPr>
              <a:t>Excel zobrazuje v buňce jenom výsledek a v poli vzorců vzorec</a:t>
            </a:r>
          </a:p>
          <a:p>
            <a:pPr marL="0" indent="0">
              <a:buNone/>
            </a:pPr>
            <a:r>
              <a:rPr lang="cs-CZ" sz="6000" dirty="0">
                <a:solidFill>
                  <a:srgbClr val="FFFFFF"/>
                </a:solidFill>
                <a:latin typeface="+mj-lt"/>
              </a:rPr>
              <a:t>Vzhled stránky</a:t>
            </a:r>
          </a:p>
          <a:p>
            <a:r>
              <a:rPr lang="cs-CZ" sz="3000" dirty="0">
                <a:solidFill>
                  <a:srgbClr val="FFFFFF"/>
                </a:solidFill>
              </a:rPr>
              <a:t>Nachází se v pásu karet Rozložení stránky v sekci Vzhled stránky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Možnosti nastavení: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	- Okraje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	- Orientace</a:t>
            </a:r>
          </a:p>
          <a:p>
            <a:pPr marL="0" indent="0">
              <a:buNone/>
            </a:pPr>
            <a:r>
              <a:rPr lang="cs-CZ" sz="3000" dirty="0">
                <a:solidFill>
                  <a:srgbClr val="FFFFFF"/>
                </a:solidFill>
              </a:rPr>
              <a:t>	-Velikost</a:t>
            </a:r>
          </a:p>
        </p:txBody>
      </p:sp>
    </p:spTree>
    <p:extLst>
      <p:ext uri="{BB962C8B-B14F-4D97-AF65-F5344CB8AC3E}">
        <p14:creationId xmlns:p14="http://schemas.microsoft.com/office/powerpoint/2010/main" val="73846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1FC7B4-E4A7-4452-B413-1A623E3A7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E0709AF0-24F0-4486-B189-BE6386BD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FBE3B62F-5853-4A3C-B050-6186351A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13EE50E-D3B6-D611-93FA-49F02346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59484"/>
            <a:ext cx="10520702" cy="1325563"/>
          </a:xfrm>
        </p:spPr>
        <p:txBody>
          <a:bodyPr>
            <a:normAutofit/>
          </a:bodyPr>
          <a:lstStyle/>
          <a:p>
            <a:r>
              <a:rPr lang="cs-CZ" sz="6000" dirty="0"/>
              <a:t>Grafy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FA6951-E16D-0105-342B-EFF00F82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575"/>
            <a:ext cx="4936067" cy="49263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000" dirty="0"/>
              <a:t>Skládají se z dat v listu a samotného grafu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000" dirty="0"/>
              <a:t>Mohou to být textová pole, automatické tvary, obrázky apod.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cs-C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Oblast grafu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Znázorňovaná oblast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Datové body v datové řadě, které jsou graficky znázorněny v grafu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Vodorovná (kategorie) a svislá (hodnota) osa, podél které jsou data graficky znázorněna v grafu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Legenda grafu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Název grafu a osy, které lze použít v grafu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Popisek dat, který lze použít k identifikaci detailů datového bodu v datové řadě</a:t>
            </a:r>
          </a:p>
        </p:txBody>
      </p:sp>
      <p:pic>
        <p:nvPicPr>
          <p:cNvPr id="4" name="obrázek 1">
            <a:extLst>
              <a:ext uri="{FF2B5EF4-FFF2-40B4-BE49-F238E27FC236}">
                <a16:creationId xmlns:a16="http://schemas.microsoft.com/office/drawing/2014/main" id="{2CB47690-BBF8-D581-A575-8455F83AAF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417734" y="2275553"/>
            <a:ext cx="4935970" cy="38176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4702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D928DD85-BB99-450D-A702-2683E029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240E5BD2-4019-4012-A1AA-628900E65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BEB3C67-3BC2-70B2-83D4-7F2C5BCB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702" y="-591055"/>
            <a:ext cx="3879232" cy="22481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0" b="1" dirty="0"/>
              <a:t>Software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0FBF72E-1997-0A2C-D9AD-5F965DDC6DCB}"/>
              </a:ext>
            </a:extLst>
          </p:cNvPr>
          <p:cNvSpPr txBox="1"/>
          <p:nvPr/>
        </p:nvSpPr>
        <p:spPr>
          <a:xfrm>
            <a:off x="514729" y="1988669"/>
            <a:ext cx="4924324" cy="11555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noProof="1">
                <a:latin typeface="+mj-lt"/>
              </a:rPr>
              <a:t>Dříve používaný software: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500" noProof="1"/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000" noProof="1"/>
              <a:t>SuperPlan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000" noProof="1"/>
              <a:t>MultiCalc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000" noProof="1"/>
              <a:t>VisiCalc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DC73265-6E4C-1397-D57E-4B0976F42E57}"/>
              </a:ext>
            </a:extLst>
          </p:cNvPr>
          <p:cNvSpPr txBox="1"/>
          <p:nvPr/>
        </p:nvSpPr>
        <p:spPr>
          <a:xfrm>
            <a:off x="7310902" y="1988669"/>
            <a:ext cx="4742327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s-CZ" sz="3000" dirty="0">
                <a:latin typeface="+mj-lt"/>
              </a:rPr>
              <a:t>Aktuální software:</a:t>
            </a:r>
          </a:p>
          <a:p>
            <a:pPr>
              <a:spcAft>
                <a:spcPts val="600"/>
              </a:spcAft>
            </a:pPr>
            <a:endParaRPr lang="cs-CZ" sz="3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cs-CZ" sz="3000" noProof="1"/>
              <a:t>Microsoft Excel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cs-CZ" sz="3000" noProof="1"/>
              <a:t>OpenOffice Calc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cs-CZ" sz="3000" noProof="1"/>
              <a:t>LibreOffice Calc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cs-CZ" sz="3000" noProof="1"/>
              <a:t>Google Tabulky</a:t>
            </a:r>
          </a:p>
        </p:txBody>
      </p:sp>
    </p:spTree>
    <p:extLst>
      <p:ext uri="{BB962C8B-B14F-4D97-AF65-F5344CB8AC3E}">
        <p14:creationId xmlns:p14="http://schemas.microsoft.com/office/powerpoint/2010/main" val="3822501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D5210BB-23C0-90A5-BA70-21574423B642}"/>
              </a:ext>
            </a:extLst>
          </p:cNvPr>
          <p:cNvSpPr txBox="1"/>
          <p:nvPr/>
        </p:nvSpPr>
        <p:spPr>
          <a:xfrm>
            <a:off x="609600" y="190500"/>
            <a:ext cx="2276624" cy="13006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noProof="1">
                <a:latin typeface="+mj-lt"/>
                <a:ea typeface="+mj-ea"/>
                <a:cs typeface="+mj-cs"/>
              </a:rPr>
              <a:t>Zdroje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4FE384C-61EA-007F-730A-17F821F378FF}"/>
              </a:ext>
            </a:extLst>
          </p:cNvPr>
          <p:cNvSpPr txBox="1"/>
          <p:nvPr/>
        </p:nvSpPr>
        <p:spPr>
          <a:xfrm>
            <a:off x="609600" y="2370048"/>
            <a:ext cx="11430000" cy="1804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500" noProof="1">
                <a:hlinkClick r:id="rId3"/>
              </a:rPr>
              <a:t>https://cs.wikipedia.org/wiki/Tabulkov%C3%BD_procesor</a:t>
            </a:r>
            <a:endParaRPr lang="en-US" sz="2500" noProof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500" noProof="1"/>
              <a:t>Vlastní poznámky</a:t>
            </a:r>
            <a:endParaRPr lang="cs-CZ" sz="2500" noProof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500" noProof="1">
                <a:hlinkClick r:id="rId4"/>
              </a:rPr>
              <a:t>https://dbcsx3kp2k1lc.cloudfront.net/files/5b/5b3ece41-2614-4e75-ae5e-6144949b16d2.webp?v=20221012091532</a:t>
            </a:r>
            <a:endParaRPr lang="en-US" sz="2500" noProof="1"/>
          </a:p>
        </p:txBody>
      </p:sp>
    </p:spTree>
    <p:extLst>
      <p:ext uri="{BB962C8B-B14F-4D97-AF65-F5344CB8AC3E}">
        <p14:creationId xmlns:p14="http://schemas.microsoft.com/office/powerpoint/2010/main" val="27965470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300</Words>
  <Application>Microsoft Office PowerPoint</Application>
  <PresentationFormat>Širokoúhlá obrazovka</PresentationFormat>
  <Paragraphs>54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Motiv Office</vt:lpstr>
      <vt:lpstr>TABULKOVÝ KALKULÁTOR I.</vt:lpstr>
      <vt:lpstr>Tabulkový kalkulátor</vt:lpstr>
      <vt:lpstr>Buňky</vt:lpstr>
      <vt:lpstr>Prezentace aplikace PowerPoint</vt:lpstr>
      <vt:lpstr>Grafy</vt:lpstr>
      <vt:lpstr>Software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TABULKOVÝ KALKULÁTOR I.</dc:title>
  <dc:creator>Munduch Adam</dc:creator>
  <cp:lastModifiedBy>Munduch Adam</cp:lastModifiedBy>
  <cp:revision>1</cp:revision>
  <dcterms:created xsi:type="dcterms:W3CDTF">2023-01-22T16:48:33Z</dcterms:created>
  <dcterms:modified xsi:type="dcterms:W3CDTF">2023-01-22T17:51:51Z</dcterms:modified>
</cp:coreProperties>
</file>