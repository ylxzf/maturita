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2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5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72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2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9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4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0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6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0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553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233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85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00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2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374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Tabulkový kalkulátor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Klíčové pojmy a funkce tabulkových procesorů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C47521D1-5731-3182-A035-C01F2BE2EE46}"/>
              </a:ext>
            </a:extLst>
          </p:cNvPr>
          <p:cNvSpPr txBox="1"/>
          <p:nvPr/>
        </p:nvSpPr>
        <p:spPr>
          <a:xfrm>
            <a:off x="2324100" y="5086866"/>
            <a:ext cx="449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600" dirty="0"/>
              <a:t>Daniel Brychta, Matyáš Adam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Používaný</a:t>
            </a:r>
            <a:r>
              <a:rPr dirty="0"/>
              <a:t>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Microsoft Excel</a:t>
            </a:r>
          </a:p>
          <a:p>
            <a:r>
              <a:rPr dirty="0"/>
              <a:t>Google Sheets</a:t>
            </a:r>
          </a:p>
          <a:p>
            <a:r>
              <a:rPr dirty="0"/>
              <a:t>LibreOffice Calc</a:t>
            </a:r>
          </a:p>
          <a:p>
            <a:r>
              <a:rPr dirty="0"/>
              <a:t>Numbers (Apple)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Tyto </a:t>
            </a:r>
            <a:r>
              <a:rPr dirty="0" err="1"/>
              <a:t>nástroje</a:t>
            </a:r>
            <a:r>
              <a:rPr dirty="0"/>
              <a:t> </a:t>
            </a:r>
            <a:r>
              <a:rPr dirty="0" err="1"/>
              <a:t>umožňují</a:t>
            </a:r>
            <a:r>
              <a:rPr dirty="0"/>
              <a:t> </a:t>
            </a:r>
            <a:r>
              <a:rPr dirty="0" err="1"/>
              <a:t>práci</a:t>
            </a:r>
            <a:r>
              <a:rPr dirty="0"/>
              <a:t> s </a:t>
            </a:r>
            <a:r>
              <a:rPr dirty="0" err="1"/>
              <a:t>tabulkami</a:t>
            </a:r>
            <a:r>
              <a:rPr dirty="0"/>
              <a:t>, </a:t>
            </a:r>
            <a:r>
              <a:rPr dirty="0" err="1"/>
              <a:t>analýzu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 a </a:t>
            </a:r>
            <a:r>
              <a:rPr dirty="0" err="1"/>
              <a:t>tvorbu</a:t>
            </a:r>
            <a:r>
              <a:rPr dirty="0"/>
              <a:t> </a:t>
            </a:r>
            <a:r>
              <a:rPr dirty="0" err="1"/>
              <a:t>grafů</a:t>
            </a:r>
            <a:r>
              <a:rPr dirty="0"/>
              <a:t>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0E1AE09-1D63-4182-B39C-6720FBD1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688" y="2327910"/>
            <a:ext cx="1325944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91EA5A-0146-174E-9D2C-804CD3AB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sz="4000" dirty="0">
                <a:solidFill>
                  <a:srgbClr val="FFFFFF"/>
                </a:solidFill>
              </a:rPr>
              <a:t>Tabulkový kalkulátor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1FB251-C8A5-F864-1907-D2EE9654E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>
                <a:solidFill>
                  <a:srgbClr val="FFFFFF"/>
                </a:solidFill>
              </a:rPr>
              <a:t>Program sloužící k matematickým operacím s číselnými údaji</a:t>
            </a:r>
          </a:p>
          <a:p>
            <a:r>
              <a:rPr lang="cs-CZ" sz="2400" dirty="0">
                <a:solidFill>
                  <a:srgbClr val="FFFFFF"/>
                </a:solidFill>
              </a:rPr>
              <a:t>Soubor se označuje jako sešit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4068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Sešit</a:t>
            </a:r>
            <a:r>
              <a:rPr dirty="0"/>
              <a:t>, list, </a:t>
            </a:r>
            <a:r>
              <a:rPr dirty="0" err="1"/>
              <a:t>výběr</a:t>
            </a:r>
            <a:r>
              <a:rPr dirty="0"/>
              <a:t> </a:t>
            </a:r>
            <a:r>
              <a:rPr dirty="0" err="1"/>
              <a:t>buněk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Sešit</a:t>
            </a:r>
            <a:r>
              <a:rPr dirty="0"/>
              <a:t> </a:t>
            </a:r>
            <a:r>
              <a:rPr dirty="0" err="1"/>
              <a:t>obsahuje</a:t>
            </a:r>
            <a:r>
              <a:rPr dirty="0"/>
              <a:t> </a:t>
            </a:r>
            <a:r>
              <a:rPr dirty="0" err="1"/>
              <a:t>více</a:t>
            </a:r>
            <a:r>
              <a:rPr dirty="0"/>
              <a:t> </a:t>
            </a:r>
            <a:r>
              <a:rPr dirty="0" err="1"/>
              <a:t>listů</a:t>
            </a:r>
            <a:endParaRPr dirty="0"/>
          </a:p>
          <a:p>
            <a:r>
              <a:rPr dirty="0"/>
              <a:t>List je </a:t>
            </a:r>
            <a:r>
              <a:rPr dirty="0" err="1"/>
              <a:t>pracovní</a:t>
            </a:r>
            <a:r>
              <a:rPr dirty="0"/>
              <a:t> </a:t>
            </a:r>
            <a:r>
              <a:rPr dirty="0" err="1"/>
              <a:t>plocha</a:t>
            </a:r>
            <a:r>
              <a:rPr dirty="0"/>
              <a:t> s </a:t>
            </a:r>
            <a:r>
              <a:rPr dirty="0" err="1"/>
              <a:t>tabulkou</a:t>
            </a:r>
            <a:endParaRPr dirty="0"/>
          </a:p>
          <a:p>
            <a:r>
              <a:rPr dirty="0"/>
              <a:t>Bu</a:t>
            </a:r>
            <a:r>
              <a:rPr lang="cs-CZ" dirty="0" err="1"/>
              <a:t>ňky</a:t>
            </a:r>
            <a:r>
              <a:rPr lang="cs-CZ" dirty="0"/>
              <a:t> lze vybírat jednotlivě nebo ve skupinách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0449CA8F-76D4-4A33-8699-DBA343A0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36" y="4229100"/>
            <a:ext cx="3633327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Sloupce</a:t>
            </a:r>
            <a:r>
              <a:rPr dirty="0"/>
              <a:t> a </a:t>
            </a:r>
            <a:r>
              <a:rPr dirty="0" err="1"/>
              <a:t>řádky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Sloupce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označeny</a:t>
            </a:r>
            <a:r>
              <a:rPr dirty="0"/>
              <a:t> </a:t>
            </a:r>
            <a:r>
              <a:rPr dirty="0" err="1"/>
              <a:t>písmeny</a:t>
            </a:r>
            <a:r>
              <a:rPr dirty="0"/>
              <a:t> (A, B, C...)</a:t>
            </a:r>
          </a:p>
          <a:p>
            <a:r>
              <a:rPr dirty="0" err="1"/>
              <a:t>Řádky</a:t>
            </a:r>
            <a:r>
              <a:rPr dirty="0"/>
              <a:t> </a:t>
            </a:r>
            <a:r>
              <a:rPr dirty="0" err="1"/>
              <a:t>jsou</a:t>
            </a:r>
            <a:r>
              <a:rPr dirty="0"/>
              <a:t> </a:t>
            </a:r>
            <a:r>
              <a:rPr dirty="0" err="1"/>
              <a:t>označeny</a:t>
            </a:r>
            <a:r>
              <a:rPr dirty="0"/>
              <a:t> </a:t>
            </a:r>
            <a:r>
              <a:rPr dirty="0" err="1"/>
              <a:t>čísly</a:t>
            </a:r>
            <a:r>
              <a:rPr dirty="0"/>
              <a:t> (1, 2, 3...)</a:t>
            </a:r>
          </a:p>
          <a:p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kombinace</a:t>
            </a:r>
            <a:r>
              <a:rPr dirty="0"/>
              <a:t> </a:t>
            </a:r>
            <a:r>
              <a:rPr dirty="0" err="1"/>
              <a:t>tvoří</a:t>
            </a:r>
            <a:r>
              <a:rPr dirty="0"/>
              <a:t> </a:t>
            </a:r>
            <a:r>
              <a:rPr dirty="0" err="1"/>
              <a:t>adresu</a:t>
            </a:r>
            <a:r>
              <a:rPr dirty="0"/>
              <a:t> </a:t>
            </a:r>
            <a:r>
              <a:rPr dirty="0" err="1"/>
              <a:t>buňky</a:t>
            </a:r>
            <a:r>
              <a:rPr dirty="0"/>
              <a:t> (</a:t>
            </a:r>
            <a:r>
              <a:rPr dirty="0" err="1"/>
              <a:t>např</a:t>
            </a:r>
            <a:r>
              <a:rPr dirty="0"/>
              <a:t>. B2)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0396C4E-97ED-4783-95F1-061DDB55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36" y="4229100"/>
            <a:ext cx="3633327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Formát</a:t>
            </a:r>
            <a:r>
              <a:rPr dirty="0"/>
              <a:t> </a:t>
            </a:r>
            <a:r>
              <a:rPr dirty="0" err="1"/>
              <a:t>buňky</a:t>
            </a:r>
            <a:r>
              <a:rPr dirty="0"/>
              <a:t> a </a:t>
            </a:r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formát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Možnosti</a:t>
            </a:r>
            <a:r>
              <a:rPr dirty="0"/>
              <a:t> </a:t>
            </a:r>
            <a:r>
              <a:rPr dirty="0" err="1"/>
              <a:t>formátování</a:t>
            </a:r>
            <a:r>
              <a:rPr dirty="0"/>
              <a:t>: </a:t>
            </a:r>
            <a:r>
              <a:rPr dirty="0" err="1"/>
              <a:t>čísla</a:t>
            </a:r>
            <a:r>
              <a:rPr dirty="0"/>
              <a:t>, text, </a:t>
            </a:r>
            <a:r>
              <a:rPr dirty="0" err="1"/>
              <a:t>měna</a:t>
            </a:r>
            <a:r>
              <a:rPr dirty="0"/>
              <a:t>, datum</a:t>
            </a:r>
          </a:p>
          <a:p>
            <a:r>
              <a:rPr dirty="0" err="1"/>
              <a:t>Vlastní</a:t>
            </a:r>
            <a:r>
              <a:rPr dirty="0"/>
              <a:t> </a:t>
            </a:r>
            <a:r>
              <a:rPr dirty="0" err="1"/>
              <a:t>formát</a:t>
            </a:r>
            <a:r>
              <a:rPr dirty="0"/>
              <a:t> </a:t>
            </a:r>
            <a:r>
              <a:rPr dirty="0" err="1"/>
              <a:t>umožňuje</a:t>
            </a:r>
            <a:r>
              <a:rPr dirty="0"/>
              <a:t> </a:t>
            </a:r>
            <a:r>
              <a:rPr dirty="0" err="1"/>
              <a:t>specifická</a:t>
            </a:r>
            <a:r>
              <a:rPr dirty="0"/>
              <a:t> </a:t>
            </a:r>
            <a:r>
              <a:rPr dirty="0" err="1"/>
              <a:t>nastavení</a:t>
            </a:r>
            <a:endParaRPr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4734D85-0BA6-4114-9902-B5410AF55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579" y="3800475"/>
            <a:ext cx="4348841" cy="1790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Vzorce</a:t>
            </a:r>
            <a:r>
              <a:rPr dirty="0"/>
              <a:t> a </a:t>
            </a:r>
            <a:r>
              <a:rPr dirty="0" err="1"/>
              <a:t>jejich</a:t>
            </a:r>
            <a:r>
              <a:rPr dirty="0"/>
              <a:t> </a:t>
            </a:r>
            <a:r>
              <a:rPr dirty="0" err="1"/>
              <a:t>rozšiřování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Vzorce</a:t>
            </a:r>
            <a:r>
              <a:rPr dirty="0"/>
              <a:t> se </a:t>
            </a:r>
            <a:r>
              <a:rPr dirty="0" err="1"/>
              <a:t>zadávají</a:t>
            </a:r>
            <a:r>
              <a:rPr dirty="0"/>
              <a:t> </a:t>
            </a:r>
            <a:r>
              <a:rPr dirty="0" err="1"/>
              <a:t>pomocí</a:t>
            </a:r>
            <a:r>
              <a:rPr dirty="0"/>
              <a:t> '='</a:t>
            </a:r>
            <a:endParaRPr lang="cs-CZ" dirty="0"/>
          </a:p>
          <a:p>
            <a:r>
              <a:rPr lang="cs-CZ" sz="2400" dirty="0">
                <a:solidFill>
                  <a:srgbClr val="FFFFFF"/>
                </a:solidFill>
              </a:rPr>
              <a:t>Excel zobrazuje v buňce jenom výsledek a v poli vzorců vzorec</a:t>
            </a:r>
          </a:p>
          <a:p>
            <a:endParaRPr dirty="0"/>
          </a:p>
          <a:p>
            <a:r>
              <a:rPr dirty="0" err="1"/>
              <a:t>Automatické</a:t>
            </a:r>
            <a:r>
              <a:rPr dirty="0"/>
              <a:t> </a:t>
            </a:r>
            <a:r>
              <a:rPr dirty="0" err="1"/>
              <a:t>rozšiřování</a:t>
            </a:r>
            <a:r>
              <a:rPr dirty="0"/>
              <a:t> </a:t>
            </a:r>
            <a:r>
              <a:rPr dirty="0" err="1"/>
              <a:t>vzorců</a:t>
            </a:r>
            <a:r>
              <a:rPr dirty="0"/>
              <a:t> </a:t>
            </a:r>
            <a:r>
              <a:rPr dirty="0" err="1"/>
              <a:t>pomocí</a:t>
            </a:r>
            <a:r>
              <a:rPr dirty="0"/>
              <a:t> </a:t>
            </a:r>
            <a:r>
              <a:rPr dirty="0" err="1"/>
              <a:t>uchopení</a:t>
            </a:r>
            <a:r>
              <a:rPr dirty="0"/>
              <a:t> rohu </a:t>
            </a:r>
            <a:r>
              <a:rPr dirty="0" err="1"/>
              <a:t>buňky</a:t>
            </a:r>
            <a:endParaRPr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88A51EC7-0769-4326-81EC-24D22EE5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335" y="4591906"/>
            <a:ext cx="4473329" cy="16717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Adresování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Relativní</a:t>
            </a:r>
            <a:r>
              <a:rPr dirty="0"/>
              <a:t> </a:t>
            </a:r>
            <a:r>
              <a:rPr dirty="0" err="1"/>
              <a:t>adresy</a:t>
            </a:r>
            <a:r>
              <a:rPr dirty="0"/>
              <a:t>: A1 (</a:t>
            </a:r>
            <a:r>
              <a:rPr dirty="0" err="1"/>
              <a:t>mění</a:t>
            </a:r>
            <a:r>
              <a:rPr dirty="0"/>
              <a:t> se </a:t>
            </a:r>
            <a:r>
              <a:rPr dirty="0" err="1"/>
              <a:t>při</a:t>
            </a:r>
            <a:r>
              <a:rPr dirty="0"/>
              <a:t> </a:t>
            </a:r>
            <a:r>
              <a:rPr dirty="0" err="1"/>
              <a:t>kopírování</a:t>
            </a:r>
            <a:r>
              <a:rPr dirty="0"/>
              <a:t>)</a:t>
            </a:r>
          </a:p>
          <a:p>
            <a:r>
              <a:rPr dirty="0" err="1"/>
              <a:t>Absolutní</a:t>
            </a:r>
            <a:r>
              <a:rPr dirty="0"/>
              <a:t> </a:t>
            </a:r>
            <a:r>
              <a:rPr dirty="0" err="1"/>
              <a:t>adresy</a:t>
            </a:r>
            <a:r>
              <a:rPr dirty="0"/>
              <a:t>: $A$1 (</a:t>
            </a:r>
            <a:r>
              <a:rPr dirty="0" err="1"/>
              <a:t>nemění</a:t>
            </a:r>
            <a:r>
              <a:rPr dirty="0"/>
              <a:t> se </a:t>
            </a:r>
            <a:r>
              <a:rPr dirty="0" err="1"/>
              <a:t>při</a:t>
            </a:r>
            <a:r>
              <a:rPr dirty="0"/>
              <a:t> </a:t>
            </a:r>
            <a:r>
              <a:rPr dirty="0" err="1"/>
              <a:t>kopírování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tisk</a:t>
            </a:r>
            <a:r>
              <a:rPr lang="cs-CZ" dirty="0"/>
              <a:t> a nastavení stránky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Definování</a:t>
            </a:r>
            <a:r>
              <a:rPr dirty="0"/>
              <a:t> </a:t>
            </a:r>
            <a:r>
              <a:rPr dirty="0" err="1"/>
              <a:t>oblasti</a:t>
            </a:r>
            <a:r>
              <a:rPr dirty="0"/>
              <a:t> </a:t>
            </a:r>
            <a:r>
              <a:rPr dirty="0" err="1"/>
              <a:t>tisku</a:t>
            </a:r>
            <a:endParaRPr lang="cs-CZ" dirty="0"/>
          </a:p>
          <a:p>
            <a:endParaRPr dirty="0"/>
          </a:p>
          <a:p>
            <a:r>
              <a:rPr dirty="0" err="1"/>
              <a:t>Nastavení</a:t>
            </a:r>
            <a:r>
              <a:rPr dirty="0"/>
              <a:t> </a:t>
            </a:r>
            <a:r>
              <a:rPr dirty="0" err="1"/>
              <a:t>stránky</a:t>
            </a:r>
            <a:endParaRPr lang="cs-CZ" dirty="0"/>
          </a:p>
          <a:p>
            <a:pPr lvl="1"/>
            <a:r>
              <a:rPr lang="cs-CZ" dirty="0"/>
              <a:t>Orientace (na výšku / na šířku)</a:t>
            </a:r>
          </a:p>
          <a:p>
            <a:pPr lvl="1"/>
            <a:r>
              <a:rPr lang="cs-CZ" dirty="0"/>
              <a:t>Okraje</a:t>
            </a:r>
          </a:p>
          <a:p>
            <a:pPr lvl="1"/>
            <a:r>
              <a:rPr lang="cs-CZ" dirty="0"/>
              <a:t>Velikost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Graf</a:t>
            </a:r>
            <a:r>
              <a:rPr lang="cs-CZ" dirty="0"/>
              <a:t>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/>
              <a:t>Skládají se z dat v listu</a:t>
            </a:r>
          </a:p>
          <a:p>
            <a:r>
              <a:rPr lang="cs-CZ" sz="2400" dirty="0"/>
              <a:t>Mohou to být textová pole, automatické tvary, obrázky apod</a:t>
            </a:r>
            <a:endParaRPr lang="cs-CZ" dirty="0"/>
          </a:p>
          <a:p>
            <a:r>
              <a:rPr dirty="0" err="1"/>
              <a:t>Sloupcové</a:t>
            </a:r>
            <a:r>
              <a:rPr dirty="0"/>
              <a:t>, </a:t>
            </a:r>
            <a:r>
              <a:rPr dirty="0" err="1"/>
              <a:t>spojnicové</a:t>
            </a:r>
            <a:r>
              <a:rPr dirty="0"/>
              <a:t>, </a:t>
            </a:r>
            <a:r>
              <a:rPr dirty="0" err="1"/>
              <a:t>koláčové</a:t>
            </a:r>
            <a:r>
              <a:rPr dirty="0"/>
              <a:t> </a:t>
            </a:r>
            <a:r>
              <a:rPr dirty="0" err="1"/>
              <a:t>grafy</a:t>
            </a:r>
            <a:endParaRPr dirty="0"/>
          </a:p>
          <a:p>
            <a:r>
              <a:rPr dirty="0" err="1"/>
              <a:t>Složitější</a:t>
            </a:r>
            <a:r>
              <a:rPr dirty="0"/>
              <a:t> </a:t>
            </a:r>
            <a:r>
              <a:rPr dirty="0" err="1"/>
              <a:t>grafy</a:t>
            </a:r>
            <a:r>
              <a:rPr dirty="0"/>
              <a:t>: </a:t>
            </a:r>
            <a:r>
              <a:rPr dirty="0" err="1"/>
              <a:t>kombinované</a:t>
            </a:r>
            <a:r>
              <a:rPr dirty="0"/>
              <a:t>, </a:t>
            </a:r>
            <a:r>
              <a:rPr dirty="0" err="1"/>
              <a:t>dynamické</a:t>
            </a:r>
            <a:r>
              <a:rPr dirty="0"/>
              <a:t>, </a:t>
            </a:r>
            <a:r>
              <a:rPr dirty="0" err="1"/>
              <a:t>interaktivní</a:t>
            </a:r>
            <a:endParaRPr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80BA06E-0A28-4321-A53B-0EC2C132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706" y="4737677"/>
            <a:ext cx="4474587" cy="16631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Použití</a:t>
            </a:r>
            <a:r>
              <a:rPr dirty="0"/>
              <a:t> </a:t>
            </a:r>
            <a:r>
              <a:rPr dirty="0" err="1"/>
              <a:t>funkcí</a:t>
            </a:r>
            <a:r>
              <a:rPr dirty="0"/>
              <a:t> a </a:t>
            </a:r>
            <a:r>
              <a:rPr dirty="0" err="1"/>
              <a:t>vnořené</a:t>
            </a:r>
            <a:r>
              <a:rPr dirty="0"/>
              <a:t> </a:t>
            </a:r>
            <a:r>
              <a:rPr dirty="0" err="1"/>
              <a:t>funkce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Druhy funkcí:</a:t>
            </a:r>
          </a:p>
          <a:p>
            <a:pPr lvl="1"/>
            <a:r>
              <a:rPr lang="cs-CZ" dirty="0"/>
              <a:t>Matematické (SUMA, SOUČIN, PRŮMĚR, MIN, MAX, POČET, ZAOKROUHLIT)</a:t>
            </a:r>
          </a:p>
          <a:p>
            <a:pPr lvl="1"/>
            <a:r>
              <a:rPr lang="cs-CZ" dirty="0"/>
              <a:t>Textové (CONCATENATE(spojuje řetězce znaků), VELKÁ(převede text na velká písmena))</a:t>
            </a:r>
          </a:p>
          <a:p>
            <a:pPr lvl="1"/>
            <a:r>
              <a:rPr lang="cs-CZ" dirty="0"/>
              <a:t>Vyhledávací (SVYHLEDAT)</a:t>
            </a:r>
          </a:p>
          <a:p>
            <a:pPr lvl="1"/>
            <a:r>
              <a:rPr lang="cs-CZ" dirty="0"/>
              <a:t>Informační (JE.TEXT)</a:t>
            </a:r>
          </a:p>
          <a:p>
            <a:pPr lvl="1"/>
            <a:r>
              <a:rPr lang="cs-CZ" dirty="0"/>
              <a:t>Logické (KDYŽ)</a:t>
            </a:r>
          </a:p>
          <a:p>
            <a:pPr lvl="1"/>
            <a:endParaRPr lang="cs-CZ" dirty="0"/>
          </a:p>
          <a:p>
            <a:r>
              <a:rPr lang="cs-CZ" dirty="0"/>
              <a:t>Vnořené funkce kombinují více funkcí dohromady</a:t>
            </a:r>
          </a:p>
          <a:p>
            <a:endParaRPr lang="cs-CZ" dirty="0"/>
          </a:p>
          <a:p>
            <a:endParaRPr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7C9EB2B-2367-489C-BA09-5732DDBC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50" y="5929293"/>
            <a:ext cx="5939099" cy="4143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Import </a:t>
            </a:r>
            <a:r>
              <a:rPr dirty="0" err="1"/>
              <a:t>dat</a:t>
            </a:r>
            <a:r>
              <a:rPr dirty="0"/>
              <a:t>, </a:t>
            </a:r>
            <a:r>
              <a:rPr dirty="0" err="1"/>
              <a:t>řazení</a:t>
            </a:r>
            <a:r>
              <a:rPr dirty="0"/>
              <a:t>, </a:t>
            </a:r>
            <a:r>
              <a:rPr dirty="0" err="1"/>
              <a:t>filtrování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Import z</a:t>
            </a:r>
            <a:r>
              <a:rPr lang="cs-CZ" dirty="0"/>
              <a:t> Webu,</a:t>
            </a:r>
            <a:r>
              <a:rPr dirty="0"/>
              <a:t> CSV, </a:t>
            </a:r>
            <a:r>
              <a:rPr dirty="0" err="1"/>
              <a:t>databází</a:t>
            </a:r>
            <a:r>
              <a:rPr dirty="0"/>
              <a:t>, API</a:t>
            </a:r>
          </a:p>
          <a:p>
            <a:r>
              <a:rPr dirty="0" err="1"/>
              <a:t>Řazení</a:t>
            </a:r>
            <a:r>
              <a:rPr dirty="0"/>
              <a:t> </a:t>
            </a:r>
            <a:r>
              <a:rPr dirty="0" err="1"/>
              <a:t>vzestupně</a:t>
            </a:r>
            <a:r>
              <a:rPr dirty="0"/>
              <a:t>/</a:t>
            </a:r>
            <a:r>
              <a:rPr dirty="0" err="1"/>
              <a:t>sestupně</a:t>
            </a:r>
            <a:endParaRPr lang="cs-CZ" dirty="0"/>
          </a:p>
          <a:p>
            <a:pPr lvl="1"/>
            <a:r>
              <a:rPr lang="cs-CZ" dirty="0"/>
              <a:t>Od A do Z</a:t>
            </a:r>
          </a:p>
          <a:p>
            <a:pPr lvl="1"/>
            <a:r>
              <a:rPr lang="cs-CZ" dirty="0"/>
              <a:t>Od nejmenší po největší</a:t>
            </a:r>
          </a:p>
          <a:p>
            <a:pPr lvl="1"/>
            <a:endParaRPr dirty="0"/>
          </a:p>
          <a:p>
            <a:r>
              <a:rPr dirty="0" err="1"/>
              <a:t>Filtrování</a:t>
            </a:r>
            <a:r>
              <a:rPr dirty="0"/>
              <a:t> </a:t>
            </a:r>
            <a:r>
              <a:rPr dirty="0" err="1"/>
              <a:t>podle</a:t>
            </a:r>
            <a:r>
              <a:rPr dirty="0"/>
              <a:t> </a:t>
            </a:r>
            <a:r>
              <a:rPr dirty="0" err="1"/>
              <a:t>kritérií</a:t>
            </a:r>
            <a:endParaRPr lang="cs-CZ" dirty="0"/>
          </a:p>
          <a:p>
            <a:pPr lvl="1"/>
            <a:r>
              <a:rPr lang="cs-CZ" dirty="0"/>
              <a:t>Filtrem je podmínka, kterou je testován každý řádek</a:t>
            </a:r>
          </a:p>
          <a:p>
            <a:pPr lvl="1"/>
            <a:r>
              <a:rPr lang="cs-CZ" dirty="0"/>
              <a:t>Vyhoví-li řádek podmínce, zůstane zobrazen, pokud podmínce nevyhoví, je skryt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Ověření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, </a:t>
            </a:r>
            <a:r>
              <a:rPr dirty="0" err="1"/>
              <a:t>souhrny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Ověření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 </a:t>
            </a:r>
            <a:r>
              <a:rPr dirty="0" err="1"/>
              <a:t>omezuje</a:t>
            </a:r>
            <a:r>
              <a:rPr dirty="0"/>
              <a:t> </a:t>
            </a:r>
            <a:r>
              <a:rPr dirty="0" err="1"/>
              <a:t>vstupy</a:t>
            </a:r>
            <a:endParaRPr lang="cs-CZ" dirty="0"/>
          </a:p>
          <a:p>
            <a:pPr lvl="1"/>
            <a:r>
              <a:rPr lang="cs-CZ" dirty="0"/>
              <a:t>Určité rozmezí čísel</a:t>
            </a:r>
          </a:p>
          <a:p>
            <a:pPr lvl="1"/>
            <a:r>
              <a:rPr lang="cs-CZ" dirty="0"/>
              <a:t>Kalendářní data mimo rozmezí</a:t>
            </a:r>
          </a:p>
          <a:p>
            <a:pPr lvl="1"/>
            <a:r>
              <a:rPr lang="cs-CZ" dirty="0"/>
              <a:t>Počet znaků textu</a:t>
            </a:r>
          </a:p>
          <a:p>
            <a:pPr lvl="1"/>
            <a:endParaRPr dirty="0"/>
          </a:p>
          <a:p>
            <a:r>
              <a:rPr dirty="0" err="1"/>
              <a:t>Souhrny</a:t>
            </a:r>
            <a:r>
              <a:rPr dirty="0"/>
              <a:t> </a:t>
            </a:r>
            <a:r>
              <a:rPr dirty="0" err="1"/>
              <a:t>umožňují</a:t>
            </a:r>
            <a:r>
              <a:rPr dirty="0"/>
              <a:t> </a:t>
            </a:r>
            <a:r>
              <a:rPr dirty="0" err="1"/>
              <a:t>rychlou</a:t>
            </a:r>
            <a:r>
              <a:rPr dirty="0"/>
              <a:t> </a:t>
            </a:r>
            <a:r>
              <a:rPr dirty="0" err="1"/>
              <a:t>agregaci</a:t>
            </a:r>
            <a:r>
              <a:rPr dirty="0"/>
              <a:t> </a:t>
            </a:r>
            <a:r>
              <a:rPr dirty="0" err="1"/>
              <a:t>dat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Kontingenční</a:t>
            </a:r>
            <a:r>
              <a:rPr dirty="0"/>
              <a:t> </a:t>
            </a:r>
            <a:r>
              <a:rPr dirty="0" err="1"/>
              <a:t>tabulka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Slouží k přehledné vizualizaci vzájemného vztahu dvou statistických znaků</a:t>
            </a:r>
          </a:p>
          <a:p>
            <a:r>
              <a:rPr dirty="0" err="1"/>
              <a:t>Slouží</a:t>
            </a:r>
            <a:r>
              <a:rPr dirty="0"/>
              <a:t> k </a:t>
            </a:r>
            <a:r>
              <a:rPr dirty="0" err="1"/>
              <a:t>analýze</a:t>
            </a:r>
            <a:r>
              <a:rPr dirty="0"/>
              <a:t> </a:t>
            </a:r>
            <a:r>
              <a:rPr dirty="0" err="1"/>
              <a:t>velkých</a:t>
            </a:r>
            <a:r>
              <a:rPr dirty="0"/>
              <a:t> </a:t>
            </a:r>
            <a:r>
              <a:rPr dirty="0" err="1"/>
              <a:t>datových</a:t>
            </a:r>
            <a:r>
              <a:rPr dirty="0"/>
              <a:t> sad</a:t>
            </a:r>
          </a:p>
          <a:p>
            <a:r>
              <a:rPr dirty="0" err="1"/>
              <a:t>Automatická</a:t>
            </a:r>
            <a:r>
              <a:rPr dirty="0"/>
              <a:t> </a:t>
            </a:r>
            <a:r>
              <a:rPr dirty="0" err="1"/>
              <a:t>sumarizace</a:t>
            </a:r>
            <a:r>
              <a:rPr dirty="0"/>
              <a:t> a </a:t>
            </a:r>
            <a:r>
              <a:rPr dirty="0" err="1"/>
              <a:t>seskupování</a:t>
            </a:r>
            <a:r>
              <a:rPr dirty="0"/>
              <a:t> </a:t>
            </a:r>
            <a:r>
              <a:rPr dirty="0" err="1"/>
              <a:t>dat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Shrnutí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Tabulkové procesory umožňují efektivní práci s daty, analýzu a vizualizaci.</a:t>
            </a:r>
          </a:p>
          <a:p>
            <a:r>
              <a:t>Používají se ve financích, vědě i každodenní administrativě.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FF3FE4-59BC-4D18-A28B-586B969E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8FE828-3BE3-45B7-850F-E5095A96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2194560"/>
            <a:ext cx="8074152" cy="4069080"/>
          </a:xfrm>
        </p:spPr>
        <p:txBody>
          <a:bodyPr>
            <a:normAutofit/>
          </a:bodyPr>
          <a:lstStyle/>
          <a:p>
            <a:r>
              <a:rPr lang="cs-CZ" dirty="0"/>
              <a:t>Všechno jsem si vymyslel </a:t>
            </a:r>
            <a:r>
              <a:rPr lang="cs-CZ" dirty="0">
                <a:sym typeface="Wingdings" panose="05000000000000000000" pitchFamily="2" charset="2"/>
              </a:rPr>
              <a:t></a:t>
            </a: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cs-CZ" dirty="0">
              <a:sym typeface="Wingdings" panose="05000000000000000000" pitchFamily="2" charset="2"/>
            </a:endParaRPr>
          </a:p>
          <a:p>
            <a:r>
              <a:rPr lang="cs-CZ" dirty="0">
                <a:sym typeface="Wingdings" panose="05000000000000000000" pitchFamily="2" charset="2"/>
              </a:rPr>
              <a:t>https://cs.wikipedia.org/wiki/Tabulkov%C3%BD_procesor</a:t>
            </a: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dirty="0">
              <a:sym typeface="Wingdings" panose="05000000000000000000" pitchFamily="2" charset="2"/>
            </a:endParaRPr>
          </a:p>
          <a:p>
            <a:endParaRPr lang="cs-CZ" sz="800" dirty="0">
              <a:sym typeface="Wingdings" panose="05000000000000000000" pitchFamily="2" charset="2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995B817-EDBC-44AD-B109-D911315AA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31" y="2871787"/>
            <a:ext cx="5722144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24721"/>
      </p:ext>
    </p:extLst>
  </p:cSld>
  <p:clrMapOvr>
    <a:masterClrMapping/>
  </p:clrMapOvr>
</p:sld>
</file>

<file path=ppt/theme/theme1.xml><?xml version="1.0" encoding="utf-8"?>
<a:theme xmlns:a="http://schemas.openxmlformats.org/drawingml/2006/main" name="Kondenzační stopa">
  <a:themeElements>
    <a:clrScheme name="Kondenzační stopa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Kondenzační stop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denzační stop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TM04033937[[fn=Kondenzační stopa]]</Template>
  <TotalTime>62</TotalTime>
  <Words>438</Words>
  <Application>Microsoft Office PowerPoint</Application>
  <PresentationFormat>Předvádění na obrazovce (4:3)</PresentationFormat>
  <Paragraphs>91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Kondenzační stopa</vt:lpstr>
      <vt:lpstr>Tabulkový kalkulátor</vt:lpstr>
      <vt:lpstr>Používaný software</vt:lpstr>
      <vt:lpstr>Tabulkový kalkulátor</vt:lpstr>
      <vt:lpstr>Sešit, list, výběr buněk</vt:lpstr>
      <vt:lpstr>Sloupce a řádky</vt:lpstr>
      <vt:lpstr>Formát buňky a vlastní formát</vt:lpstr>
      <vt:lpstr>Vzorce a jejich rozšiřování</vt:lpstr>
      <vt:lpstr>Adresování</vt:lpstr>
      <vt:lpstr>tisk a nastavení stránky</vt:lpstr>
      <vt:lpstr>GrafY</vt:lpstr>
      <vt:lpstr>Použití funkcí a vnořené funkce</vt:lpstr>
      <vt:lpstr>Import dat, řazení, filtrování</vt:lpstr>
      <vt:lpstr>Ověření dat, souhrny</vt:lpstr>
      <vt:lpstr>Kontingenční tabulka</vt:lpstr>
      <vt:lpstr>Shrnutí</vt:lpstr>
      <vt:lpstr>Zdroje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Tabulkový kalkulátor</dc:title>
  <dc:subject/>
  <dc:creator>Daniel Brychta</dc:creator>
  <cp:keywords/>
  <dc:description>generated using python-pptx</dc:description>
  <cp:lastModifiedBy>Brychta Daniel</cp:lastModifiedBy>
  <cp:revision>34</cp:revision>
  <dcterms:created xsi:type="dcterms:W3CDTF">2013-01-27T09:14:16Z</dcterms:created>
  <dcterms:modified xsi:type="dcterms:W3CDTF">2025-02-05T07:55:14Z</dcterms:modified>
  <cp:category/>
</cp:coreProperties>
</file>