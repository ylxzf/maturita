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2" r:id="rId8"/>
    <p:sldId id="264" r:id="rId9"/>
    <p:sldId id="265" r:id="rId10"/>
    <p:sldId id="266" r:id="rId11"/>
    <p:sldId id="263" r:id="rId12"/>
    <p:sldId id="259" r:id="rId13"/>
    <p:sldId id="268" r:id="rId14"/>
    <p:sldId id="260" r:id="rId15"/>
    <p:sldId id="269" r:id="rId16"/>
    <p:sldId id="261" r:id="rId17"/>
    <p:sldId id="270" r:id="rId18"/>
    <p:sldId id="271" r:id="rId19"/>
    <p:sldId id="273" r:id="rId20"/>
    <p:sldId id="272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5DEE95-61C5-4A03-A289-10E986BE306F}" v="743" dt="2022-03-15T19:51:36.378"/>
    <p1510:client id="{86F8B5D6-A205-4A80-97FF-B6F9D35B8C1D}" v="876" dt="2022-03-15T21:12:56.253"/>
    <p1510:client id="{EE875DA9-0D25-80FF-3F75-29B8869C236B}" v="932" dt="2022-03-15T20:54:57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696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921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929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29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103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621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290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967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92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279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0003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043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95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5855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9645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2888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632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C881A-7636-442D-8120-A931F68BF3CA}" type="datetimeFigureOut">
              <a:rPr lang="cs-CZ" smtClean="0"/>
              <a:t>15.03.2022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4BCEB-F5D8-4A84-8053-9524433504A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7852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AC66C8-BA5D-4CAD-B065-04AAF2D19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7410" y="1803405"/>
            <a:ext cx="6132990" cy="1825096"/>
          </a:xfrm>
        </p:spPr>
        <p:txBody>
          <a:bodyPr>
            <a:normAutofit/>
          </a:bodyPr>
          <a:lstStyle/>
          <a:p>
            <a:r>
              <a:rPr lang="cs-CZ" sz="4700" b="1" i="0" dirty="0">
                <a:effectLst/>
                <a:latin typeface="Helvetica Neue"/>
              </a:rPr>
              <a:t>Databázový procesor – VBA</a:t>
            </a:r>
            <a:r>
              <a:rPr lang="cs-CZ" sz="4700" b="0" i="0" dirty="0">
                <a:effectLst/>
                <a:latin typeface="Helvetica Neue"/>
              </a:rPr>
              <a:t> </a:t>
            </a:r>
            <a:r>
              <a:rPr lang="cs-CZ" sz="4700" b="1" i="0" dirty="0">
                <a:effectLst/>
                <a:latin typeface="Helvetica Neue"/>
              </a:rPr>
              <a:t>I</a:t>
            </a:r>
            <a:r>
              <a:rPr lang="cs-CZ" sz="4700" b="0" i="0" dirty="0">
                <a:effectLst/>
                <a:latin typeface="Helvetica Neue"/>
              </a:rPr>
              <a:t> </a:t>
            </a:r>
            <a:endParaRPr lang="cs-CZ" sz="4700" dirty="0">
              <a:cs typeface="Calibri Light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32FAD18-65A7-46CF-B97B-DAD9B42E9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7410" y="3632201"/>
            <a:ext cx="6132990" cy="685800"/>
          </a:xfrm>
        </p:spPr>
        <p:txBody>
          <a:bodyPr>
            <a:normAutofit/>
          </a:bodyPr>
          <a:lstStyle/>
          <a:p>
            <a:r>
              <a:rPr lang="cs-CZ" dirty="0"/>
              <a:t>Lukáš a Tomáš Kváš</a:t>
            </a:r>
          </a:p>
        </p:txBody>
      </p:sp>
      <p:pic>
        <p:nvPicPr>
          <p:cNvPr id="7" name="Graphic 6" descr="Procesor">
            <a:extLst>
              <a:ext uri="{FF2B5EF4-FFF2-40B4-BE49-F238E27FC236}">
                <a16:creationId xmlns:a16="http://schemas.microsoft.com/office/drawing/2014/main" id="{773E44C8-F4D3-C609-6910-BF65F18DD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4752" y="1801368"/>
            <a:ext cx="2660904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3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C24EB7-8345-4973-955F-142E1E77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Používaný software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A0F49D-2205-4388-9097-704F33F36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VBA neboli </a:t>
            </a:r>
            <a:r>
              <a:rPr lang="cs-CZ" dirty="0" err="1"/>
              <a:t>Visual</a:t>
            </a:r>
            <a:r>
              <a:rPr lang="cs-CZ" dirty="0"/>
              <a:t> Basic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vychází z VB (</a:t>
            </a:r>
            <a:r>
              <a:rPr lang="cs-CZ" dirty="0" err="1"/>
              <a:t>Visual</a:t>
            </a:r>
            <a:r>
              <a:rPr lang="cs-CZ" dirty="0"/>
              <a:t> Basic) ze kterého je odvozen a upraven pro produkty MS Office</a:t>
            </a:r>
          </a:p>
          <a:p>
            <a:r>
              <a:rPr lang="cs-CZ" dirty="0"/>
              <a:t>Každý produkt z balíčku Office má VBA(Excel, </a:t>
            </a:r>
            <a:r>
              <a:rPr lang="cs-CZ" dirty="0" err="1"/>
              <a:t>Access,PowerPoint</a:t>
            </a:r>
            <a:r>
              <a:rPr lang="cs-CZ" dirty="0"/>
              <a:t>, Word atd.)</a:t>
            </a:r>
          </a:p>
          <a:p>
            <a:r>
              <a:rPr lang="cs-CZ" dirty="0"/>
              <a:t>VBA požívají i jiné SW např. </a:t>
            </a:r>
            <a:r>
              <a:rPr lang="cs-CZ" dirty="0" err="1"/>
              <a:t>SolidWorks</a:t>
            </a:r>
            <a:r>
              <a:rPr lang="cs-CZ" dirty="0"/>
              <a:t>, </a:t>
            </a:r>
            <a:r>
              <a:rPr lang="cs-CZ" dirty="0" err="1"/>
              <a:t>ArcGIS</a:t>
            </a:r>
            <a:r>
              <a:rPr lang="cs-CZ" dirty="0"/>
              <a:t>, </a:t>
            </a:r>
            <a:r>
              <a:rPr lang="cs-CZ" dirty="0" err="1"/>
              <a:t>AutoCAD</a:t>
            </a:r>
            <a:r>
              <a:rPr lang="cs-CZ" dirty="0"/>
              <a:t> atd.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69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BA8592-50CD-4B03-B254-DADE4F02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Moduly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922918-02C1-4F2E-BA4A-05540FB1C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81523"/>
            <a:ext cx="10820400" cy="4024125"/>
          </a:xfrm>
        </p:spPr>
        <p:txBody>
          <a:bodyPr/>
          <a:lstStyle/>
          <a:p>
            <a:pPr>
              <a:spcAft>
                <a:spcPts val="2400"/>
              </a:spcAft>
            </a:pPr>
            <a:r>
              <a:rPr lang="cs-CZ" u="sng" dirty="0"/>
              <a:t>Hlavní modul </a:t>
            </a:r>
            <a:r>
              <a:rPr lang="cs-CZ" dirty="0"/>
              <a:t>- obsahuje deklarace a procedury</a:t>
            </a:r>
          </a:p>
          <a:p>
            <a:pPr>
              <a:spcAft>
                <a:spcPts val="2400"/>
              </a:spcAft>
            </a:pPr>
            <a:r>
              <a:rPr lang="cs-CZ" u="sng" dirty="0"/>
              <a:t>Modul formuláře </a:t>
            </a:r>
            <a:r>
              <a:rPr lang="cs-CZ" dirty="0"/>
              <a:t>– obsahuje grafické prvky (ovládací prvky) aplikace s připojenými událostními procedurami </a:t>
            </a:r>
          </a:p>
          <a:p>
            <a:pPr>
              <a:spcAft>
                <a:spcPts val="2400"/>
              </a:spcAft>
            </a:pPr>
            <a:r>
              <a:rPr lang="cs-CZ" i="1" u="sng" dirty="0"/>
              <a:t>Obecný </a:t>
            </a:r>
            <a:r>
              <a:rPr lang="cs-CZ" u="sng" dirty="0"/>
              <a:t>(standartní) modul </a:t>
            </a:r>
            <a:r>
              <a:rPr lang="cs-CZ" dirty="0"/>
              <a:t>– obsahuje obecné instrukce netýkající se grafických objektů na obrazovce, spouští se podle potřeby vyvoláním v jiné obecné nebo událostní proceduře</a:t>
            </a:r>
          </a:p>
          <a:p>
            <a:pPr>
              <a:spcAft>
                <a:spcPts val="2400"/>
              </a:spcAft>
            </a:pPr>
            <a:r>
              <a:rPr lang="cs-CZ" u="sng" dirty="0"/>
              <a:t>Modul třídy </a:t>
            </a:r>
            <a:r>
              <a:rPr lang="cs-CZ" dirty="0"/>
              <a:t>– obsahuje charakteristiky třídy, včetně vlastností a metod.</a:t>
            </a:r>
          </a:p>
        </p:txBody>
      </p:sp>
    </p:spTree>
    <p:extLst>
      <p:ext uri="{BB962C8B-B14F-4D97-AF65-F5344CB8AC3E}">
        <p14:creationId xmlns:p14="http://schemas.microsoft.com/office/powerpoint/2010/main" val="4047394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5E3947-8673-4AFE-89A7-C63F0B8F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2B25A46-5878-4A0F-9DA9-6BCD712E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cs-CZ" sz="2400" u="sng" dirty="0"/>
              <a:t>Byte</a:t>
            </a:r>
            <a:br>
              <a:rPr lang="cs-CZ" sz="2400" dirty="0"/>
            </a:br>
            <a:r>
              <a:rPr lang="cs-CZ" sz="2400" dirty="0"/>
              <a:t>V paměti zabere 1 bajt a může obsahovat celá čísla od nuly do 255.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u="sng" dirty="0" err="1"/>
              <a:t>Boolean</a:t>
            </a:r>
            <a:br>
              <a:rPr lang="cs-CZ" sz="2400" dirty="0"/>
            </a:br>
            <a:r>
              <a:rPr lang="cs-CZ" sz="2400" dirty="0"/>
              <a:t>V paměti zabere 2 bajty a může obsahovat hodnoty Pravda nebo Nepravda, </a:t>
            </a:r>
            <a:r>
              <a:rPr lang="cs-CZ" sz="2400" dirty="0" err="1"/>
              <a:t>True</a:t>
            </a:r>
            <a:r>
              <a:rPr lang="cs-CZ" sz="2400" dirty="0"/>
              <a:t> nebo </a:t>
            </a:r>
            <a:r>
              <a:rPr lang="cs-CZ" sz="2400" dirty="0" err="1"/>
              <a:t>False</a:t>
            </a:r>
            <a:r>
              <a:rPr lang="cs-CZ" sz="24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dirty="0" err="1"/>
              <a:t>Integer</a:t>
            </a:r>
            <a:br>
              <a:rPr lang="cs-CZ" sz="2400" dirty="0"/>
            </a:br>
            <a:r>
              <a:rPr lang="cs-CZ" sz="2400" dirty="0"/>
              <a:t>V paměti zabere 2 bajty a může obsahovat celé číslo od -32 768 do 32 768.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u="sng" dirty="0"/>
              <a:t>Long</a:t>
            </a:r>
            <a:br>
              <a:rPr lang="cs-CZ" sz="2400" dirty="0"/>
            </a:br>
            <a:r>
              <a:rPr lang="cs-CZ" sz="2400" dirty="0"/>
              <a:t>V paměti zabere 4 bajty a může obsahovat celé číslo od - 2 147 483 647 do 2 147 483 647.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u="sng" dirty="0"/>
              <a:t>Single</a:t>
            </a:r>
            <a:br>
              <a:rPr lang="cs-CZ" sz="2400" dirty="0"/>
            </a:br>
            <a:r>
              <a:rPr lang="cs-CZ" sz="2400" dirty="0"/>
              <a:t>V paměti zabere 4 bajty a může nabývat hodnot pro kladná čísla od 1,401298E-45 do 3,402823E38 a obdobně pro záporná.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912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DF7D3F-4359-4E71-A668-8C961783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2C2DC9-698A-4FA1-A97F-84D4434D7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cs-CZ" sz="2400" u="sng" dirty="0"/>
              <a:t>Double</a:t>
            </a:r>
            <a:br>
              <a:rPr lang="cs-CZ" sz="2400" dirty="0"/>
            </a:br>
            <a:r>
              <a:rPr lang="cs-CZ" sz="2400" dirty="0"/>
              <a:t>V paměti zabírá 8 bajtů, může nabývat hodnot kladná čísla od 4,94065645841247E-324 do 1.79769313486232E308 a obdobně pro záporná.</a:t>
            </a:r>
          </a:p>
          <a:p>
            <a:pPr>
              <a:lnSpc>
                <a:spcPct val="80000"/>
              </a:lnSpc>
            </a:pPr>
            <a:r>
              <a:rPr lang="cs-CZ" sz="2400" u="sng" dirty="0" err="1"/>
              <a:t>Currency</a:t>
            </a:r>
            <a:br>
              <a:rPr lang="cs-CZ" sz="2400" dirty="0"/>
            </a:br>
            <a:r>
              <a:rPr lang="cs-CZ" sz="2400" dirty="0"/>
              <a:t>V paměti zabírá 8 bajtů a nabývá hodnot 922 337 203 685 477,5807 na obě strany od desetinné čárky.</a:t>
            </a:r>
          </a:p>
          <a:p>
            <a:pPr>
              <a:lnSpc>
                <a:spcPct val="80000"/>
              </a:lnSpc>
            </a:pPr>
            <a:r>
              <a:rPr lang="cs-CZ" sz="2400" u="sng" dirty="0" err="1"/>
              <a:t>Decimal</a:t>
            </a:r>
            <a:br>
              <a:rPr lang="cs-CZ" sz="2400" dirty="0"/>
            </a:br>
            <a:r>
              <a:rPr lang="cs-CZ" sz="2400" dirty="0"/>
              <a:t>V paměti zabírá 8 bajtů a může nabývat  bez desetinných míst 9 228 162 514 264 337 593 543 950 335 na obě strany od desetinné čárky nebo 7,9228162514264337593543950335 s až 28 desetinnými místy na obě strany od desetinné čárky.</a:t>
            </a:r>
          </a:p>
          <a:p>
            <a:pPr>
              <a:lnSpc>
                <a:spcPct val="80000"/>
              </a:lnSpc>
            </a:pPr>
            <a:r>
              <a:rPr lang="cs-CZ" sz="2400" u="sng" dirty="0" err="1"/>
              <a:t>Date</a:t>
            </a:r>
            <a:br>
              <a:rPr lang="cs-CZ" sz="2400" dirty="0"/>
            </a:br>
            <a:r>
              <a:rPr lang="cs-CZ" sz="2400" dirty="0"/>
              <a:t>V paměti zabírá 8 bajtů a nabývá hodnot od 1.1. 100 do 31.12 9999.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4352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97D1B7-939E-454F-B7A7-2A7D2890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47A950-C1E8-4BA6-B76C-A6F5597DB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cs-CZ" sz="2400" u="sng" dirty="0" err="1"/>
              <a:t>Object</a:t>
            </a:r>
            <a:br>
              <a:rPr lang="cs-CZ" sz="2400" dirty="0"/>
            </a:br>
            <a:r>
              <a:rPr lang="cs-CZ" sz="2400" dirty="0"/>
              <a:t>V paměti zabírá 4 bajty a obsahuje odkazy na objekty.</a:t>
            </a:r>
          </a:p>
          <a:p>
            <a:pPr>
              <a:lnSpc>
                <a:spcPct val="80000"/>
              </a:lnSpc>
            </a:pPr>
            <a:r>
              <a:rPr lang="cs-CZ" sz="2400" u="sng" dirty="0" err="1"/>
              <a:t>String</a:t>
            </a:r>
            <a:r>
              <a:rPr lang="cs-CZ" sz="2400" u="sng" dirty="0"/>
              <a:t> (s proměnlivou délkou)</a:t>
            </a:r>
            <a:br>
              <a:rPr lang="cs-CZ" sz="2400" u="sng" dirty="0"/>
            </a:br>
            <a:r>
              <a:rPr lang="cs-CZ" sz="2400" dirty="0"/>
              <a:t>Zabírá v paměti 10 bajtů plus délku textu, nabývá hodnoty od nuly do cca 2 miliard znaků.</a:t>
            </a:r>
          </a:p>
          <a:p>
            <a:pPr>
              <a:lnSpc>
                <a:spcPct val="80000"/>
              </a:lnSpc>
            </a:pPr>
            <a:r>
              <a:rPr lang="cs-CZ" sz="2400" u="sng" dirty="0" err="1"/>
              <a:t>String</a:t>
            </a:r>
            <a:r>
              <a:rPr lang="cs-CZ" sz="2400" u="sng" dirty="0"/>
              <a:t> (s pevnou délkou)</a:t>
            </a:r>
            <a:br>
              <a:rPr lang="cs-CZ" sz="2400" u="sng" dirty="0"/>
            </a:br>
            <a:r>
              <a:rPr lang="cs-CZ" sz="2400" dirty="0"/>
              <a:t>Zabírá v paměti proměnlivé místo dle délky textu a nabývá hodnot od jedné do zhruba 65 400 znaků.</a:t>
            </a:r>
          </a:p>
          <a:p>
            <a:pPr>
              <a:lnSpc>
                <a:spcPct val="80000"/>
              </a:lnSpc>
            </a:pPr>
            <a:r>
              <a:rPr lang="cs-CZ" sz="2400" u="sng" dirty="0"/>
              <a:t>Variant (s čísly)</a:t>
            </a:r>
            <a:br>
              <a:rPr lang="cs-CZ" sz="2400" dirty="0"/>
            </a:br>
            <a:r>
              <a:rPr lang="cs-CZ" sz="2400" dirty="0"/>
              <a:t>Zabírá v paměti 16 bajtů a nabývá stejných hodnot jako Double, ale umí i hodnoty </a:t>
            </a:r>
            <a:r>
              <a:rPr lang="cs-CZ" sz="2400" dirty="0" err="1"/>
              <a:t>Empty</a:t>
            </a:r>
            <a:r>
              <a:rPr lang="cs-CZ" sz="2400" dirty="0"/>
              <a:t>, </a:t>
            </a:r>
            <a:r>
              <a:rPr lang="cs-CZ" sz="2400" dirty="0" err="1"/>
              <a:t>Error</a:t>
            </a:r>
            <a:r>
              <a:rPr lang="cs-CZ" sz="2400" dirty="0"/>
              <a:t>, </a:t>
            </a:r>
            <a:r>
              <a:rPr lang="cs-CZ" sz="2400" dirty="0" err="1"/>
              <a:t>Nothing</a:t>
            </a:r>
            <a:r>
              <a:rPr lang="cs-CZ" sz="2400" dirty="0"/>
              <a:t> a </a:t>
            </a:r>
            <a:r>
              <a:rPr lang="cs-CZ" sz="2400" dirty="0" err="1"/>
              <a:t>Null</a:t>
            </a:r>
            <a:r>
              <a:rPr lang="cs-CZ" sz="2400" dirty="0"/>
              <a:t>.</a:t>
            </a:r>
          </a:p>
          <a:p>
            <a:pPr>
              <a:lnSpc>
                <a:spcPct val="80000"/>
              </a:lnSpc>
            </a:pPr>
            <a:r>
              <a:rPr lang="cs-CZ" sz="2400" u="sng" dirty="0"/>
              <a:t>Variant (s písmeny)</a:t>
            </a:r>
            <a:br>
              <a:rPr lang="cs-CZ" sz="2400" u="sng" dirty="0"/>
            </a:br>
            <a:r>
              <a:rPr lang="cs-CZ" sz="2400" dirty="0"/>
              <a:t>Zabírá v paměti 22 bajtů plus délka textu a nabývá hodnot od nuly do zhruba dvou miliard.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005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1C1995-6534-4DBB-925F-31E51E17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Datové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EE3CA0-3935-4E82-8F7B-4C087F406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Uživatelsky definované typy</a:t>
            </a:r>
            <a:r>
              <a:rPr lang="cs-CZ" dirty="0"/>
              <a:t> - </a:t>
            </a:r>
            <a:r>
              <a:rPr lang="cs-CZ" dirty="0" err="1"/>
              <a:t>Záleži</a:t>
            </a:r>
            <a:r>
              <a:rPr lang="cs-CZ" dirty="0"/>
              <a:t> na jejich nastavení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7575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3BFE66-DDB1-4D6A-908A-0819F92E4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konstanty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591C1F-D863-4EAD-834B-F396B3A6A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Konstanta má vyhrazený název </a:t>
            </a:r>
            <a:r>
              <a:rPr lang="cs-CZ" err="1"/>
              <a:t>Const</a:t>
            </a:r>
            <a:r>
              <a:rPr lang="cs-CZ"/>
              <a:t>. Je to pojmenované místo v paměti, jeho hodnota je určena v deklaraci a nelze ji měnit. Deklarace konstanty musí být v programu provedena před jejím použitím.</a:t>
            </a:r>
          </a:p>
          <a:p>
            <a:endParaRPr lang="cs-CZ"/>
          </a:p>
          <a:p>
            <a:r>
              <a:rPr lang="cs-CZ"/>
              <a:t>Public </a:t>
            </a:r>
            <a:r>
              <a:rPr lang="cs-CZ" err="1"/>
              <a:t>const</a:t>
            </a:r>
            <a:r>
              <a:rPr lang="cs-CZ"/>
              <a:t> A = 5</a:t>
            </a:r>
            <a:br>
              <a:rPr lang="cs-CZ"/>
            </a:br>
            <a:r>
              <a:rPr lang="cs-CZ"/>
              <a:t> globální konstanta se nazývá A, má hodnotu 5.</a:t>
            </a:r>
          </a:p>
          <a:p>
            <a:r>
              <a:rPr lang="cs-CZ" err="1"/>
              <a:t>Const</a:t>
            </a:r>
            <a:r>
              <a:rPr lang="cs-CZ"/>
              <a:t> PI = 3.14</a:t>
            </a:r>
            <a:br>
              <a:rPr lang="cs-CZ"/>
            </a:br>
            <a:r>
              <a:rPr lang="cs-CZ"/>
              <a:t> lokální konstanta se nazývá PI, má hodnotu 3.14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074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1C7990-64C6-4C8D-A43B-AF66E49E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proměnné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F1832F-0795-46A8-B91D-D87D7AB16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u="sng" dirty="0"/>
              <a:t>proměnná</a:t>
            </a:r>
            <a:r>
              <a:rPr lang="cs-CZ" dirty="0"/>
              <a:t> - je dočasné paměťové místo pro číslo, text nebo objekt</a:t>
            </a:r>
          </a:p>
          <a:p>
            <a:r>
              <a:rPr lang="cs-CZ" u="sng"/>
              <a:t>Proměnné na úrovni procedur</a:t>
            </a:r>
            <a:r>
              <a:rPr lang="cs-CZ" dirty="0"/>
              <a:t> jsou deklarovány příkazem DIM, hodnota takové proměnné není přístupná zvenčí</a:t>
            </a:r>
          </a:p>
          <a:p>
            <a:r>
              <a:rPr lang="cs-CZ" u="sng"/>
              <a:t>Proměnné na úrovni modulů</a:t>
            </a:r>
            <a:r>
              <a:rPr lang="cs-CZ" dirty="0"/>
              <a:t> jsou vytvářeny příkazem </a:t>
            </a:r>
            <a:r>
              <a:rPr lang="cs-CZ" u="sng" err="1"/>
              <a:t>Private</a:t>
            </a:r>
            <a:r>
              <a:rPr lang="cs-CZ" dirty="0"/>
              <a:t>(nebo DIM)</a:t>
            </a:r>
          </a:p>
          <a:p>
            <a:r>
              <a:rPr lang="cs-CZ" u="sng" dirty="0"/>
              <a:t>Globální(veřejné) proměnné</a:t>
            </a:r>
            <a:r>
              <a:rPr lang="cs-CZ" dirty="0"/>
              <a:t> - jsou vytvářeny příkazem </a:t>
            </a:r>
            <a:r>
              <a:rPr lang="cs-CZ" u="sng"/>
              <a:t>public</a:t>
            </a:r>
          </a:p>
          <a:p>
            <a:r>
              <a:rPr lang="cs-CZ" dirty="0">
                <a:ea typeface="+mn-lt"/>
                <a:cs typeface="+mn-lt"/>
              </a:rPr>
              <a:t>Mohou mít až 254 znaků, není možné používat #, $, %, &amp; a !, není možné používat mezery</a:t>
            </a:r>
          </a:p>
          <a:p>
            <a:endParaRPr lang="cs-CZ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dirty="0">
                <a:ea typeface="+mn-lt"/>
                <a:cs typeface="+mn-lt"/>
              </a:rPr>
              <a:t>Proč se používají?</a:t>
            </a:r>
            <a:endParaRPr lang="cs-CZ" dirty="0"/>
          </a:p>
          <a:p>
            <a:r>
              <a:rPr lang="cs-CZ" dirty="0"/>
              <a:t>Větší pořádek v kódu</a:t>
            </a:r>
          </a:p>
          <a:p>
            <a:r>
              <a:rPr lang="cs-CZ" dirty="0"/>
              <a:t>Lépe se vyhnete chybám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01287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2D6BF4-5957-489F-BE5C-E4769B93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Zápis kódu - GOTO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9DC5AE-C1B5-4D69-98C6-683B3DB1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>
              <a:lnSpc>
                <a:spcPct val="110000"/>
              </a:lnSpc>
            </a:pPr>
            <a:r>
              <a:rPr lang="cs-CZ"/>
              <a:t>•Bezpodmínečný odskok na zadaný řádek procedury. Použít lze jen k odskoku na řádky pouze v rámci procedury, kde se příkaz nachází.</a:t>
            </a:r>
          </a:p>
          <a:p>
            <a:pPr>
              <a:lnSpc>
                <a:spcPct val="110000"/>
              </a:lnSpc>
            </a:pPr>
            <a:r>
              <a:rPr lang="cs-CZ"/>
              <a:t>•</a:t>
            </a:r>
            <a:r>
              <a:rPr lang="cs-CZ" err="1"/>
              <a:t>GoTo</a:t>
            </a:r>
            <a:r>
              <a:rPr lang="cs-CZ"/>
              <a:t> řádka - argument řádka může označovat návěští řádky nebo číslo řádky.</a:t>
            </a:r>
          </a:p>
          <a:p>
            <a:pPr>
              <a:lnSpc>
                <a:spcPct val="110000"/>
              </a:lnSpc>
            </a:pPr>
            <a:r>
              <a:rPr lang="cs-CZ"/>
              <a:t>Sub </a:t>
            </a:r>
            <a:r>
              <a:rPr lang="cs-CZ" err="1"/>
              <a:t>UkazkaPrikazuGoto</a:t>
            </a:r>
            <a:r>
              <a:rPr lang="cs-CZ"/>
              <a:t>() </a:t>
            </a:r>
            <a:br>
              <a:rPr lang="cs-CZ"/>
            </a:br>
            <a:r>
              <a:rPr lang="cs-CZ" err="1"/>
              <a:t>Dim</a:t>
            </a:r>
            <a:r>
              <a:rPr lang="cs-CZ"/>
              <a:t> </a:t>
            </a:r>
            <a:r>
              <a:rPr lang="cs-CZ" err="1"/>
              <a:t>Cislo</a:t>
            </a:r>
            <a:r>
              <a:rPr lang="cs-CZ"/>
              <a:t>, </a:t>
            </a:r>
            <a:r>
              <a:rPr lang="cs-CZ" err="1"/>
              <a:t>MujRetezec</a:t>
            </a:r>
            <a:r>
              <a:rPr lang="cs-CZ"/>
              <a:t> </a:t>
            </a:r>
            <a:br>
              <a:rPr lang="cs-CZ"/>
            </a:br>
            <a:r>
              <a:rPr lang="cs-CZ"/>
              <a:t>    </a:t>
            </a:r>
            <a:r>
              <a:rPr lang="cs-CZ" err="1"/>
              <a:t>Cislo</a:t>
            </a:r>
            <a:r>
              <a:rPr lang="cs-CZ"/>
              <a:t> = 1   ' Inicializuj proměnnou.</a:t>
            </a:r>
            <a:br>
              <a:rPr lang="cs-CZ"/>
            </a:br>
            <a:r>
              <a:rPr lang="cs-CZ"/>
              <a:t>     </a:t>
            </a:r>
            <a:br>
              <a:rPr lang="cs-CZ"/>
            </a:br>
            <a:r>
              <a:rPr lang="cs-CZ"/>
              <a:t>    </a:t>
            </a:r>
            <a:r>
              <a:rPr lang="cs-CZ" err="1"/>
              <a:t>If</a:t>
            </a:r>
            <a:r>
              <a:rPr lang="cs-CZ"/>
              <a:t> </a:t>
            </a:r>
            <a:r>
              <a:rPr lang="cs-CZ" err="1"/>
              <a:t>Cislo</a:t>
            </a:r>
            <a:r>
              <a:rPr lang="cs-CZ"/>
              <a:t> = 1 </a:t>
            </a:r>
            <a:r>
              <a:rPr lang="cs-CZ" err="1"/>
              <a:t>Then</a:t>
            </a:r>
            <a:r>
              <a:rPr lang="cs-CZ"/>
              <a:t>    ' Vyhodnoť </a:t>
            </a:r>
            <a:r>
              <a:rPr lang="cs-CZ" err="1"/>
              <a:t>Cislo</a:t>
            </a:r>
            <a:r>
              <a:rPr lang="cs-CZ"/>
              <a:t> a pro větvení vyber příslušné návěstí. </a:t>
            </a:r>
            <a:br>
              <a:rPr lang="cs-CZ"/>
            </a:br>
            <a:r>
              <a:rPr lang="cs-CZ"/>
              <a:t>        </a:t>
            </a:r>
            <a:r>
              <a:rPr lang="cs-CZ" err="1"/>
              <a:t>GoTo</a:t>
            </a:r>
            <a:r>
              <a:rPr lang="cs-CZ"/>
              <a:t> Radek1 </a:t>
            </a:r>
            <a:br>
              <a:rPr lang="cs-CZ"/>
            </a:br>
            <a:r>
              <a:rPr lang="cs-CZ"/>
              <a:t>    Else </a:t>
            </a:r>
            <a:br>
              <a:rPr lang="cs-CZ"/>
            </a:br>
            <a:r>
              <a:rPr lang="cs-CZ"/>
              <a:t>        </a:t>
            </a:r>
            <a:r>
              <a:rPr lang="cs-CZ" err="1"/>
              <a:t>GoTo</a:t>
            </a:r>
            <a:r>
              <a:rPr lang="cs-CZ"/>
              <a:t> Radek2</a:t>
            </a:r>
            <a:br>
              <a:rPr lang="cs-CZ"/>
            </a:br>
            <a:r>
              <a:rPr lang="cs-CZ"/>
              <a:t>   </a:t>
            </a:r>
            <a:br>
              <a:rPr lang="cs-CZ"/>
            </a:br>
            <a:r>
              <a:rPr lang="cs-CZ"/>
              <a:t>Radek1:</a:t>
            </a:r>
            <a:br>
              <a:rPr lang="cs-CZ"/>
            </a:br>
            <a:r>
              <a:rPr lang="cs-CZ"/>
              <a:t>     </a:t>
            </a:r>
            <a:r>
              <a:rPr lang="cs-CZ" err="1"/>
              <a:t>MujRetezec</a:t>
            </a:r>
            <a:r>
              <a:rPr lang="cs-CZ"/>
              <a:t> = "Číslo se rovná 1"</a:t>
            </a:r>
            <a:br>
              <a:rPr lang="cs-CZ"/>
            </a:br>
            <a:r>
              <a:rPr lang="cs-CZ"/>
              <a:t>     </a:t>
            </a:r>
            <a:r>
              <a:rPr lang="cs-CZ" err="1"/>
              <a:t>GoTo</a:t>
            </a:r>
            <a:r>
              <a:rPr lang="cs-CZ"/>
              <a:t> </a:t>
            </a:r>
            <a:r>
              <a:rPr lang="cs-CZ" err="1"/>
              <a:t>PosledniRadek</a:t>
            </a:r>
            <a:r>
              <a:rPr lang="cs-CZ"/>
              <a:t>   ' Jdi na </a:t>
            </a:r>
            <a:r>
              <a:rPr lang="cs-CZ" err="1"/>
              <a:t>PosledniRadek</a:t>
            </a:r>
            <a:r>
              <a:rPr lang="cs-CZ"/>
              <a:t>.</a:t>
            </a:r>
            <a:br>
              <a:rPr lang="cs-CZ"/>
            </a:br>
            <a:r>
              <a:rPr lang="cs-CZ"/>
              <a:t> </a:t>
            </a:r>
            <a:br>
              <a:rPr lang="cs-CZ"/>
            </a:br>
            <a:r>
              <a:rPr lang="cs-CZ"/>
              <a:t>Radek2:</a:t>
            </a:r>
            <a:br>
              <a:rPr lang="cs-CZ"/>
            </a:br>
            <a:r>
              <a:rPr lang="cs-CZ"/>
              <a:t>       ' Následující příkaz se nikdy neprovede.</a:t>
            </a:r>
            <a:br>
              <a:rPr lang="cs-CZ"/>
            </a:br>
            <a:r>
              <a:rPr lang="cs-CZ"/>
              <a:t>     </a:t>
            </a:r>
            <a:r>
              <a:rPr lang="cs-CZ" err="1"/>
              <a:t>MujRetezec</a:t>
            </a:r>
            <a:r>
              <a:rPr lang="cs-CZ"/>
              <a:t> = "Číslo se rovná 2"</a:t>
            </a:r>
            <a:br>
              <a:rPr lang="cs-CZ"/>
            </a:br>
            <a:r>
              <a:rPr lang="cs-CZ"/>
              <a:t> </a:t>
            </a:r>
            <a:br>
              <a:rPr lang="cs-CZ"/>
            </a:br>
            <a:r>
              <a:rPr lang="cs-CZ" err="1"/>
              <a:t>PosledniRadek</a:t>
            </a:r>
            <a:r>
              <a:rPr lang="cs-CZ"/>
              <a:t>: </a:t>
            </a:r>
            <a:br>
              <a:rPr lang="cs-CZ"/>
            </a:br>
            <a:r>
              <a:rPr lang="cs-CZ"/>
              <a:t>    </a:t>
            </a:r>
            <a:r>
              <a:rPr lang="cs-CZ" err="1"/>
              <a:t>MsgBox</a:t>
            </a:r>
            <a:r>
              <a:rPr lang="cs-CZ"/>
              <a:t> (</a:t>
            </a:r>
            <a:r>
              <a:rPr lang="cs-CZ" err="1"/>
              <a:t>MujRetezec</a:t>
            </a:r>
            <a:r>
              <a:rPr lang="cs-CZ"/>
              <a:t>)   ' Vypíše "Číslo se rovná 1„</a:t>
            </a:r>
            <a:br>
              <a:rPr lang="cs-CZ"/>
            </a:br>
            <a:r>
              <a:rPr lang="cs-CZ"/>
              <a:t>     </a:t>
            </a:r>
            <a:br>
              <a:rPr lang="cs-CZ"/>
            </a:br>
            <a:r>
              <a:rPr lang="cs-CZ"/>
              <a:t>End Sub</a:t>
            </a:r>
          </a:p>
          <a:p>
            <a:pPr>
              <a:lnSpc>
                <a:spcPct val="110000"/>
              </a:lnSpc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205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DAF334-719D-4B92-A174-5FD4AA3A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cs typeface="Calibri Light"/>
              </a:rPr>
              <a:t>Zápis kódu</a:t>
            </a:r>
            <a:r>
              <a:rPr lang="cs-CZ" b="1">
                <a:cs typeface="Calibri Light"/>
              </a:rPr>
              <a:t> - přehlednost kódu</a:t>
            </a:r>
            <a:endParaRPr lang="cs-CZ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34205A-A8D9-4042-AB4F-6FA8CCC5E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Komentáře dělají se pomocí  ' ' - pomáhají zpřehlednit kód</a:t>
            </a:r>
          </a:p>
          <a:p>
            <a:r>
              <a:rPr lang="cs-CZ"/>
              <a:t>Odsazovaní - je dobré u cyklů a case příkazů + pomáhají zpřehlednit kód</a:t>
            </a:r>
          </a:p>
          <a:p>
            <a:r>
              <a:rPr lang="cs-CZ"/>
              <a:t>Velká a malá písmena - VBA je sice ignoruje, ale zpřehlední to kód</a:t>
            </a:r>
          </a:p>
          <a:p>
            <a:r>
              <a:rPr lang="cs-CZ"/>
              <a:t>Rozdělení příkazů na více řádků - je možné řádek kódu rozdělit vejpůl, aby to zpřehlednilo kód a abychom nemuseli </a:t>
            </a:r>
            <a:r>
              <a:rPr lang="cs-CZ" err="1"/>
              <a:t>scrollovat</a:t>
            </a:r>
            <a:r>
              <a:rPr lang="cs-CZ"/>
              <a:t> doprava a doleva</a:t>
            </a:r>
          </a:p>
          <a:p>
            <a:r>
              <a:rPr lang="cs-CZ"/>
              <a:t>Prázdné řádky - můžeme vynechat řádky abychom zpřehlednili kód můžeme někdy i celý řádek dát do apostrof tedy </a:t>
            </a:r>
            <a:r>
              <a:rPr lang="cs-CZ" err="1"/>
              <a:t>zakomentovat</a:t>
            </a:r>
            <a:r>
              <a:rPr lang="cs-CZ"/>
              <a:t> ho</a:t>
            </a:r>
          </a:p>
          <a:p>
            <a:r>
              <a:rPr lang="cs-CZ"/>
              <a:t>Pojmenovávání objektů - objekty pojmenováváme smysluplně</a:t>
            </a:r>
          </a:p>
          <a:p>
            <a:r>
              <a:rPr lang="cs-CZ"/>
              <a:t>Více příkazů na jeden řádek - dělí se :</a:t>
            </a:r>
          </a:p>
        </p:txBody>
      </p:sp>
    </p:spTree>
    <p:extLst>
      <p:ext uri="{BB962C8B-B14F-4D97-AF65-F5344CB8AC3E}">
        <p14:creationId xmlns:p14="http://schemas.microsoft.com/office/powerpoint/2010/main" val="3421759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1C9EA7-3AFE-4049-87DE-1A05A7F5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Zápis kódu - řídící příkazy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C783B9-D758-40ED-8BEE-DCB846E7E5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ea typeface="+mn-lt"/>
                <a:cs typeface="+mn-lt"/>
              </a:rPr>
              <a:t>•</a:t>
            </a:r>
            <a:r>
              <a:rPr lang="cs-CZ" b="1">
                <a:ea typeface="+mn-lt"/>
                <a:cs typeface="+mn-lt"/>
              </a:rPr>
              <a:t>Větvení </a:t>
            </a:r>
            <a:r>
              <a:rPr lang="cs-CZ">
                <a:ea typeface="+mn-lt"/>
                <a:cs typeface="+mn-lt"/>
              </a:rPr>
              <a:t>– </a:t>
            </a:r>
            <a:r>
              <a:rPr lang="cs-CZ" err="1">
                <a:ea typeface="+mn-lt"/>
                <a:cs typeface="+mn-lt"/>
              </a:rPr>
              <a:t>If</a:t>
            </a:r>
            <a:r>
              <a:rPr lang="cs-CZ">
                <a:ea typeface="+mn-lt"/>
                <a:cs typeface="+mn-lt"/>
              </a:rPr>
              <a:t>…</a:t>
            </a:r>
            <a:r>
              <a:rPr lang="cs-CZ" err="1">
                <a:ea typeface="+mn-lt"/>
                <a:cs typeface="+mn-lt"/>
              </a:rPr>
              <a:t>then</a:t>
            </a:r>
            <a:r>
              <a:rPr lang="cs-CZ">
                <a:ea typeface="+mn-lt"/>
                <a:cs typeface="+mn-lt"/>
              </a:rPr>
              <a:t>…</a:t>
            </a:r>
            <a:r>
              <a:rPr lang="cs-CZ" err="1">
                <a:ea typeface="+mn-lt"/>
                <a:cs typeface="+mn-lt"/>
              </a:rPr>
              <a:t>else</a:t>
            </a:r>
            <a:br>
              <a:rPr lang="cs-CZ">
                <a:ea typeface="+mn-lt"/>
                <a:cs typeface="+mn-lt"/>
              </a:rPr>
            </a:br>
            <a:r>
              <a:rPr lang="cs-CZ">
                <a:ea typeface="+mn-lt"/>
                <a:cs typeface="+mn-lt"/>
              </a:rPr>
              <a:t>    – </a:t>
            </a:r>
            <a:r>
              <a:rPr lang="cs-CZ" err="1">
                <a:ea typeface="+mn-lt"/>
                <a:cs typeface="+mn-lt"/>
              </a:rPr>
              <a:t>Select</a:t>
            </a:r>
            <a:r>
              <a:rPr lang="cs-CZ">
                <a:ea typeface="+mn-lt"/>
                <a:cs typeface="+mn-lt"/>
              </a:rPr>
              <a:t> case</a:t>
            </a:r>
            <a:endParaRPr lang="cs-CZ"/>
          </a:p>
          <a:p>
            <a:r>
              <a:rPr lang="cs-CZ">
                <a:ea typeface="+mn-lt"/>
                <a:cs typeface="+mn-lt"/>
              </a:rPr>
              <a:t>•</a:t>
            </a:r>
            <a:r>
              <a:rPr lang="cs-CZ" b="1">
                <a:ea typeface="+mn-lt"/>
                <a:cs typeface="+mn-lt"/>
              </a:rPr>
              <a:t>Cykly</a:t>
            </a:r>
            <a:r>
              <a:rPr lang="cs-CZ">
                <a:ea typeface="+mn-lt"/>
                <a:cs typeface="+mn-lt"/>
              </a:rPr>
              <a:t> – Do…</a:t>
            </a:r>
            <a:r>
              <a:rPr lang="cs-CZ" err="1">
                <a:ea typeface="+mn-lt"/>
                <a:cs typeface="+mn-lt"/>
              </a:rPr>
              <a:t>Loop</a:t>
            </a:r>
            <a:br>
              <a:rPr lang="cs-CZ">
                <a:ea typeface="+mn-lt"/>
                <a:cs typeface="+mn-lt"/>
              </a:rPr>
            </a:br>
            <a:r>
              <a:rPr lang="cs-CZ">
                <a:ea typeface="+mn-lt"/>
                <a:cs typeface="+mn-lt"/>
              </a:rPr>
              <a:t>          –  </a:t>
            </a:r>
            <a:r>
              <a:rPr lang="cs-CZ" err="1">
                <a:ea typeface="+mn-lt"/>
                <a:cs typeface="+mn-lt"/>
              </a:rPr>
              <a:t>While</a:t>
            </a:r>
            <a:r>
              <a:rPr lang="cs-CZ">
                <a:ea typeface="+mn-lt"/>
                <a:cs typeface="+mn-lt"/>
              </a:rPr>
              <a:t>…</a:t>
            </a:r>
            <a:r>
              <a:rPr lang="cs-CZ" err="1">
                <a:ea typeface="+mn-lt"/>
                <a:cs typeface="+mn-lt"/>
              </a:rPr>
              <a:t>Wend</a:t>
            </a:r>
            <a:br>
              <a:rPr lang="cs-CZ">
                <a:ea typeface="+mn-lt"/>
                <a:cs typeface="+mn-lt"/>
              </a:rPr>
            </a:br>
            <a:r>
              <a:rPr lang="cs-CZ">
                <a:ea typeface="+mn-lt"/>
                <a:cs typeface="+mn-lt"/>
              </a:rPr>
              <a:t>          –  </a:t>
            </a:r>
            <a:r>
              <a:rPr lang="cs-CZ" err="1">
                <a:ea typeface="+mn-lt"/>
                <a:cs typeface="+mn-lt"/>
              </a:rPr>
              <a:t>For</a:t>
            </a:r>
            <a:r>
              <a:rPr lang="cs-CZ">
                <a:ea typeface="+mn-lt"/>
                <a:cs typeface="+mn-lt"/>
              </a:rPr>
              <a:t>…</a:t>
            </a:r>
            <a:r>
              <a:rPr lang="cs-CZ" err="1">
                <a:ea typeface="+mn-lt"/>
                <a:cs typeface="+mn-lt"/>
              </a:rPr>
              <a:t>Next</a:t>
            </a:r>
            <a:br>
              <a:rPr lang="cs-CZ">
                <a:ea typeface="+mn-lt"/>
                <a:cs typeface="+mn-lt"/>
              </a:rPr>
            </a:br>
            <a:r>
              <a:rPr lang="cs-CZ">
                <a:ea typeface="+mn-lt"/>
                <a:cs typeface="+mn-lt"/>
              </a:rPr>
              <a:t>          –  </a:t>
            </a:r>
            <a:r>
              <a:rPr lang="cs-CZ" err="1">
                <a:ea typeface="+mn-lt"/>
                <a:cs typeface="+mn-lt"/>
              </a:rPr>
              <a:t>For</a:t>
            </a:r>
            <a:r>
              <a:rPr lang="cs-CZ">
                <a:ea typeface="+mn-lt"/>
                <a:cs typeface="+mn-lt"/>
              </a:rPr>
              <a:t> </a:t>
            </a:r>
            <a:r>
              <a:rPr lang="cs-CZ" err="1">
                <a:ea typeface="+mn-lt"/>
                <a:cs typeface="+mn-lt"/>
              </a:rPr>
              <a:t>each</a:t>
            </a:r>
            <a:r>
              <a:rPr lang="cs-CZ">
                <a:ea typeface="+mn-lt"/>
                <a:cs typeface="+mn-lt"/>
              </a:rPr>
              <a:t>…</a:t>
            </a:r>
            <a:r>
              <a:rPr lang="cs-CZ" err="1">
                <a:ea typeface="+mn-lt"/>
                <a:cs typeface="+mn-lt"/>
              </a:rPr>
              <a:t>Next</a:t>
            </a:r>
            <a:endParaRPr lang="cs-CZ" err="1"/>
          </a:p>
          <a:p>
            <a:endParaRPr lang="cs-CZ">
              <a:ea typeface="+mn-lt"/>
              <a:cs typeface="+mn-lt"/>
            </a:endParaRPr>
          </a:p>
          <a:p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5BB5B50-3FE2-40B5-A671-343489927E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IF </a:t>
            </a:r>
            <a:r>
              <a:rPr lang="cs-CZ" dirty="0" err="1"/>
              <a:t>Odpoved</a:t>
            </a:r>
            <a:r>
              <a:rPr lang="cs-CZ" dirty="0"/>
              <a:t> = "</a:t>
            </a:r>
            <a:r>
              <a:rPr lang="cs-CZ" dirty="0" err="1"/>
              <a:t>muz</a:t>
            </a:r>
            <a:r>
              <a:rPr lang="cs-CZ" dirty="0"/>
              <a:t>“ </a:t>
            </a:r>
            <a:r>
              <a:rPr lang="cs-CZ" dirty="0" err="1"/>
              <a:t>Then</a:t>
            </a:r>
            <a:r>
              <a:rPr lang="cs-CZ" dirty="0"/>
              <a:t> </a:t>
            </a:r>
            <a:endParaRPr lang="cs-CZ" dirty="0">
              <a:ea typeface="+mn-lt"/>
              <a:cs typeface="+mn-lt"/>
            </a:endParaRPr>
          </a:p>
          <a:p>
            <a:r>
              <a:rPr lang="cs-CZ" dirty="0"/>
              <a:t>    </a:t>
            </a:r>
            <a:r>
              <a:rPr lang="cs-CZ" dirty="0" err="1"/>
              <a:t>MsgBox</a:t>
            </a:r>
            <a:r>
              <a:rPr lang="cs-CZ" dirty="0"/>
              <a:t> „Jsi muž.“ </a:t>
            </a:r>
            <a:endParaRPr lang="cs-CZ" dirty="0">
              <a:ea typeface="+mn-lt"/>
              <a:cs typeface="+mn-lt"/>
            </a:endParaRPr>
          </a:p>
          <a:p>
            <a:r>
              <a:rPr lang="cs-CZ" dirty="0"/>
              <a:t>Else </a:t>
            </a:r>
            <a:endParaRPr lang="cs-CZ" dirty="0">
              <a:ea typeface="+mn-lt"/>
              <a:cs typeface="+mn-lt"/>
            </a:endParaRPr>
          </a:p>
          <a:p>
            <a:r>
              <a:rPr lang="cs-CZ" dirty="0"/>
              <a:t>    </a:t>
            </a:r>
            <a:r>
              <a:rPr lang="cs-CZ" dirty="0" err="1"/>
              <a:t>MsgBox</a:t>
            </a:r>
            <a:r>
              <a:rPr lang="cs-CZ" dirty="0"/>
              <a:t> „Jsi žena.“ </a:t>
            </a:r>
            <a:endParaRPr lang="cs-CZ" dirty="0">
              <a:ea typeface="+mn-lt"/>
              <a:cs typeface="+mn-lt"/>
            </a:endParaRPr>
          </a:p>
          <a:p>
            <a:r>
              <a:rPr lang="cs-CZ" dirty="0"/>
              <a:t>End </a:t>
            </a:r>
            <a:r>
              <a:rPr lang="cs-CZ" dirty="0" err="1"/>
              <a:t>If</a:t>
            </a:r>
            <a:endParaRPr lang="cs-CZ" dirty="0">
              <a:ea typeface="+mn-lt"/>
              <a:cs typeface="+mn-lt"/>
            </a:endParaRPr>
          </a:p>
          <a:p>
            <a:r>
              <a:rPr lang="cs-CZ" dirty="0" err="1"/>
              <a:t>For</a:t>
            </a:r>
            <a:r>
              <a:rPr lang="cs-CZ" dirty="0"/>
              <a:t> i= start To end [Step </a:t>
            </a:r>
            <a:r>
              <a:rPr lang="cs-CZ" dirty="0" err="1"/>
              <a:t>increment</a:t>
            </a:r>
            <a:r>
              <a:rPr lang="cs-CZ" dirty="0"/>
              <a:t>]</a:t>
            </a:r>
            <a:endParaRPr lang="cs-CZ" dirty="0">
              <a:ea typeface="+mn-lt"/>
              <a:cs typeface="+mn-lt"/>
            </a:endParaRPr>
          </a:p>
          <a:p>
            <a:r>
              <a:rPr lang="cs-CZ" dirty="0"/>
              <a:t>příkazy</a:t>
            </a:r>
            <a:endParaRPr lang="cs-CZ" dirty="0">
              <a:ea typeface="+mn-lt"/>
              <a:cs typeface="+mn-lt"/>
            </a:endParaRPr>
          </a:p>
          <a:p>
            <a:r>
              <a:rPr lang="cs-CZ" dirty="0" err="1"/>
              <a:t>Next</a:t>
            </a:r>
            <a:r>
              <a:rPr lang="cs-CZ" dirty="0"/>
              <a:t> i</a:t>
            </a:r>
            <a:endParaRPr lang="cs-CZ" dirty="0">
              <a:ea typeface="+mn-lt"/>
              <a:cs typeface="+mn-lt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329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43A5A0-C6E6-4F5C-B2A4-C0CD8131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cs typeface="Calibri Light"/>
              </a:rPr>
              <a:t>Řídící příkazy a cykly</a:t>
            </a:r>
            <a:endParaRPr lang="cs-CZ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17C571-57BD-46E9-AF25-A9F2E9789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Příkazy deklarace</a:t>
            </a:r>
            <a:r>
              <a:rPr lang="cs-CZ" dirty="0"/>
              <a:t> - můžete použít k pojmenování a definování procedur, proměnných, vlastností, polí a konstant. Při deklaraci programovacího prvku můžete také definovat jeho datový typ, úroveň přístupu a rozsah.</a:t>
            </a:r>
          </a:p>
          <a:p>
            <a:r>
              <a:rPr lang="cs-CZ" dirty="0"/>
              <a:t>Následující příklad obsahuje tři deklarace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D04D0C8-C4FB-4702-BDEF-CC5A7A587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442" y="4032778"/>
            <a:ext cx="6505115" cy="206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1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CA31A3-D75A-4BCE-8453-87C9AC54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cs typeface="Calibri Light"/>
              </a:rPr>
              <a:t>Řídící příkazy a cykly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537A33-8597-417D-AAE7-96A4BE17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Spustitelné příkazy </a:t>
            </a:r>
            <a:r>
              <a:rPr lang="cs-CZ" dirty="0"/>
              <a:t>- Spustitelný příkaz provede akci. Může zavolat proceduru, větvení na jiné místo v kódu, projít několik příkazů nebo vyhodnotit výraz.</a:t>
            </a:r>
          </a:p>
          <a:p>
            <a:r>
              <a:rPr lang="cs-CZ" dirty="0"/>
              <a:t>Následující příklad používá </a:t>
            </a:r>
            <a:r>
              <a:rPr lang="cs-CZ" dirty="0" err="1"/>
              <a:t>If</a:t>
            </a:r>
            <a:r>
              <a:rPr lang="cs-CZ" dirty="0"/>
              <a:t>...</a:t>
            </a:r>
            <a:r>
              <a:rPr lang="cs-CZ" dirty="0" err="1"/>
              <a:t>Then</a:t>
            </a:r>
            <a:r>
              <a:rPr lang="cs-CZ" dirty="0"/>
              <a:t>...Else strukturu ovládacího prvku ke spouštění různých bloků kódu na základě hodnoty proměnné. V rámci každého bloku kódu </a:t>
            </a:r>
            <a:r>
              <a:rPr lang="cs-CZ" dirty="0" err="1"/>
              <a:t>For</a:t>
            </a:r>
            <a:r>
              <a:rPr lang="cs-CZ" dirty="0"/>
              <a:t>...</a:t>
            </a:r>
            <a:r>
              <a:rPr lang="cs-CZ" dirty="0" err="1"/>
              <a:t>Next</a:t>
            </a:r>
            <a:r>
              <a:rPr lang="cs-CZ" dirty="0"/>
              <a:t> cyklus spouští zadaný počet opakování.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2E740BB-6B1A-4CB1-B36A-470F149F2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4206622"/>
            <a:ext cx="481965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34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2F08CA-CAA9-4120-8E6D-0E65434F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cs typeface="Calibri Light"/>
              </a:rPr>
              <a:t>Řídící příkazy a cykly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3FE33B-037E-4C40-A177-768273D6E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u="sng" dirty="0"/>
              <a:t>Příkazy přiřazení </a:t>
            </a:r>
            <a:r>
              <a:rPr lang="cs-CZ" dirty="0"/>
              <a:t>- Příkazy přiřazení provádějí operace přiřazení, které se skládají z převzetí hodnoty na pravé straně operáto.ru přiřazení ( = ) a jejich uložení v elementu vlevo, jako v následujícím příkladu.</a:t>
            </a: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9D87DA8-8831-453F-A4E4-39FBD135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36" y="3579812"/>
            <a:ext cx="5857927" cy="163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7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D6586A-22F7-4A6E-A9BD-5510C65E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/>
              <a:t>Řídící příkazy a cykly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B19690-1175-40AB-95C1-BF862012C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Jaké jsou cykly ve VBA?</a:t>
            </a:r>
          </a:p>
          <a:p>
            <a:pPr lvl="1"/>
            <a:r>
              <a:rPr lang="cs-CZ" dirty="0"/>
              <a:t>DO</a:t>
            </a:r>
          </a:p>
          <a:p>
            <a:pPr lvl="1"/>
            <a:r>
              <a:rPr lang="cs-CZ" dirty="0"/>
              <a:t>FOR</a:t>
            </a:r>
          </a:p>
          <a:p>
            <a:pPr lvl="1"/>
            <a:r>
              <a:rPr lang="cs-CZ" dirty="0"/>
              <a:t>WHILE</a:t>
            </a:r>
          </a:p>
          <a:p>
            <a:pPr lvl="1"/>
            <a:r>
              <a:rPr lang="cs-CZ" dirty="0"/>
              <a:t>FOR EACH</a:t>
            </a:r>
          </a:p>
        </p:txBody>
      </p:sp>
    </p:spTree>
    <p:extLst>
      <p:ext uri="{BB962C8B-B14F-4D97-AF65-F5344CB8AC3E}">
        <p14:creationId xmlns:p14="http://schemas.microsoft.com/office/powerpoint/2010/main" val="226849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DDAF54-5700-4CC5-99AA-84BA52A3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5343" y="327721"/>
            <a:ext cx="11735655" cy="1798173"/>
          </a:xfrm>
        </p:spPr>
        <p:txBody>
          <a:bodyPr/>
          <a:lstStyle/>
          <a:p>
            <a:r>
              <a:rPr lang="cs-CZ" b="1">
                <a:ea typeface="+mj-lt"/>
                <a:cs typeface="+mj-lt"/>
              </a:rPr>
              <a:t>ŘÍDÍCÍ PŘÍKAZY A CYKLY – syntax a jeho součásti</a:t>
            </a:r>
            <a:endParaRPr lang="cs-CZ">
              <a:ea typeface="+mj-lt"/>
              <a:cs typeface="+mj-lt"/>
            </a:endParaRPr>
          </a:p>
        </p:txBody>
      </p:sp>
      <p:pic>
        <p:nvPicPr>
          <p:cNvPr id="4" name="Obrázek 4" descr="Obsah obrázku text&#10;&#10;Popis se vygeneroval automaticky.">
            <a:extLst>
              <a:ext uri="{FF2B5EF4-FFF2-40B4-BE49-F238E27FC236}">
                <a16:creationId xmlns:a16="http://schemas.microsoft.com/office/drawing/2014/main" id="{9AEAE1AD-F068-4D34-93CF-24D791E0D4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53665" y="2650978"/>
            <a:ext cx="7517258" cy="3101644"/>
          </a:xfr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7130987-7B81-4579-9323-8BBB888A6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144" y="2322986"/>
            <a:ext cx="5334000" cy="4024125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cs-CZ">
                <a:ea typeface="+mn-lt"/>
                <a:cs typeface="+mn-lt"/>
              </a:rPr>
              <a:t>Do { </a:t>
            </a:r>
            <a:r>
              <a:rPr lang="cs-CZ" err="1">
                <a:ea typeface="+mn-lt"/>
                <a:cs typeface="+mn-lt"/>
              </a:rPr>
              <a:t>While</a:t>
            </a:r>
            <a:r>
              <a:rPr lang="cs-CZ">
                <a:ea typeface="+mn-lt"/>
                <a:cs typeface="+mn-lt"/>
              </a:rPr>
              <a:t> | </a:t>
            </a:r>
            <a:r>
              <a:rPr lang="cs-CZ" err="1">
                <a:ea typeface="+mn-lt"/>
                <a:cs typeface="+mn-lt"/>
              </a:rPr>
              <a:t>Until</a:t>
            </a:r>
            <a:r>
              <a:rPr lang="cs-CZ">
                <a:ea typeface="+mn-lt"/>
                <a:cs typeface="+mn-lt"/>
              </a:rPr>
              <a:t> } </a:t>
            </a:r>
            <a:r>
              <a:rPr lang="cs-CZ" err="1">
                <a:ea typeface="+mn-lt"/>
                <a:cs typeface="+mn-lt"/>
              </a:rPr>
              <a:t>condition</a:t>
            </a:r>
            <a:endParaRPr lang="cs-CZ" err="1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statements</a:t>
            </a:r>
            <a:r>
              <a:rPr lang="cs-CZ">
                <a:ea typeface="+mn-lt"/>
                <a:cs typeface="+mn-lt"/>
              </a:rPr>
              <a:t>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Continue</a:t>
            </a:r>
            <a:r>
              <a:rPr lang="cs-CZ">
                <a:ea typeface="+mn-lt"/>
                <a:cs typeface="+mn-lt"/>
              </a:rPr>
              <a:t> Do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statements</a:t>
            </a:r>
            <a:r>
              <a:rPr lang="cs-CZ">
                <a:ea typeface="+mn-lt"/>
                <a:cs typeface="+mn-lt"/>
              </a:rPr>
              <a:t>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Exit Do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statements</a:t>
            </a:r>
            <a:r>
              <a:rPr lang="cs-CZ">
                <a:ea typeface="+mn-lt"/>
                <a:cs typeface="+mn-lt"/>
              </a:rPr>
              <a:t> ]</a:t>
            </a:r>
            <a:endParaRPr lang="cs-CZ"/>
          </a:p>
          <a:p>
            <a:r>
              <a:rPr lang="cs-CZ" err="1">
                <a:ea typeface="+mn-lt"/>
                <a:cs typeface="+mn-lt"/>
              </a:rPr>
              <a:t>Loop</a:t>
            </a:r>
            <a:endParaRPr lang="cs-CZ" err="1"/>
          </a:p>
          <a:p>
            <a:r>
              <a:rPr lang="cs-CZ">
                <a:ea typeface="+mn-lt"/>
                <a:cs typeface="+mn-lt"/>
              </a:rPr>
              <a:t>' -</a:t>
            </a:r>
            <a:r>
              <a:rPr lang="cs-CZ" err="1">
                <a:ea typeface="+mn-lt"/>
                <a:cs typeface="+mn-lt"/>
              </a:rPr>
              <a:t>or</a:t>
            </a:r>
            <a:r>
              <a:rPr lang="cs-CZ">
                <a:ea typeface="+mn-lt"/>
                <a:cs typeface="+mn-lt"/>
              </a:rPr>
              <a:t>-</a:t>
            </a:r>
            <a:endParaRPr lang="cs-CZ"/>
          </a:p>
          <a:p>
            <a:r>
              <a:rPr lang="cs-CZ">
                <a:ea typeface="+mn-lt"/>
                <a:cs typeface="+mn-lt"/>
              </a:rPr>
              <a:t>Do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statements</a:t>
            </a:r>
            <a:r>
              <a:rPr lang="cs-CZ">
                <a:ea typeface="+mn-lt"/>
                <a:cs typeface="+mn-lt"/>
              </a:rPr>
              <a:t>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Continue</a:t>
            </a:r>
            <a:r>
              <a:rPr lang="cs-CZ">
                <a:ea typeface="+mn-lt"/>
                <a:cs typeface="+mn-lt"/>
              </a:rPr>
              <a:t> Do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statements</a:t>
            </a:r>
            <a:r>
              <a:rPr lang="cs-CZ">
                <a:ea typeface="+mn-lt"/>
                <a:cs typeface="+mn-lt"/>
              </a:rPr>
              <a:t>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Exit Do ]</a:t>
            </a:r>
            <a:endParaRPr lang="cs-CZ"/>
          </a:p>
          <a:p>
            <a:r>
              <a:rPr lang="cs-CZ">
                <a:ea typeface="+mn-lt"/>
                <a:cs typeface="+mn-lt"/>
              </a:rPr>
              <a:t>    [ </a:t>
            </a:r>
            <a:r>
              <a:rPr lang="cs-CZ" err="1">
                <a:ea typeface="+mn-lt"/>
                <a:cs typeface="+mn-lt"/>
              </a:rPr>
              <a:t>statements</a:t>
            </a:r>
            <a:r>
              <a:rPr lang="cs-CZ">
                <a:ea typeface="+mn-lt"/>
                <a:cs typeface="+mn-lt"/>
              </a:rPr>
              <a:t> ]</a:t>
            </a:r>
            <a:endParaRPr lang="cs-CZ"/>
          </a:p>
          <a:p>
            <a:r>
              <a:rPr lang="cs-CZ" err="1">
                <a:ea typeface="+mn-lt"/>
                <a:cs typeface="+mn-lt"/>
              </a:rPr>
              <a:t>Loop</a:t>
            </a:r>
            <a:r>
              <a:rPr lang="cs-CZ">
                <a:ea typeface="+mn-lt"/>
                <a:cs typeface="+mn-lt"/>
              </a:rPr>
              <a:t> { </a:t>
            </a:r>
            <a:r>
              <a:rPr lang="cs-CZ" err="1">
                <a:ea typeface="+mn-lt"/>
                <a:cs typeface="+mn-lt"/>
              </a:rPr>
              <a:t>While</a:t>
            </a:r>
            <a:r>
              <a:rPr lang="cs-CZ">
                <a:ea typeface="+mn-lt"/>
                <a:cs typeface="+mn-lt"/>
              </a:rPr>
              <a:t> | </a:t>
            </a:r>
            <a:r>
              <a:rPr lang="cs-CZ" err="1">
                <a:ea typeface="+mn-lt"/>
                <a:cs typeface="+mn-lt"/>
              </a:rPr>
              <a:t>Until</a:t>
            </a:r>
            <a:r>
              <a:rPr lang="cs-CZ">
                <a:ea typeface="+mn-lt"/>
                <a:cs typeface="+mn-lt"/>
              </a:rPr>
              <a:t> } </a:t>
            </a:r>
            <a:r>
              <a:rPr lang="cs-CZ" err="1">
                <a:ea typeface="+mn-lt"/>
                <a:cs typeface="+mn-lt"/>
              </a:rPr>
              <a:t>condition</a:t>
            </a:r>
            <a:endParaRPr lang="cs-CZ" err="1"/>
          </a:p>
        </p:txBody>
      </p:sp>
    </p:spTree>
    <p:extLst>
      <p:ext uri="{BB962C8B-B14F-4D97-AF65-F5344CB8AC3E}">
        <p14:creationId xmlns:p14="http://schemas.microsoft.com/office/powerpoint/2010/main" val="410140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18B6F7-A630-4E1D-9D94-29596D20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432" y="2027766"/>
            <a:ext cx="10820400" cy="2802467"/>
          </a:xfrm>
        </p:spPr>
        <p:txBody>
          <a:bodyPr/>
          <a:lstStyle/>
          <a:p>
            <a:pPr algn="ctr"/>
            <a:r>
              <a:rPr lang="cs-CZ" dirty="0"/>
              <a:t>Děkujeme za pozornost</a:t>
            </a:r>
          </a:p>
        </p:txBody>
      </p:sp>
    </p:spTree>
    <p:extLst>
      <p:ext uri="{BB962C8B-B14F-4D97-AF65-F5344CB8AC3E}">
        <p14:creationId xmlns:p14="http://schemas.microsoft.com/office/powerpoint/2010/main" val="3758967242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ační stopa">
  <a:themeElements>
    <a:clrScheme name="Kondenzační stopa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ační stop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ační stop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59C16900BF3C84C806C5566D020048C" ma:contentTypeVersion="13" ma:contentTypeDescription="Vytvoří nový dokument" ma:contentTypeScope="" ma:versionID="4c8e223ae48471e87e12997df9a70c8c">
  <xsd:schema xmlns:xsd="http://www.w3.org/2001/XMLSchema" xmlns:xs="http://www.w3.org/2001/XMLSchema" xmlns:p="http://schemas.microsoft.com/office/2006/metadata/properties" xmlns:ns3="8a2566b3-0032-496b-9d41-ef14fc7edfa2" xmlns:ns4="f68bb565-1df8-4be2-9e7c-fc45c984e0f8" targetNamespace="http://schemas.microsoft.com/office/2006/metadata/properties" ma:root="true" ma:fieldsID="ac307bd0763b984817ba1f2cd872c202" ns3:_="" ns4:_="">
    <xsd:import namespace="8a2566b3-0032-496b-9d41-ef14fc7edfa2"/>
    <xsd:import namespace="f68bb565-1df8-4be2-9e7c-fc45c984e0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2566b3-0032-496b-9d41-ef14fc7edf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bb565-1df8-4be2-9e7c-fc45c984e0f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9CC818-F390-4B36-A27E-5398005E18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4151A8-6C09-464E-9A25-8769558BE521}">
  <ds:schemaRefs>
    <ds:schemaRef ds:uri="8a2566b3-0032-496b-9d41-ef14fc7edfa2"/>
    <ds:schemaRef ds:uri="f68bb565-1df8-4be2-9e7c-fc45c984e0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1FE1275-0C31-4D3A-8FDD-EA5B9DF2F88C}">
  <ds:schemaRefs>
    <ds:schemaRef ds:uri="8a2566b3-0032-496b-9d41-ef14fc7edfa2"/>
    <ds:schemaRef ds:uri="f68bb565-1df8-4be2-9e7c-fc45c984e0f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TM04033937[[fn=Kondenzační stopa]]</Template>
  <TotalTime>105</TotalTime>
  <Words>1200</Words>
  <Application>Microsoft Office PowerPoint</Application>
  <PresentationFormat>Širokoúhlá obrazovka</PresentationFormat>
  <Paragraphs>99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Helvetica Neue</vt:lpstr>
      <vt:lpstr>Kondenzační stopa</vt:lpstr>
      <vt:lpstr>Databázový procesor – VBA I </vt:lpstr>
      <vt:lpstr>Používaný software</vt:lpstr>
      <vt:lpstr>Moduly</vt:lpstr>
      <vt:lpstr>Datové typy</vt:lpstr>
      <vt:lpstr>Datové typy</vt:lpstr>
      <vt:lpstr>Datové typy</vt:lpstr>
      <vt:lpstr>Datové typy</vt:lpstr>
      <vt:lpstr>konstanty</vt:lpstr>
      <vt:lpstr>proměnné</vt:lpstr>
      <vt:lpstr>Zápis kódu - GOTO</vt:lpstr>
      <vt:lpstr>Zápis kódu - přehlednost kódu</vt:lpstr>
      <vt:lpstr>Zápis kódu - řídící příkazy</vt:lpstr>
      <vt:lpstr>Řídící příkazy a cykly</vt:lpstr>
      <vt:lpstr>Řídící příkazy a cykly</vt:lpstr>
      <vt:lpstr>Řídící příkazy a cykly</vt:lpstr>
      <vt:lpstr>Řídící příkazy a cykly</vt:lpstr>
      <vt:lpstr>ŘÍDÍCÍ PŘÍKAZY A CYKLY – syntax a jeho součásti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Kváš Lukáš</dc:creator>
  <cp:lastModifiedBy>Kváš Lukáš</cp:lastModifiedBy>
  <cp:revision>2</cp:revision>
  <dcterms:created xsi:type="dcterms:W3CDTF">2022-03-15T19:27:45Z</dcterms:created>
  <dcterms:modified xsi:type="dcterms:W3CDTF">2022-03-15T21:12:56Z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0x010100359C16900BF3C84C806C5566D020048C</vt:lpwstr>
  </property>
</Properties>
</file>