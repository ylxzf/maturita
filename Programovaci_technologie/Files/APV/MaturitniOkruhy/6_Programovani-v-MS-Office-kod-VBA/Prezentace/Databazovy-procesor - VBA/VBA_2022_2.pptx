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3" r:id="rId3"/>
    <p:sldId id="257" r:id="rId4"/>
    <p:sldId id="258" r:id="rId5"/>
    <p:sldId id="260" r:id="rId6"/>
    <p:sldId id="259" r:id="rId7"/>
    <p:sldId id="264" r:id="rId8"/>
    <p:sldId id="265" r:id="rId9"/>
    <p:sldId id="262" r:id="rId10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42EE6-3D14-2B86-B2EB-BB7A37DEFCD9}" v="595" dt="2022-03-29T17:35:21.293"/>
    <p1510:client id="{2EF38D65-AC74-6147-615E-B6FFFDC39B05}" v="6" dt="2022-03-15T20:44:35.098"/>
    <p1510:client id="{5ED57352-DE2B-7627-64C8-5C237DB300A9}" v="957" dt="2022-03-15T20:42:50.671"/>
    <p1510:client id="{7DBAC559-26E1-12D6-112A-6C6CE910F035}" v="235" dt="2022-03-29T16:49:38.235"/>
    <p1510:client id="{81D2D280-1FDD-CDB9-0F92-253149D25367}" v="77" dt="2022-03-15T20:53:10.459"/>
    <p1510:client id="{C1E0B366-8F79-70CA-D63A-B05BFA10518C}" v="1027" dt="2022-03-15T20:38:55.731"/>
    <p1510:client id="{DD56023B-6DCC-3E05-DC9E-AFACEAF4048B}" v="538" dt="2022-03-29T17:33:51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6EDE8D6-CCE1-46E0-87F9-71FC3C1CA7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F092703-85BE-414D-A636-744A36A9B0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EDA8D-F985-4870-A77D-239A62DBF3A3}" type="datetime1">
              <a:rPr lang="cs-CZ" smtClean="0"/>
              <a:t>29.03.2022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EBDEE86-7CCA-47BA-817A-2DA9D32925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6619FF4-9DFD-4EF0-9100-2AFF2EE85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AD06F-0700-4B89-BC7B-4661042DCA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4825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50A0E-D71B-4BC5-B6CE-DF54F01DC169}" type="datetime1">
              <a:rPr lang="cs-CZ" noProof="0" smtClean="0"/>
              <a:pPr/>
              <a:t>29.03.2022</a:t>
            </a:fld>
            <a:endParaRPr lang="cs-CZ" noProof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Po kliknutí můžete upravovat styly textu v předloze.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4E337-12CE-4DD0-B8CF-2F53D0746A67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952424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4E337-12CE-4DD0-B8CF-2F53D0746A67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031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kupina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Obdélník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rtlCol="0" anchor="b"/>
          <a:lstStyle>
            <a:lvl1pPr>
              <a:defRPr sz="54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rtlCol="0"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 rtl="0"/>
            <a:fld id="{FBC5744A-8398-43FE-94F9-CA7CCAA9D7C1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 rtlCol="0"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11" name="Obdélník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154954" y="2603500"/>
            <a:ext cx="8825659" cy="3416300"/>
          </a:xfrm>
        </p:spPr>
        <p:txBody>
          <a:bodyPr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CD3CBC-6DB4-4A1E-986F-F1F8AA097478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kupina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Obdélník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á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á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á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bdélník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Volný tvar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Volný tvar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rtlCol="0" anchor="ctr"/>
          <a:lstStyle>
            <a:lvl1pPr algn="l">
              <a:defRPr sz="4000" b="0" cap="none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95559" y="2677644"/>
            <a:ext cx="3757545" cy="2283824"/>
          </a:xfrm>
        </p:spPr>
        <p:txBody>
          <a:bodyPr rtlCol="0"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BA21FE-EBDF-44E5-8485-E91D4F15E1B8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6" name="Obdélník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154954" y="2603500"/>
            <a:ext cx="4825158" cy="3416301"/>
          </a:xfrm>
        </p:spPr>
        <p:txBody>
          <a:bodyPr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208712" y="2603500"/>
            <a:ext cx="4825159" cy="3416300"/>
          </a:xfrm>
        </p:spPr>
        <p:txBody>
          <a:bodyPr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FC2656-929C-4993-B73C-A052C30C1A45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154954" y="2603500"/>
            <a:ext cx="482515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1154954" y="3179762"/>
            <a:ext cx="4825158" cy="2840039"/>
          </a:xfrm>
        </p:spPr>
        <p:txBody>
          <a:bodyPr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208712" y="2603500"/>
            <a:ext cx="482515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208712" y="3179762"/>
            <a:ext cx="4825159" cy="2840039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D57E6F-8016-4BB6-AB9F-AAD203ED8414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6C3221-8253-4EC6-9D53-083E13D0B8F3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AF38C3-ADC7-46CD-8C62-9313060345D0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Obdélník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kupina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Obdélník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á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á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á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á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bdélník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Volný tvar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Volný tvar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5781146" y="1447800"/>
            <a:ext cx="5190066" cy="45720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 bwMode="gray">
          <a:xfrm>
            <a:off x="1154954" y="3129280"/>
            <a:ext cx="2793158" cy="2895599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EA3D0B-7DB5-4198-B7B3-780054B84551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6" name="Obdélník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kupina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Obdélník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á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á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á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bdélník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Volný tvar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Volný tvar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 rtl="0">
              <a:buNone/>
            </a:pPr>
            <a:r>
              <a:rPr lang="cs-CZ" noProof="0"/>
              <a:t>Po kliknutí na ikonu můžete přidat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 bwMode="gray">
          <a:xfrm>
            <a:off x="1154954" y="3657600"/>
            <a:ext cx="3859212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9419A2-91F3-4CDA-A71C-726630D923A4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6" name="Obdélník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kupina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Obdélník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á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á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á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Volný tvar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Volný tvar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5536665"/>
            <a:ext cx="8825658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A53855-69B7-4126-84B1-EE4F89282182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6" name="Obdélník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dpis a titul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kupina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Obdélník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á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á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á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Volný tvar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Volný tvar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 rtlCol="0"/>
          <a:lstStyle>
            <a:lvl1pPr>
              <a:defRPr sz="40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8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543300"/>
            <a:ext cx="8825659" cy="24765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6EDFD9-57D2-430F-8A57-3AEE35F25AB6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3" name="Obdélník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kupina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Obdélník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á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á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á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á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á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Volný tvar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Volný tvar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ové pole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9600" b="0" i="0" noProof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„</a:t>
            </a:r>
          </a:p>
        </p:txBody>
      </p:sp>
      <p:sp>
        <p:nvSpPr>
          <p:cNvPr id="13" name="Textové pole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9600" b="0" i="0" noProof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 rtlCol="0"/>
          <a:lstStyle>
            <a:lvl1pPr>
              <a:defRPr sz="40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14" name="Zástupný symbol pro text 3"/>
          <p:cNvSpPr>
            <a:spLocks noGrp="1"/>
          </p:cNvSpPr>
          <p:nvPr>
            <p:ph type="body" sz="half" idx="13" hasCustomPrompt="1"/>
          </p:nvPr>
        </p:nvSpPr>
        <p:spPr bwMode="gray">
          <a:xfrm>
            <a:off x="1945945" y="3678766"/>
            <a:ext cx="773121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10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5029199"/>
            <a:ext cx="9244897" cy="9978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80C503-F45F-489A-BB2F-4F607FFA39BF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9" name="Obdélník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kupina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Obdélník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á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á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á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Volný tvar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Volný tvar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154954" y="5024967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91DC0D-5487-405D-A6B1-F8F222005258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4" name="Obdélník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 rtlCol="0"/>
          <a:lstStyle>
            <a:lvl1pPr>
              <a:defRPr sz="36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154954" y="2603502"/>
            <a:ext cx="314187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16" name="Zástupný symbol pro text 3"/>
          <p:cNvSpPr>
            <a:spLocks noGrp="1"/>
          </p:cNvSpPr>
          <p:nvPr>
            <p:ph type="body" sz="half" idx="15" hasCustomPrompt="1"/>
          </p:nvPr>
        </p:nvSpPr>
        <p:spPr>
          <a:xfrm>
            <a:off x="1154953" y="3179764"/>
            <a:ext cx="3141879" cy="284729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512721" y="2603500"/>
            <a:ext cx="314700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19" name="Zástupný symbol pro text 3"/>
          <p:cNvSpPr>
            <a:spLocks noGrp="1"/>
          </p:cNvSpPr>
          <p:nvPr>
            <p:ph type="body" sz="half" idx="16" hasCustomPrompt="1"/>
          </p:nvPr>
        </p:nvSpPr>
        <p:spPr>
          <a:xfrm>
            <a:off x="4512721" y="3179763"/>
            <a:ext cx="3147009" cy="284729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14" name="Zástupný symbol pro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7888135" y="2603501"/>
            <a:ext cx="314573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20" name="Zástupný symbol pro text 3"/>
          <p:cNvSpPr>
            <a:spLocks noGrp="1"/>
          </p:cNvSpPr>
          <p:nvPr>
            <p:ph type="body" sz="half" idx="17" hasCustomPrompt="1"/>
          </p:nvPr>
        </p:nvSpPr>
        <p:spPr>
          <a:xfrm>
            <a:off x="7888329" y="3179762"/>
            <a:ext cx="3145536" cy="284729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cxnSp>
        <p:nvCxnSpPr>
          <p:cNvPr id="17" name="Přímá spojnice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A255B-D581-46BD-9D9C-CB92139235C5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 rtlCol="0"/>
          <a:lstStyle>
            <a:lvl1pPr>
              <a:defRPr sz="36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154954" y="4532844"/>
            <a:ext cx="30504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19" name="Zástupný symbol obrázku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22" name="Zástupný symbol pro text 3"/>
          <p:cNvSpPr>
            <a:spLocks noGrp="1"/>
          </p:cNvSpPr>
          <p:nvPr>
            <p:ph type="body" sz="half" idx="18" hasCustomPrompt="1"/>
          </p:nvPr>
        </p:nvSpPr>
        <p:spPr>
          <a:xfrm>
            <a:off x="1154954" y="5109106"/>
            <a:ext cx="3050438" cy="91795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568865" y="4532844"/>
            <a:ext cx="3050438" cy="576263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1" name="Zástupný symbol obrázku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23" name="Zástupný symbol pro text 3"/>
          <p:cNvSpPr>
            <a:spLocks noGrp="1"/>
          </p:cNvSpPr>
          <p:nvPr>
            <p:ph type="body" sz="half" idx="19" hasCustomPrompt="1"/>
          </p:nvPr>
        </p:nvSpPr>
        <p:spPr>
          <a:xfrm>
            <a:off x="4570172" y="5109105"/>
            <a:ext cx="3050438" cy="91795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14" name="Zástupný symbol pro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7982775" y="4532845"/>
            <a:ext cx="305109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2" name="Zástupný symbol obrázku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24" name="Zástupný symbol pro text 3"/>
          <p:cNvSpPr>
            <a:spLocks noGrp="1"/>
          </p:cNvSpPr>
          <p:nvPr>
            <p:ph type="body" sz="half" idx="20" hasCustomPrompt="1"/>
          </p:nvPr>
        </p:nvSpPr>
        <p:spPr>
          <a:xfrm>
            <a:off x="7982775" y="5109104"/>
            <a:ext cx="3051096" cy="91795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cxnSp>
        <p:nvCxnSpPr>
          <p:cNvPr id="43" name="Přímá spojnice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Přímá spojnice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4A101F-B92C-4CE4-A244-D64BB4E527A6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1154954" y="2603500"/>
            <a:ext cx="8825659" cy="3416300"/>
          </a:xfrm>
        </p:spPr>
        <p:txBody>
          <a:bodyPr vert="eaVert" rtlCol="0" anchor="t" anchorCtr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 rtlCol="0"/>
          <a:lstStyle/>
          <a:p>
            <a:pPr rtl="0"/>
            <a:fld id="{61B1B38A-9122-41C0-A60A-BC4A8DB19585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kupina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Obdélník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á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á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á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á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bdélník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Volný tvar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Volný tvar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rtlCol="0" anchor="b" anchorCtr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1154954" y="1278467"/>
            <a:ext cx="6256025" cy="4748590"/>
          </a:xfrm>
        </p:spPr>
        <p:txBody>
          <a:bodyPr vert="eaVert"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 rtlCol="0"/>
          <a:lstStyle/>
          <a:p>
            <a:pPr rtl="0"/>
            <a:fld id="{3B3D937F-2D94-4FE0-B264-02E228D4B4D3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14" name="Obdélník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kupina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Obdélník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á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á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á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á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á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Volný tvar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Volný tvar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Volný tvar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rtl="0"/>
            <a:fld id="{9A061436-E988-40CF-B102-2A634664A880}" type="datetime1">
              <a:rPr lang="cs-CZ" noProof="0" smtClean="0"/>
              <a:t>29.03.2022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21" name="Obdélník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77023" y="120602"/>
            <a:ext cx="10237089" cy="1144989"/>
          </a:xfrm>
        </p:spPr>
        <p:txBody>
          <a:bodyPr rtlCol="0"/>
          <a:lstStyle/>
          <a:p>
            <a:r>
              <a:rPr lang="cs-CZ" b="1">
                <a:solidFill>
                  <a:srgbClr val="FFFF00"/>
                </a:solidFill>
                <a:ea typeface="+mj-lt"/>
                <a:cs typeface="+mj-lt"/>
              </a:rPr>
              <a:t>Databázový procesor - VBA II</a:t>
            </a:r>
            <a:endParaRPr lang="cs-CZ">
              <a:solidFill>
                <a:srgbClr val="FFFF00"/>
              </a:solidFill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284841" y="2448084"/>
            <a:ext cx="8825658" cy="19697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4800"/>
              <a:t>- Prvky formuláře</a:t>
            </a:r>
          </a:p>
          <a:p>
            <a:r>
              <a:rPr lang="cs-CZ" sz="4800"/>
              <a:t>- procedury</a:t>
            </a:r>
          </a:p>
          <a:p>
            <a:r>
              <a:rPr lang="cs-CZ" sz="4800"/>
              <a:t>- funkce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4378DD0-2889-48F3-96E7-59F1845DD43A}"/>
              </a:ext>
            </a:extLst>
          </p:cNvPr>
          <p:cNvSpPr txBox="1"/>
          <p:nvPr/>
        </p:nvSpPr>
        <p:spPr>
          <a:xfrm>
            <a:off x="8460058" y="1137424"/>
            <a:ext cx="3310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err="1">
                <a:solidFill>
                  <a:srgbClr val="FFFF00"/>
                </a:solidFill>
              </a:rPr>
              <a:t>Visual</a:t>
            </a:r>
            <a:r>
              <a:rPr lang="cs-CZ" b="1">
                <a:solidFill>
                  <a:srgbClr val="FFFF00"/>
                </a:solidFill>
              </a:rPr>
              <a:t> Basic </a:t>
            </a:r>
            <a:r>
              <a:rPr lang="cs-CZ" b="1" err="1">
                <a:solidFill>
                  <a:srgbClr val="FFFF00"/>
                </a:solidFill>
              </a:rPr>
              <a:t>for</a:t>
            </a:r>
            <a:r>
              <a:rPr lang="cs-CZ" b="1">
                <a:solidFill>
                  <a:srgbClr val="FFFF00"/>
                </a:solidFill>
              </a:rPr>
              <a:t> </a:t>
            </a:r>
            <a:r>
              <a:rPr lang="cs-CZ" b="1" err="1">
                <a:solidFill>
                  <a:srgbClr val="FFFF00"/>
                </a:solidFill>
              </a:rPr>
              <a:t>Applications</a:t>
            </a:r>
            <a:endParaRPr lang="cs-CZ" err="1"/>
          </a:p>
        </p:txBody>
      </p:sp>
    </p:spTree>
    <p:extLst>
      <p:ext uri="{BB962C8B-B14F-4D97-AF65-F5344CB8AC3E}">
        <p14:creationId xmlns:p14="http://schemas.microsoft.com/office/powerpoint/2010/main" val="35632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592D43CC-1EBD-ACC2-3763-D732091880E9}"/>
              </a:ext>
            </a:extLst>
          </p:cNvPr>
          <p:cNvSpPr txBox="1">
            <a:spLocks/>
          </p:cNvSpPr>
          <p:nvPr/>
        </p:nvSpPr>
        <p:spPr bwMode="gray">
          <a:xfrm>
            <a:off x="1093707" y="253868"/>
            <a:ext cx="10237089" cy="1144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sz="5400" b="1">
                <a:solidFill>
                  <a:srgbClr val="FFFF00"/>
                </a:solidFill>
                <a:ea typeface="+mj-lt"/>
                <a:cs typeface="+mj-lt"/>
              </a:rPr>
              <a:t>Databázový procesor - VBA II</a:t>
            </a:r>
            <a:endParaRPr lang="cs-CZ" sz="5400">
              <a:solidFill>
                <a:srgbClr val="FFFF00"/>
              </a:solidFill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A85676CB-8039-69F3-5092-2C6BEF028741}"/>
              </a:ext>
            </a:extLst>
          </p:cNvPr>
          <p:cNvSpPr txBox="1"/>
          <p:nvPr/>
        </p:nvSpPr>
        <p:spPr>
          <a:xfrm>
            <a:off x="8460058" y="1137424"/>
            <a:ext cx="3310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err="1">
                <a:solidFill>
                  <a:srgbClr val="FFFF00"/>
                </a:solidFill>
              </a:rPr>
              <a:t>Visual</a:t>
            </a:r>
            <a:r>
              <a:rPr lang="cs-CZ" b="1">
                <a:solidFill>
                  <a:srgbClr val="FFFF00"/>
                </a:solidFill>
              </a:rPr>
              <a:t> Basic </a:t>
            </a:r>
            <a:r>
              <a:rPr lang="cs-CZ" b="1" err="1">
                <a:solidFill>
                  <a:srgbClr val="FFFF00"/>
                </a:solidFill>
              </a:rPr>
              <a:t>for</a:t>
            </a:r>
            <a:r>
              <a:rPr lang="cs-CZ" b="1">
                <a:solidFill>
                  <a:srgbClr val="FFFF00"/>
                </a:solidFill>
              </a:rPr>
              <a:t> </a:t>
            </a:r>
            <a:r>
              <a:rPr lang="cs-CZ" b="1" err="1">
                <a:solidFill>
                  <a:srgbClr val="FFFF00"/>
                </a:solidFill>
              </a:rPr>
              <a:t>Applications</a:t>
            </a:r>
            <a:endParaRPr lang="cs-CZ" err="1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2F15511-261E-1440-4077-947E553117FB}"/>
              </a:ext>
            </a:extLst>
          </p:cNvPr>
          <p:cNvSpPr txBox="1"/>
          <p:nvPr/>
        </p:nvSpPr>
        <p:spPr>
          <a:xfrm>
            <a:off x="1063717" y="1613041"/>
            <a:ext cx="1007322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>
                <a:solidFill>
                  <a:schemeClr val="accent1">
                    <a:lumMod val="60000"/>
                    <a:lumOff val="40000"/>
                  </a:schemeClr>
                </a:solidFill>
              </a:rPr>
              <a:t>Co je to VBA?</a:t>
            </a:r>
            <a:r>
              <a:rPr lang="cs-CZ"/>
              <a:t> - </a:t>
            </a:r>
            <a:r>
              <a:rPr lang="cs-CZ">
                <a:ea typeface="+mn-lt"/>
                <a:cs typeface="+mn-lt"/>
              </a:rPr>
              <a:t>VBA neboli </a:t>
            </a:r>
            <a:r>
              <a:rPr lang="cs-CZ" err="1">
                <a:ea typeface="+mn-lt"/>
                <a:cs typeface="+mn-lt"/>
              </a:rPr>
              <a:t>Visual</a:t>
            </a:r>
            <a:r>
              <a:rPr lang="cs-CZ">
                <a:ea typeface="+mn-lt"/>
                <a:cs typeface="+mn-lt"/>
              </a:rPr>
              <a:t> Basic </a:t>
            </a:r>
            <a:r>
              <a:rPr lang="cs-CZ" err="1">
                <a:ea typeface="+mn-lt"/>
                <a:cs typeface="+mn-lt"/>
              </a:rPr>
              <a:t>for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err="1">
                <a:ea typeface="+mn-lt"/>
                <a:cs typeface="+mn-lt"/>
              </a:rPr>
              <a:t>Application</a:t>
            </a:r>
            <a:r>
              <a:rPr lang="cs-CZ">
                <a:ea typeface="+mn-lt"/>
                <a:cs typeface="+mn-lt"/>
              </a:rPr>
              <a:t>. Vychází z VB (</a:t>
            </a:r>
            <a:r>
              <a:rPr lang="cs-CZ" err="1">
                <a:ea typeface="+mn-lt"/>
                <a:cs typeface="+mn-lt"/>
              </a:rPr>
              <a:t>Visual</a:t>
            </a:r>
            <a:r>
              <a:rPr lang="cs-CZ">
                <a:ea typeface="+mn-lt"/>
                <a:cs typeface="+mn-lt"/>
              </a:rPr>
              <a:t> Basic), ze kterého je odvozen a upraven pro produkty MS Office. Každý z produktů MS office (Word, Excel, PowerPoint atd. má k dispozici VBA). Podobně VBA naleznete v dalších SW produktech.</a:t>
            </a:r>
          </a:p>
          <a:p>
            <a:endParaRPr lang="cs-CZ">
              <a:ea typeface="+mn-lt"/>
              <a:cs typeface="+mn-lt"/>
            </a:endParaRPr>
          </a:p>
          <a:p>
            <a:r>
              <a:rPr lang="cs-CZ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Co je to databázový procesor?</a:t>
            </a:r>
            <a:r>
              <a:rPr lang="cs-CZ">
                <a:ea typeface="+mn-lt"/>
                <a:cs typeface="+mn-lt"/>
              </a:rPr>
              <a:t> - Nástroj pro správu velkého objemu dat. Jednotlivé akce jsou zde dopředu obecně naprogramovány a vedeny pod pojmem jako např. Tabulka, dotazy, formuláře, sestavy a další.</a:t>
            </a:r>
          </a:p>
          <a:p>
            <a:endParaRPr lang="cs-CZ">
              <a:ea typeface="+mn-lt"/>
              <a:cs typeface="+mn-lt"/>
            </a:endParaRPr>
          </a:p>
          <a:p>
            <a:r>
              <a:rPr lang="cs-CZ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Jaké známe databázové procesory? </a:t>
            </a:r>
            <a:r>
              <a:rPr lang="cs-CZ">
                <a:ea typeface="+mn-lt"/>
                <a:cs typeface="+mn-lt"/>
              </a:rPr>
              <a:t>- MS Access, MS </a:t>
            </a:r>
            <a:r>
              <a:rPr lang="cs-CZ" err="1">
                <a:ea typeface="+mn-lt"/>
                <a:cs typeface="+mn-lt"/>
              </a:rPr>
              <a:t>Visual</a:t>
            </a:r>
            <a:r>
              <a:rPr lang="cs-CZ">
                <a:ea typeface="+mn-lt"/>
                <a:cs typeface="+mn-lt"/>
              </a:rPr>
              <a:t> FoxPro, </a:t>
            </a:r>
            <a:r>
              <a:rPr lang="cs-CZ" err="1">
                <a:ea typeface="+mn-lt"/>
                <a:cs typeface="+mn-lt"/>
              </a:rPr>
              <a:t>FireBird</a:t>
            </a:r>
            <a:r>
              <a:rPr lang="cs-CZ">
                <a:ea typeface="+mn-lt"/>
                <a:cs typeface="+mn-lt"/>
              </a:rPr>
              <a:t>, Oracle database.</a:t>
            </a:r>
          </a:p>
        </p:txBody>
      </p:sp>
    </p:spTree>
    <p:extLst>
      <p:ext uri="{BB962C8B-B14F-4D97-AF65-F5344CB8AC3E}">
        <p14:creationId xmlns:p14="http://schemas.microsoft.com/office/powerpoint/2010/main" val="1609529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C3E4E97-C01C-48D6-ABC4-1B0020EF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cs-CZ" sz="3200">
                <a:solidFill>
                  <a:schemeClr val="tx1"/>
                </a:solidFill>
              </a:rPr>
              <a:t>Formulář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4E8A4C-D04C-4252-8C49-E336BA239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424" y="1059025"/>
            <a:ext cx="5302189" cy="47399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>
                <a:solidFill>
                  <a:schemeClr val="tx1"/>
                </a:solidFill>
                <a:ea typeface="+mn-lt"/>
                <a:cs typeface="+mn-lt"/>
              </a:rPr>
              <a:t> Je dokument navržený se standardní strukturou a formátem, který usnadňuje zaznamenávání, uspořádání a úpravy informací.</a:t>
            </a:r>
            <a:endParaRPr lang="cs-C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87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DD0E3C-E726-4F0D-B083-FA3E0543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Ovládací prvky formulářů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3ACE52-9992-485C-8033-B8D8B8A37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cs-CZ">
                <a:ea typeface="+mn-lt"/>
                <a:cs typeface="+mn-lt"/>
              </a:rPr>
              <a:t>Popisek (Label) - Označuje účel buňky nebo textového pole nebo zobrazuje popisný text</a:t>
            </a:r>
            <a:endParaRPr lang="cs-CZ"/>
          </a:p>
          <a:p>
            <a:pPr>
              <a:lnSpc>
                <a:spcPct val="160000"/>
              </a:lnSpc>
            </a:pPr>
            <a:r>
              <a:rPr lang="cs-CZ"/>
              <a:t>Tlačítko (</a:t>
            </a:r>
            <a:r>
              <a:rPr lang="cs-CZ" err="1"/>
              <a:t>Button</a:t>
            </a:r>
            <a:r>
              <a:rPr lang="cs-CZ"/>
              <a:t>) - </a:t>
            </a:r>
            <a:r>
              <a:rPr lang="cs-CZ">
                <a:ea typeface="+mn-lt"/>
                <a:cs typeface="+mn-lt"/>
              </a:rPr>
              <a:t>Pokud na ně uživatel klikne, spustí makro, které provede určitou akci</a:t>
            </a:r>
          </a:p>
          <a:p>
            <a:pPr>
              <a:lnSpc>
                <a:spcPct val="160000"/>
              </a:lnSpc>
            </a:pPr>
            <a:r>
              <a:rPr lang="cs-CZ"/>
              <a:t>Zaškrtávací políčko (</a:t>
            </a:r>
            <a:r>
              <a:rPr lang="cs-CZ" err="1"/>
              <a:t>CheckBox</a:t>
            </a:r>
            <a:r>
              <a:rPr lang="cs-CZ"/>
              <a:t>) - </a:t>
            </a:r>
            <a:r>
              <a:rPr lang="cs-CZ">
                <a:ea typeface="+mn-lt"/>
                <a:cs typeface="+mn-lt"/>
              </a:rPr>
              <a:t>Zapne nebo vypne hodnotu, která označuje protikladnou a nedvojsmyslnou volbu.</a:t>
            </a:r>
          </a:p>
          <a:p>
            <a:pPr>
              <a:lnSpc>
                <a:spcPct val="160000"/>
              </a:lnSpc>
            </a:pPr>
            <a:r>
              <a:rPr lang="en-US" err="1">
                <a:ea typeface="+mn-lt"/>
                <a:cs typeface="+mn-lt"/>
              </a:rPr>
              <a:t>Číselník</a:t>
            </a:r>
            <a:r>
              <a:rPr lang="en-US">
                <a:ea typeface="+mn-lt"/>
                <a:cs typeface="+mn-lt"/>
              </a:rPr>
              <a:t> (</a:t>
            </a:r>
            <a:r>
              <a:rPr lang="en-US" err="1">
                <a:ea typeface="+mn-lt"/>
                <a:cs typeface="+mn-lt"/>
              </a:rPr>
              <a:t>SpinButton</a:t>
            </a:r>
            <a:r>
              <a:rPr lang="en-US">
                <a:ea typeface="+mn-lt"/>
                <a:cs typeface="+mn-lt"/>
              </a:rPr>
              <a:t>) - </a:t>
            </a:r>
            <a:r>
              <a:rPr lang="en-US" err="1">
                <a:ea typeface="+mn-lt"/>
                <a:cs typeface="+mn-lt"/>
              </a:rPr>
              <a:t>Zvyšuje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nebo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snižuje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určitou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hodnotu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například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číslo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čas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nebo</a:t>
            </a:r>
            <a:r>
              <a:rPr lang="en-US">
                <a:ea typeface="+mn-lt"/>
                <a:cs typeface="+mn-lt"/>
              </a:rPr>
              <a:t> datum.</a:t>
            </a:r>
            <a:endParaRPr lang="cs-CZ">
              <a:ea typeface="+mn-lt"/>
              <a:cs typeface="+mn-lt"/>
            </a:endParaRPr>
          </a:p>
          <a:p>
            <a:pPr>
              <a:lnSpc>
                <a:spcPct val="160000"/>
              </a:lnSpc>
            </a:pPr>
            <a:endParaRPr lang="cs-CZ">
              <a:ea typeface="+mn-lt"/>
              <a:cs typeface="+mn-lt"/>
            </a:endParaRPr>
          </a:p>
        </p:txBody>
      </p:sp>
      <p:pic>
        <p:nvPicPr>
          <p:cNvPr id="4" name="Obrázek 4" descr="Obsah obrázku stůl&#10;&#10;Popis se vygeneroval automaticky.">
            <a:extLst>
              <a:ext uri="{FF2B5EF4-FFF2-40B4-BE49-F238E27FC236}">
                <a16:creationId xmlns:a16="http://schemas.microsoft.com/office/drawing/2014/main" id="{DE7AE600-197E-4798-A1F8-909043742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573" y="2181457"/>
            <a:ext cx="873514" cy="766647"/>
          </a:xfrm>
          <a:prstGeom prst="rect">
            <a:avLst/>
          </a:prstGeom>
        </p:spPr>
      </p:pic>
      <p:pic>
        <p:nvPicPr>
          <p:cNvPr id="6" name="Obrázek 6" descr="Obsah obrázku text&#10;&#10;Popis se vygeneroval automaticky.">
            <a:extLst>
              <a:ext uri="{FF2B5EF4-FFF2-40B4-BE49-F238E27FC236}">
                <a16:creationId xmlns:a16="http://schemas.microsoft.com/office/drawing/2014/main" id="{8C73F2EF-8B93-4E46-8862-B8602F4AC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408" y="3129311"/>
            <a:ext cx="896744" cy="896744"/>
          </a:xfrm>
          <a:prstGeom prst="rect">
            <a:avLst/>
          </a:prstGeom>
        </p:spPr>
      </p:pic>
      <p:pic>
        <p:nvPicPr>
          <p:cNvPr id="7" name="Obrázek 7" descr="Obsah obrázku text&#10;&#10;Popis se vygeneroval automaticky.">
            <a:extLst>
              <a:ext uri="{FF2B5EF4-FFF2-40B4-BE49-F238E27FC236}">
                <a16:creationId xmlns:a16="http://schemas.microsoft.com/office/drawing/2014/main" id="{A7CB7906-E78C-479B-B83D-B378EFFD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164" y="4169975"/>
            <a:ext cx="840988" cy="1092124"/>
          </a:xfrm>
          <a:prstGeom prst="rect">
            <a:avLst/>
          </a:prstGeom>
        </p:spPr>
      </p:pic>
      <p:pic>
        <p:nvPicPr>
          <p:cNvPr id="8" name="Obrázek 8" descr="Obsah obrázku text, hodiny&#10;&#10;Popis se vygeneroval automaticky.">
            <a:extLst>
              <a:ext uri="{FF2B5EF4-FFF2-40B4-BE49-F238E27FC236}">
                <a16:creationId xmlns:a16="http://schemas.microsoft.com/office/drawing/2014/main" id="{F53F4142-346C-4D6A-9517-9B87D59BC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288" y="5424371"/>
            <a:ext cx="9144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7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63CB456-541C-46A1-91C0-B7394BC94B62}"/>
              </a:ext>
            </a:extLst>
          </p:cNvPr>
          <p:cNvSpPr txBox="1"/>
          <p:nvPr/>
        </p:nvSpPr>
        <p:spPr>
          <a:xfrm>
            <a:off x="906832" y="1440031"/>
            <a:ext cx="7540488" cy="479122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err="1"/>
              <a:t>Přepínač</a:t>
            </a:r>
            <a:r>
              <a:rPr lang="en-US" sz="1700"/>
              <a:t> (</a:t>
            </a:r>
            <a:r>
              <a:rPr lang="en-US" sz="1700" err="1"/>
              <a:t>OptionButton</a:t>
            </a:r>
            <a:r>
              <a:rPr lang="en-US" sz="1700"/>
              <a:t>) - </a:t>
            </a:r>
            <a:r>
              <a:rPr lang="en-US" sz="1700" err="1"/>
              <a:t>Zapne</a:t>
            </a:r>
            <a:r>
              <a:rPr lang="en-US" sz="1700"/>
              <a:t> </a:t>
            </a:r>
            <a:r>
              <a:rPr lang="en-US" sz="1700" err="1"/>
              <a:t>nebo</a:t>
            </a:r>
            <a:r>
              <a:rPr lang="en-US" sz="1700"/>
              <a:t> </a:t>
            </a:r>
            <a:r>
              <a:rPr lang="en-US" sz="1700" err="1"/>
              <a:t>vypne</a:t>
            </a:r>
            <a:r>
              <a:rPr lang="en-US" sz="1700"/>
              <a:t> </a:t>
            </a:r>
            <a:r>
              <a:rPr lang="en-US" sz="1700" err="1"/>
              <a:t>hodnotu</a:t>
            </a:r>
            <a:r>
              <a:rPr lang="en-US" sz="1700"/>
              <a:t>, </a:t>
            </a:r>
            <a:r>
              <a:rPr lang="en-US" sz="1700" err="1"/>
              <a:t>která</a:t>
            </a:r>
            <a:r>
              <a:rPr lang="en-US" sz="1700"/>
              <a:t> </a:t>
            </a:r>
            <a:r>
              <a:rPr lang="en-US" sz="1700" err="1"/>
              <a:t>označuje</a:t>
            </a:r>
            <a:r>
              <a:rPr lang="en-US" sz="1700"/>
              <a:t> </a:t>
            </a:r>
            <a:r>
              <a:rPr lang="en-US" sz="1700" err="1"/>
              <a:t>protikladnou</a:t>
            </a:r>
            <a:r>
              <a:rPr lang="en-US" sz="1700"/>
              <a:t> a </a:t>
            </a:r>
            <a:r>
              <a:rPr lang="en-US" sz="1700" err="1"/>
              <a:t>nedvojsmyslnou</a:t>
            </a:r>
            <a:r>
              <a:rPr lang="en-US" sz="1700"/>
              <a:t> </a:t>
            </a:r>
            <a:r>
              <a:rPr lang="en-US" sz="1700" err="1"/>
              <a:t>volbu</a:t>
            </a:r>
            <a:r>
              <a:rPr lang="en-US" sz="1700"/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err="1"/>
              <a:t>Seznam</a:t>
            </a:r>
            <a:r>
              <a:rPr lang="en-US" sz="1700"/>
              <a:t> (</a:t>
            </a:r>
            <a:r>
              <a:rPr lang="en-US" sz="1700" err="1"/>
              <a:t>ListBox</a:t>
            </a:r>
            <a:r>
              <a:rPr lang="en-US" sz="1700"/>
              <a:t>) - </a:t>
            </a:r>
            <a:r>
              <a:rPr lang="en-US" sz="1700" err="1"/>
              <a:t>Zobrazuje</a:t>
            </a:r>
            <a:r>
              <a:rPr lang="en-US" sz="1700"/>
              <a:t> </a:t>
            </a:r>
            <a:r>
              <a:rPr lang="en-US" sz="1700" err="1"/>
              <a:t>seznam</a:t>
            </a:r>
            <a:r>
              <a:rPr lang="en-US" sz="1700"/>
              <a:t> </a:t>
            </a:r>
            <a:r>
              <a:rPr lang="en-US" sz="1700" err="1"/>
              <a:t>jedné</a:t>
            </a:r>
            <a:r>
              <a:rPr lang="en-US" sz="1700"/>
              <a:t> </a:t>
            </a:r>
            <a:r>
              <a:rPr lang="en-US" sz="1700" err="1"/>
              <a:t>nebo</a:t>
            </a:r>
            <a:r>
              <a:rPr lang="en-US" sz="1700"/>
              <a:t> </a:t>
            </a:r>
            <a:r>
              <a:rPr lang="en-US" sz="1700" err="1"/>
              <a:t>více</a:t>
            </a:r>
            <a:r>
              <a:rPr lang="en-US" sz="1700"/>
              <a:t> </a:t>
            </a:r>
            <a:r>
              <a:rPr lang="en-US" sz="1700" err="1"/>
              <a:t>textových</a:t>
            </a:r>
            <a:r>
              <a:rPr lang="en-US" sz="1700"/>
              <a:t> </a:t>
            </a:r>
            <a:r>
              <a:rPr lang="en-US" sz="1700" err="1"/>
              <a:t>položek</a:t>
            </a:r>
            <a:r>
              <a:rPr lang="en-US" sz="1700"/>
              <a:t>, ze </a:t>
            </a:r>
            <a:r>
              <a:rPr lang="en-US" sz="1700" err="1"/>
              <a:t>kterých</a:t>
            </a:r>
            <a:r>
              <a:rPr lang="en-US" sz="1700"/>
              <a:t> </a:t>
            </a:r>
            <a:r>
              <a:rPr lang="en-US" sz="1700" err="1"/>
              <a:t>může</a:t>
            </a:r>
            <a:r>
              <a:rPr lang="en-US" sz="1700"/>
              <a:t> </a:t>
            </a:r>
            <a:r>
              <a:rPr lang="en-US" sz="1700" err="1"/>
              <a:t>uživatel</a:t>
            </a:r>
            <a:r>
              <a:rPr lang="en-US" sz="1700"/>
              <a:t> </a:t>
            </a:r>
            <a:r>
              <a:rPr lang="en-US" sz="1700" err="1"/>
              <a:t>vybírat</a:t>
            </a:r>
            <a:r>
              <a:rPr lang="en-US" sz="1700"/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/>
              <a:t>Pole se </a:t>
            </a:r>
            <a:r>
              <a:rPr lang="en-US" sz="1700" err="1"/>
              <a:t>seznamem</a:t>
            </a:r>
            <a:r>
              <a:rPr lang="en-US" sz="1700"/>
              <a:t> (</a:t>
            </a:r>
            <a:r>
              <a:rPr lang="en-US" sz="1700" err="1"/>
              <a:t>ComboBox</a:t>
            </a:r>
            <a:r>
              <a:rPr lang="en-US" sz="1700"/>
              <a:t>) - </a:t>
            </a:r>
            <a:r>
              <a:rPr lang="en-US" sz="1700" err="1"/>
              <a:t>Kombinuje</a:t>
            </a:r>
            <a:r>
              <a:rPr lang="en-US" sz="1700"/>
              <a:t> </a:t>
            </a:r>
            <a:r>
              <a:rPr lang="en-US" sz="1700" err="1"/>
              <a:t>textové</a:t>
            </a:r>
            <a:r>
              <a:rPr lang="en-US" sz="1700"/>
              <a:t> pole se </a:t>
            </a:r>
            <a:r>
              <a:rPr lang="en-US" sz="1700" err="1"/>
              <a:t>seznamem</a:t>
            </a:r>
            <a:r>
              <a:rPr lang="en-US" sz="1700"/>
              <a:t> a </a:t>
            </a:r>
            <a:r>
              <a:rPr lang="en-US" sz="1700" err="1"/>
              <a:t>vytváří</a:t>
            </a:r>
            <a:r>
              <a:rPr lang="en-US" sz="1700"/>
              <a:t> </a:t>
            </a:r>
            <a:r>
              <a:rPr lang="en-US" sz="1700" err="1"/>
              <a:t>rozevírací</a:t>
            </a:r>
            <a:r>
              <a:rPr lang="en-US" sz="1700"/>
              <a:t> </a:t>
            </a:r>
            <a:r>
              <a:rPr lang="en-US" sz="1700" err="1"/>
              <a:t>seznam</a:t>
            </a:r>
            <a:r>
              <a:rPr lang="en-US" sz="1700"/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err="1"/>
              <a:t>Posuvník</a:t>
            </a:r>
            <a:r>
              <a:rPr lang="en-US" sz="1700"/>
              <a:t> (</a:t>
            </a:r>
            <a:r>
              <a:rPr lang="en-US" sz="1700" err="1"/>
              <a:t>ScrollBar</a:t>
            </a:r>
            <a:r>
              <a:rPr lang="en-US" sz="1700"/>
              <a:t>) - </a:t>
            </a:r>
            <a:r>
              <a:rPr lang="en-US" sz="1700" err="1"/>
              <a:t>Posunuje</a:t>
            </a:r>
            <a:r>
              <a:rPr lang="en-US" sz="1700"/>
              <a:t> oblast </a:t>
            </a:r>
            <a:r>
              <a:rPr lang="en-US" sz="1700" err="1"/>
              <a:t>hodnot</a:t>
            </a:r>
            <a:r>
              <a:rPr lang="en-US" sz="1700"/>
              <a:t> </a:t>
            </a:r>
            <a:r>
              <a:rPr lang="en-US" sz="1700" err="1"/>
              <a:t>kliknutím</a:t>
            </a:r>
            <a:r>
              <a:rPr lang="en-US" sz="1700"/>
              <a:t> </a:t>
            </a:r>
            <a:r>
              <a:rPr lang="en-US" sz="1700" err="1"/>
              <a:t>na</a:t>
            </a:r>
            <a:r>
              <a:rPr lang="en-US" sz="1700"/>
              <a:t> </a:t>
            </a:r>
            <a:r>
              <a:rPr lang="en-US" sz="1700" err="1"/>
              <a:t>šipky</a:t>
            </a:r>
            <a:r>
              <a:rPr lang="en-US" sz="1700"/>
              <a:t> </a:t>
            </a:r>
            <a:r>
              <a:rPr lang="en-US" sz="1700" err="1"/>
              <a:t>posuvníku</a:t>
            </a:r>
            <a:r>
              <a:rPr lang="en-US" sz="1700"/>
              <a:t> </a:t>
            </a:r>
            <a:r>
              <a:rPr lang="en-US" sz="1700" err="1"/>
              <a:t>nebo</a:t>
            </a:r>
            <a:r>
              <a:rPr lang="en-US" sz="1700"/>
              <a:t> </a:t>
            </a:r>
            <a:r>
              <a:rPr lang="en-US" sz="1700" err="1"/>
              <a:t>tažením</a:t>
            </a:r>
            <a:r>
              <a:rPr lang="en-US" sz="1700"/>
              <a:t> </a:t>
            </a:r>
            <a:r>
              <a:rPr lang="en-US" sz="1700" err="1"/>
              <a:t>jezdcem</a:t>
            </a:r>
            <a:r>
              <a:rPr lang="en-US" sz="1700"/>
              <a:t> </a:t>
            </a:r>
            <a:r>
              <a:rPr lang="en-US" sz="1700" err="1"/>
              <a:t>posuvníku</a:t>
            </a:r>
            <a:r>
              <a:rPr lang="en-US" sz="1700"/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/>
          </a:p>
        </p:txBody>
      </p:sp>
      <p:pic>
        <p:nvPicPr>
          <p:cNvPr id="24" name="Obrázek 27" descr="Obsah obrázku text&#10;&#10;Popis se vygeneroval automaticky.">
            <a:extLst>
              <a:ext uri="{FF2B5EF4-FFF2-40B4-BE49-F238E27FC236}">
                <a16:creationId xmlns:a16="http://schemas.microsoft.com/office/drawing/2014/main" id="{6A9F1CED-2F5E-4B17-98D9-355FE4D15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312" y="750384"/>
            <a:ext cx="1017548" cy="1008256"/>
          </a:xfrm>
          <a:prstGeom prst="rect">
            <a:avLst/>
          </a:prstGeom>
        </p:spPr>
      </p:pic>
      <p:pic>
        <p:nvPicPr>
          <p:cNvPr id="28" name="Obrázek 29" descr="Obsah obrázku text&#10;&#10;Popis se vygeneroval automaticky.">
            <a:extLst>
              <a:ext uri="{FF2B5EF4-FFF2-40B4-BE49-F238E27FC236}">
                <a16:creationId xmlns:a16="http://schemas.microsoft.com/office/drawing/2014/main" id="{53085A20-4E28-4132-B203-A504FBBEC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311" y="1912783"/>
            <a:ext cx="915329" cy="1118143"/>
          </a:xfrm>
          <a:prstGeom prst="rect">
            <a:avLst/>
          </a:prstGeom>
        </p:spPr>
      </p:pic>
      <p:pic>
        <p:nvPicPr>
          <p:cNvPr id="30" name="Obrázek 32" descr="Obsah obrázku text&#10;&#10;Popis se vygeneroval automaticky.">
            <a:extLst>
              <a:ext uri="{FF2B5EF4-FFF2-40B4-BE49-F238E27FC236}">
                <a16:creationId xmlns:a16="http://schemas.microsoft.com/office/drawing/2014/main" id="{07EB7F4A-C714-41F9-8D14-88C6B29FD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1393" y="3168108"/>
            <a:ext cx="946458" cy="1255905"/>
          </a:xfrm>
          <a:prstGeom prst="rect">
            <a:avLst/>
          </a:prstGeom>
        </p:spPr>
      </p:pic>
      <p:pic>
        <p:nvPicPr>
          <p:cNvPr id="33" name="Obrázek 34">
            <a:extLst>
              <a:ext uri="{FF2B5EF4-FFF2-40B4-BE49-F238E27FC236}">
                <a16:creationId xmlns:a16="http://schemas.microsoft.com/office/drawing/2014/main" id="{6621AF90-3F49-4E64-AA47-992A640F0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018" y="4662605"/>
            <a:ext cx="933914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55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474F9CF-A033-456A-9B22-E223FADA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cs-CZ" sz="3200">
                <a:solidFill>
                  <a:schemeClr val="tx1"/>
                </a:solidFill>
              </a:rPr>
              <a:t>Procedury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B78679-7998-4D7D-9589-3C86BFD9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16" y="2099805"/>
            <a:ext cx="6789016" cy="5130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chemeClr val="tx1"/>
                </a:solidFill>
              </a:rPr>
              <a:t>V programování se procedura chová jako podprogram, který vykonává posloupnost příkazů.</a:t>
            </a:r>
          </a:p>
          <a:p>
            <a:r>
              <a:rPr lang="cs-CZ">
                <a:solidFill>
                  <a:schemeClr val="tx1"/>
                </a:solidFill>
              </a:rPr>
              <a:t>V kódu ji lze opakovaně volat všude tam, kde by určité úlohy měly být provedeny. </a:t>
            </a:r>
          </a:p>
          <a:p>
            <a:r>
              <a:rPr lang="cs-CZ">
                <a:solidFill>
                  <a:schemeClr val="tx1"/>
                </a:solidFill>
              </a:rPr>
              <a:t>Její průběh lze ovlivnit parametry</a:t>
            </a:r>
          </a:p>
          <a:p>
            <a:r>
              <a:rPr lang="cs-CZ">
                <a:solidFill>
                  <a:schemeClr val="tx1"/>
                </a:solidFill>
              </a:rPr>
              <a:t>Nemůže obsahovat jinou proceduru či funkci, ale může je volat</a:t>
            </a:r>
          </a:p>
          <a:p>
            <a:r>
              <a:rPr lang="cs-CZ">
                <a:solidFill>
                  <a:schemeClr val="tx1"/>
                </a:solidFill>
              </a:rPr>
              <a:t>Může volat i sama sebe (tzv. Rekurzivní volání)</a:t>
            </a:r>
          </a:p>
        </p:txBody>
      </p:sp>
    </p:spTree>
    <p:extLst>
      <p:ext uri="{BB962C8B-B14F-4D97-AF65-F5344CB8AC3E}">
        <p14:creationId xmlns:p14="http://schemas.microsoft.com/office/powerpoint/2010/main" val="58131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338BC3-416D-5A33-5183-43304921F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Sub procedura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12E031-7C6A-30D9-0293-52480453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79205"/>
            <a:ext cx="882565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cs-CZ" dirty="0"/>
          </a:p>
          <a:p>
            <a:r>
              <a:rPr lang="cs-CZ" dirty="0"/>
              <a:t>Začíná deklarací sub a končí deklarací end sub</a:t>
            </a:r>
          </a:p>
          <a:p>
            <a:r>
              <a:rPr lang="cs-CZ" dirty="0"/>
              <a:t>Můžeme pomocí této procedury vytvořit makro pro vykonání určité akce</a:t>
            </a:r>
          </a:p>
          <a:p>
            <a:endParaRPr lang="cs-CZ" dirty="0"/>
          </a:p>
        </p:txBody>
      </p:sp>
      <p:pic>
        <p:nvPicPr>
          <p:cNvPr id="5" name="Obrázek 5" descr="Obsah obrázku text&#10;&#10;Popis se vygeneroval automaticky.">
            <a:extLst>
              <a:ext uri="{FF2B5EF4-FFF2-40B4-BE49-F238E27FC236}">
                <a16:creationId xmlns:a16="http://schemas.microsoft.com/office/drawing/2014/main" id="{AC8E01A1-69D4-C26D-39C7-72A1B4A3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24" y="3522054"/>
            <a:ext cx="6167376" cy="2458751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2266268-8F8A-FCD2-3A65-C0B67BE531F6}"/>
              </a:ext>
            </a:extLst>
          </p:cNvPr>
          <p:cNvSpPr txBox="1"/>
          <p:nvPr/>
        </p:nvSpPr>
        <p:spPr>
          <a:xfrm>
            <a:off x="1156855" y="6127172"/>
            <a:ext cx="53149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cs-CZ" sz="1200"/>
          </a:p>
        </p:txBody>
      </p:sp>
    </p:spTree>
    <p:extLst>
      <p:ext uri="{BB962C8B-B14F-4D97-AF65-F5344CB8AC3E}">
        <p14:creationId xmlns:p14="http://schemas.microsoft.com/office/powerpoint/2010/main" val="364577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C05C68-4AEC-663E-3991-B3685A77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Function</a:t>
            </a:r>
            <a:r>
              <a:rPr lang="cs-CZ" dirty="0"/>
              <a:t> procedura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C1B0B8-3612-FE29-51C1-DD30CB2F9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Je podobná sub proceduře ale dokáže navíc vrátit hodnotu</a:t>
            </a:r>
          </a:p>
          <a:p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Funkce představuje kód, do kterého se vkládají vstupní data. Po spuštění kódu funkce proběhne, zpracuje data a vrátí nějakou hodnotu či pole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Obrázek 4">
            <a:extLst>
              <a:ext uri="{FF2B5EF4-FFF2-40B4-BE49-F238E27FC236}">
                <a16:creationId xmlns:a16="http://schemas.microsoft.com/office/drawing/2014/main" id="{6AF8DFB1-1BFE-834A-7CCA-2EB1C5E4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99" y="4509213"/>
            <a:ext cx="10585048" cy="76217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3D34DAA-5A03-8C98-662B-52524A0B9F65}"/>
              </a:ext>
            </a:extLst>
          </p:cNvPr>
          <p:cNvSpPr txBox="1"/>
          <p:nvPr/>
        </p:nvSpPr>
        <p:spPr>
          <a:xfrm>
            <a:off x="845072" y="4124564"/>
            <a:ext cx="3746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/>
              <a:t>Výpočet buněk od A1 do G4</a:t>
            </a:r>
          </a:p>
        </p:txBody>
      </p:sp>
      <p:pic>
        <p:nvPicPr>
          <p:cNvPr id="7" name="Obrázek 7">
            <a:extLst>
              <a:ext uri="{FF2B5EF4-FFF2-40B4-BE49-F238E27FC236}">
                <a16:creationId xmlns:a16="http://schemas.microsoft.com/office/drawing/2014/main" id="{311BE239-F222-08A1-46E8-8B7A87065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99" y="5866275"/>
            <a:ext cx="10440364" cy="768111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596E5552-FD6A-566F-2892-44C04F8BB468}"/>
              </a:ext>
            </a:extLst>
          </p:cNvPr>
          <p:cNvSpPr txBox="1"/>
          <p:nvPr/>
        </p:nvSpPr>
        <p:spPr>
          <a:xfrm>
            <a:off x="804681" y="5444200"/>
            <a:ext cx="43347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/>
              <a:t>Funkce která vždy vrátí hodnotu 50</a:t>
            </a:r>
          </a:p>
        </p:txBody>
      </p:sp>
    </p:spTree>
    <p:extLst>
      <p:ext uri="{BB962C8B-B14F-4D97-AF65-F5344CB8AC3E}">
        <p14:creationId xmlns:p14="http://schemas.microsoft.com/office/powerpoint/2010/main" val="70870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91" name="Freeform: Shape 9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93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71AA3EF-8D9C-485D-9C2A-D0B42630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DĚKUJEME ZA POZORNOST</a:t>
            </a:r>
            <a:endParaRPr lang="cs-CZ" sz="3200">
              <a:solidFill>
                <a:srgbClr val="EBEBEB"/>
              </a:solidFill>
              <a:ea typeface="+mj-ea"/>
              <a:cs typeface="+mj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32B2DF-2FCE-43B8-8E1E-4663DA52B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0" i="0" kern="1200" cap="all" err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Vypracovali</a:t>
            </a:r>
            <a:r>
              <a:rPr lang="en-US" sz="20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:</a:t>
            </a:r>
            <a:endParaRPr lang="cs-CZ" sz="200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0" i="0" kern="1200" cap="all">
                <a:latin typeface="+mn-lt"/>
                <a:ea typeface="+mn-ea"/>
                <a:cs typeface="+mn-cs"/>
              </a:rPr>
              <a:t>Matěj Pospíchal</a:t>
            </a:r>
            <a:endParaRPr lang="en-US" sz="2000"/>
          </a:p>
          <a:p>
            <a:pPr marL="0" indent="0">
              <a:buNone/>
            </a:pPr>
            <a:r>
              <a:rPr lang="en-US" sz="2000" b="0" i="0" kern="1200" cap="all">
                <a:latin typeface="+mn-lt"/>
                <a:ea typeface="+mn-ea"/>
                <a:cs typeface="+mn-cs"/>
              </a:rPr>
              <a:t>David Zeman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936340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asedací místnost – iontový efekt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TF00001243</Template>
  <TotalTime>0</TotalTime>
  <Words>436</Words>
  <Application>Microsoft Office PowerPoint</Application>
  <PresentationFormat>Širokoúhlá obrazovka</PresentationFormat>
  <Paragraphs>47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Zasedací místnost – iontový efekt</vt:lpstr>
      <vt:lpstr>Databázový procesor - VBA II</vt:lpstr>
      <vt:lpstr>Prezentace aplikace PowerPoint</vt:lpstr>
      <vt:lpstr>Formulář</vt:lpstr>
      <vt:lpstr>Ovládací prvky formulářů</vt:lpstr>
      <vt:lpstr>Prezentace aplikace PowerPoint</vt:lpstr>
      <vt:lpstr>Procedury</vt:lpstr>
      <vt:lpstr>Sub procedura</vt:lpstr>
      <vt:lpstr>Function procedura</vt:lpstr>
      <vt:lpstr>DĚKUJEME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/>
  <cp:lastModifiedBy>Zeman David</cp:lastModifiedBy>
  <cp:revision>374</cp:revision>
  <dcterms:created xsi:type="dcterms:W3CDTF">2022-03-15T19:19:11Z</dcterms:created>
  <dcterms:modified xsi:type="dcterms:W3CDTF">2022-03-29T17:38:17Z</dcterms:modified>
</cp:coreProperties>
</file>