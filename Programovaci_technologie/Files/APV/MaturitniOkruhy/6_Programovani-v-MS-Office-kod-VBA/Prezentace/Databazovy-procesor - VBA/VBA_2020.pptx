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Styl s motivem 1 – zvýraznění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Styl s motivem 1 – zvýraznění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A111915-BE36-4E01-A7E5-04B1672EAD32}" styleName="Světlý styl 2 – zvýraznění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Střední styl 1 – zvýraznění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Střední styl 1 – zvýraznění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Střední styl 1 – zvýraznění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Střední styl 1 – zvýraznění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D43E978-523C-4533-8BC1-3E15517B0CAD}" type="datetime1">
              <a:rPr lang="cs-CZ" smtClean="0"/>
              <a:t>07.04.2020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C72AE4-F412-4D0F-98D9-8DF7EF13BAD4}" type="datetime1">
              <a:rPr lang="cs-CZ" smtClean="0"/>
              <a:t>07.04.2020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Obdélník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Obdélník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Obdélník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Skupina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Přímá spojnice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Přímá spojnice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Přímá spojnice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60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20" name="Zástupný symbol pro datum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6962437A-69DF-4FC4-82E7-095787E88CA2}" type="datetime1">
              <a:rPr lang="cs-CZ" smtClean="0"/>
              <a:t>07.04.2020</a:t>
            </a:fld>
            <a:endParaRPr lang="en-US" dirty="0"/>
          </a:p>
        </p:txBody>
      </p:sp>
      <p:sp>
        <p:nvSpPr>
          <p:cNvPr id="21" name="Zástupný symbol pro zápatí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Zástupný symbol pro číslo snímku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2AC929-901E-466E-BE68-07E756E2CD9A}" type="datetime1">
              <a:rPr lang="cs-CZ" smtClean="0"/>
              <a:t>07.04.2020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délník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Obdélník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Obdélník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Obdélník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0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grpSp>
        <p:nvGrpSpPr>
          <p:cNvPr id="16" name="Skupina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Přímá spojnice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Přímá spojnice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Přímá spojnice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8CF5898F-43A4-4623-95FA-D301F8EA43EB}" type="datetime1">
              <a:rPr lang="cs-CZ" smtClean="0"/>
              <a:t>07.04.2020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ě obsahové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C62D49-C56C-41BE-AB9D-F32C0FDB497F}" type="datetime1">
              <a:rPr lang="cs-CZ" smtClean="0"/>
              <a:t>07.04.2020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cs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c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71B7C9-1526-4531-B1BE-04E9A37FA2CE}" type="datetime1">
              <a:rPr lang="cs-CZ" smtClean="0"/>
              <a:t>07.04.2020</a:t>
            </a:fld>
            <a:endParaRPr lang="en-US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6E9C2DB-08C5-4A26-B491-AB99DD10A99E}" type="datetime1">
              <a:rPr lang="cs-CZ" smtClean="0"/>
              <a:t>07.04.2020</a:t>
            </a:fld>
            <a:endParaRPr lang="en-US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FBE077-9F05-484F-8622-4E9E9067A7C5}" type="datetime1">
              <a:rPr lang="cs-CZ" smtClean="0"/>
              <a:t>07.04.2020</a:t>
            </a:fld>
            <a:endParaRPr lang="en-US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élník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6AB81B4-CE35-4C47-882C-8A3F92B5FFD6}" type="datetime1">
              <a:rPr lang="cs-CZ" smtClean="0"/>
              <a:t>07.04.2020</a:t>
            </a:fld>
            <a:endParaRPr lang="en-US"/>
          </a:p>
        </p:txBody>
      </p:sp>
      <p:sp>
        <p:nvSpPr>
          <p:cNvPr id="9" name="Zástupný symbol pro zápatí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/>
          </a:p>
        </p:txBody>
      </p:sp>
      <p:sp>
        <p:nvSpPr>
          <p:cNvPr id="11" name="Zástupný symbol pro číslo snímku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délník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06F24F85-89C9-4554-BB3D-C9F75BD57326}" type="datetime1">
              <a:rPr lang="cs-CZ" smtClean="0"/>
              <a:t>07.04.2020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26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C5B914-8B12-4555-B381-C9C72B2408B7}" type="datetime1">
              <a:rPr lang="cs-CZ" smtClean="0"/>
              <a:t>07.04.2020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8ACA46-9028-4D5D-8730-99171FAE3F06}" type="datetime1">
              <a:rPr lang="cs-CZ" smtClean="0"/>
              <a:t>07.04.2020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Obdélník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Obdélník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Obdélník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cs" dirty="0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0639C23-9424-4615-9F2F-4DF01B7F951B}" type="datetime1">
              <a:rPr lang="cs-CZ" smtClean="0"/>
              <a:t>07.04.2020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://www.tutorialspoint.com/vba/vba_foreach_loop.htm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://www.tutorialspoint.com/vba/vba_for_loop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tutorialspoint.com/vba/vba_do_until_loop.htm" TargetMode="External"/><Relationship Id="rId11" Type="http://schemas.openxmlformats.org/officeDocument/2006/relationships/image" Target="../media/image8.PNG"/><Relationship Id="rId5" Type="http://schemas.openxmlformats.org/officeDocument/2006/relationships/hyperlink" Target="http://www.tutorialspoint.com/vba/vba_do_while_loop.htm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://www.tutorialspoint.com/vba/vba_while_wend_loop.htm" TargetMode="Externa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www.tutorialspoint.com/vba/vba_if_else_statement.htm" TargetMode="External"/><Relationship Id="rId7" Type="http://schemas.openxmlformats.org/officeDocument/2006/relationships/image" Target="../media/image9.PNG"/><Relationship Id="rId2" Type="http://schemas.openxmlformats.org/officeDocument/2006/relationships/hyperlink" Target="http://www.tutorialspoint.com/vba/vba_if_statement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tutorialspoint.com/vba/vba_switch_statement.htm" TargetMode="External"/><Relationship Id="rId11" Type="http://schemas.openxmlformats.org/officeDocument/2006/relationships/image" Target="../media/image13.PNG"/><Relationship Id="rId5" Type="http://schemas.openxmlformats.org/officeDocument/2006/relationships/hyperlink" Target="http://www.tutorialspoint.com/vba/vba_nested_if_statements.htm" TargetMode="External"/><Relationship Id="rId10" Type="http://schemas.openxmlformats.org/officeDocument/2006/relationships/image" Target="../media/image12.PNG"/><Relationship Id="rId4" Type="http://schemas.openxmlformats.org/officeDocument/2006/relationships/hyperlink" Target="http://www.tutorialspoint.com/vba/vba_if_elseif_else_statement.htm" TargetMode="External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 descr="Logo v detailu&#10;&#10;Automaticky generovaný popis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Obdélník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Obdélník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/>
          </a:bodyPr>
          <a:lstStyle/>
          <a:p>
            <a:pPr rtl="0"/>
            <a:r>
              <a:rPr lang="cs-CZ" sz="4400" dirty="0" err="1">
                <a:solidFill>
                  <a:schemeClr val="tx1"/>
                </a:solidFill>
              </a:rPr>
              <a:t>VBA</a:t>
            </a:r>
            <a:endParaRPr lang="cs" sz="4400" dirty="0">
              <a:solidFill>
                <a:schemeClr val="tx1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r>
              <a:rPr lang="cs-CZ" dirty="0" err="1">
                <a:solidFill>
                  <a:schemeClr val="tx1"/>
                </a:solidFill>
              </a:rPr>
              <a:t>Visual</a:t>
            </a:r>
            <a:r>
              <a:rPr lang="cs-CZ" dirty="0">
                <a:solidFill>
                  <a:schemeClr val="tx1"/>
                </a:solidFill>
              </a:rPr>
              <a:t> Basic </a:t>
            </a:r>
            <a:r>
              <a:rPr lang="cs-CZ" dirty="0" err="1">
                <a:solidFill>
                  <a:schemeClr val="tx1"/>
                </a:solidFill>
              </a:rPr>
              <a:t>for</a:t>
            </a:r>
            <a:r>
              <a:rPr lang="cs-CZ" dirty="0">
                <a:solidFill>
                  <a:schemeClr val="tx1"/>
                </a:solidFill>
              </a:rPr>
              <a:t> </a:t>
            </a:r>
            <a:r>
              <a:rPr lang="cs-CZ" dirty="0" err="1">
                <a:solidFill>
                  <a:schemeClr val="tx1"/>
                </a:solidFill>
              </a:rPr>
              <a:t>Application</a:t>
            </a:r>
            <a:endParaRPr lang="c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95C84F-699F-45B3-806A-E1EE6277C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</a:t>
            </a:r>
            <a:r>
              <a:rPr lang="cs-CZ" dirty="0" err="1"/>
              <a:t>info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DE326A4-6F4C-4B6D-970C-5339312CF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O </a:t>
            </a:r>
            <a:r>
              <a:rPr lang="cs-CZ" dirty="0" err="1"/>
              <a:t>jazkyu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5360A66-13E5-4B2D-9CC4-882D77984D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dirty="0"/>
              <a:t>Vyvinut společností Microsoft v roce 1993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dirty="0"/>
              <a:t>Běží ve všech </a:t>
            </a:r>
            <a:r>
              <a:rPr lang="cs-CZ" dirty="0" err="1"/>
              <a:t>microsoft</a:t>
            </a:r>
            <a:r>
              <a:rPr lang="cs-CZ" dirty="0"/>
              <a:t> office</a:t>
            </a:r>
            <a:r>
              <a:rPr lang="en-US" dirty="0"/>
              <a:t> </a:t>
            </a:r>
            <a:r>
              <a:rPr lang="cs-CZ" dirty="0"/>
              <a:t>aplikacích, včetně těch pro </a:t>
            </a:r>
            <a:r>
              <a:rPr lang="cs-CZ" dirty="0" err="1"/>
              <a:t>Ma</a:t>
            </a:r>
            <a:r>
              <a:rPr lang="en-US" dirty="0"/>
              <a:t>c</a:t>
            </a:r>
            <a:r>
              <a:rPr lang="cs-CZ" dirty="0"/>
              <a:t> OS X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 </a:t>
            </a:r>
            <a:r>
              <a:rPr lang="en-US" dirty="0" err="1"/>
              <a:t>jazyk</a:t>
            </a:r>
            <a:r>
              <a:rPr lang="en-US" dirty="0"/>
              <a:t> </a:t>
            </a:r>
            <a:r>
              <a:rPr lang="en-US" dirty="0" err="1"/>
              <a:t>byl</a:t>
            </a:r>
            <a:r>
              <a:rPr lang="cs-CZ" dirty="0"/>
              <a:t>o vyvinuto samostatné IDE, ale existují doplňky (Google Smart </a:t>
            </a:r>
            <a:r>
              <a:rPr lang="cs-CZ" dirty="0" err="1"/>
              <a:t>Indenter</a:t>
            </a:r>
            <a:r>
              <a:rPr lang="cs-CZ" dirty="0"/>
              <a:t>, </a:t>
            </a:r>
            <a:r>
              <a:rPr lang="cs-CZ" dirty="0" err="1"/>
              <a:t>MZ-Tools</a:t>
            </a:r>
            <a:r>
              <a:rPr lang="cs-CZ" dirty="0"/>
              <a:t>..)</a:t>
            </a:r>
          </a:p>
          <a:p>
            <a:endParaRPr lang="cs-CZ" dirty="0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AF3ADB4-7E56-4558-B887-BA3698F4D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/>
              <a:t>Vlastnosti jazyka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B2BD5F99-591A-4DBA-B1FB-48D29BA913C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Event driven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Kompilovan</a:t>
            </a:r>
            <a:r>
              <a:rPr lang="cs-CZ" dirty="0"/>
              <a:t>ý (do Microsoft P-</a:t>
            </a:r>
            <a:r>
              <a:rPr lang="cs-CZ" dirty="0" err="1"/>
              <a:t>Code</a:t>
            </a:r>
            <a:r>
              <a:rPr lang="cs-CZ" dirty="0"/>
              <a:t> – </a:t>
            </a:r>
            <a:r>
              <a:rPr lang="cs-CZ" dirty="0" err="1"/>
              <a:t>package</a:t>
            </a:r>
            <a:r>
              <a:rPr lang="cs-CZ" dirty="0"/>
              <a:t> </a:t>
            </a:r>
            <a:r>
              <a:rPr lang="cs-CZ" dirty="0" err="1"/>
              <a:t>code</a:t>
            </a:r>
            <a:r>
              <a:rPr lang="cs-CZ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dirty="0"/>
              <a:t>Umožňuje programování funkcí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dirty="0"/>
              <a:t>Umožňuje přístup k </a:t>
            </a:r>
            <a:r>
              <a:rPr lang="en-US" dirty="0"/>
              <a:t>W</a:t>
            </a:r>
            <a:r>
              <a:rPr lang="cs-CZ" dirty="0" err="1"/>
              <a:t>indows</a:t>
            </a:r>
            <a:r>
              <a:rPr lang="cs-CZ" dirty="0"/>
              <a:t> Api a dalším </a:t>
            </a:r>
            <a:r>
              <a:rPr lang="cs-CZ" dirty="0" err="1"/>
              <a:t>low</a:t>
            </a:r>
            <a:r>
              <a:rPr lang="cs-CZ" dirty="0"/>
              <a:t>-level funkcionalitám skrze dynamické knihovny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dirty="0"/>
              <a:t>Má slabé i silné typování (hybridní)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dirty="0"/>
              <a:t>Má statickou i dynamickou kontrolu typovosti (hybridní)</a:t>
            </a:r>
          </a:p>
          <a:p>
            <a:endParaRPr lang="cs-CZ" dirty="0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E49EF79A-D16E-4939-8A20-96018C111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71B7C9-1526-4531-B1BE-04E9A37FA2CE}" type="datetime1">
              <a:rPr lang="cs-CZ" smtClean="0"/>
              <a:t>07.04.2020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98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DF0BE2-D6B4-4A6A-ADE8-4C159E86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Moduly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0C03320-238A-4050-8709-7DDEB1C8E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Standartní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a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třídy</a:t>
            </a:r>
            <a:r>
              <a:rPr lang="en-US" dirty="0"/>
              <a:t> </a:t>
            </a:r>
            <a:r>
              <a:rPr lang="en-US" dirty="0" err="1"/>
              <a:t>slouží</a:t>
            </a:r>
            <a:r>
              <a:rPr lang="en-US" dirty="0"/>
              <a:t> pro </a:t>
            </a:r>
            <a:r>
              <a:rPr lang="en-US" dirty="0" err="1"/>
              <a:t>deklaraci</a:t>
            </a:r>
            <a:r>
              <a:rPr lang="en-US" dirty="0"/>
              <a:t> </a:t>
            </a:r>
            <a:r>
              <a:rPr lang="en-US" dirty="0" err="1"/>
              <a:t>globálních</a:t>
            </a:r>
            <a:r>
              <a:rPr lang="en-US" dirty="0"/>
              <a:t> </a:t>
            </a:r>
            <a:r>
              <a:rPr lang="en-US" dirty="0" err="1"/>
              <a:t>proměnných</a:t>
            </a:r>
            <a:r>
              <a:rPr lang="en-US" dirty="0"/>
              <a:t>, </a:t>
            </a:r>
            <a:r>
              <a:rPr lang="en-US" dirty="0" err="1"/>
              <a:t>konstant</a:t>
            </a:r>
            <a:r>
              <a:rPr lang="en-US" dirty="0"/>
              <a:t> a </a:t>
            </a:r>
            <a:r>
              <a:rPr lang="en-US" dirty="0" err="1"/>
              <a:t>procedur</a:t>
            </a:r>
            <a:r>
              <a:rPr lang="en-US" dirty="0"/>
              <a:t>. </a:t>
            </a:r>
            <a:r>
              <a:rPr lang="en-US" dirty="0" err="1"/>
              <a:t>Ukládají</a:t>
            </a:r>
            <a:r>
              <a:rPr lang="en-US" dirty="0"/>
              <a:t> se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objekty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, </a:t>
            </a:r>
            <a:r>
              <a:rPr lang="en-US" dirty="0" err="1"/>
              <a:t>najdeme</a:t>
            </a:r>
            <a:r>
              <a:rPr lang="en-US" dirty="0"/>
              <a:t> je v </a:t>
            </a:r>
            <a:r>
              <a:rPr lang="en-US" dirty="0" err="1"/>
              <a:t>okně</a:t>
            </a:r>
            <a:r>
              <a:rPr lang="en-US" dirty="0"/>
              <a:t> </a:t>
            </a:r>
            <a:r>
              <a:rPr lang="en-US" dirty="0" err="1"/>
              <a:t>databáze</a:t>
            </a:r>
            <a:r>
              <a:rPr lang="en-US" dirty="0"/>
              <a:t>.</a:t>
            </a:r>
          </a:p>
          <a:p>
            <a:r>
              <a:rPr lang="en-US" dirty="0"/>
              <a:t>Modul </a:t>
            </a:r>
            <a:r>
              <a:rPr lang="en-US" dirty="0" err="1"/>
              <a:t>procedury</a:t>
            </a:r>
            <a:r>
              <a:rPr lang="en-US" dirty="0"/>
              <a:t> </a:t>
            </a:r>
            <a:r>
              <a:rPr lang="en-US" dirty="0" err="1"/>
              <a:t>slouží</a:t>
            </a:r>
            <a:r>
              <a:rPr lang="en-US" dirty="0"/>
              <a:t> pro </a:t>
            </a:r>
            <a:r>
              <a:rPr lang="en-US" dirty="0" err="1"/>
              <a:t>deklaraci</a:t>
            </a:r>
            <a:r>
              <a:rPr lang="en-US" dirty="0"/>
              <a:t> </a:t>
            </a:r>
            <a:r>
              <a:rPr lang="en-US" dirty="0" err="1"/>
              <a:t>lokálních</a:t>
            </a:r>
            <a:r>
              <a:rPr lang="en-US" dirty="0"/>
              <a:t> </a:t>
            </a:r>
            <a:r>
              <a:rPr lang="en-US" dirty="0" err="1"/>
              <a:t>proměnných</a:t>
            </a:r>
            <a:r>
              <a:rPr lang="en-US" dirty="0"/>
              <a:t>, </a:t>
            </a:r>
            <a:r>
              <a:rPr lang="en-US" dirty="0" err="1"/>
              <a:t>konstant</a:t>
            </a:r>
            <a:r>
              <a:rPr lang="en-US" dirty="0"/>
              <a:t> a </a:t>
            </a:r>
            <a:r>
              <a:rPr lang="en-US" dirty="0" err="1"/>
              <a:t>procedur</a:t>
            </a:r>
            <a:r>
              <a:rPr lang="en-US" dirty="0"/>
              <a:t>. </a:t>
            </a:r>
            <a:r>
              <a:rPr lang="en-US" dirty="0" err="1"/>
              <a:t>Jsou</a:t>
            </a:r>
            <a:r>
              <a:rPr lang="en-US" dirty="0"/>
              <a:t> </a:t>
            </a:r>
            <a:r>
              <a:rPr lang="en-US" dirty="0" err="1"/>
              <a:t>přidružené</a:t>
            </a:r>
            <a:r>
              <a:rPr lang="en-US" dirty="0"/>
              <a:t> k </a:t>
            </a:r>
            <a:r>
              <a:rPr lang="en-US" dirty="0" err="1"/>
              <a:t>formulářům</a:t>
            </a:r>
            <a:r>
              <a:rPr lang="en-US" dirty="0"/>
              <a:t> a </a:t>
            </a:r>
            <a:r>
              <a:rPr lang="en-US" dirty="0" err="1"/>
              <a:t>sestavám</a:t>
            </a:r>
            <a:r>
              <a:rPr lang="en-US" dirty="0"/>
              <a:t> v </a:t>
            </a:r>
            <a:r>
              <a:rPr lang="en-US" dirty="0" err="1"/>
              <a:t>Accessu</a:t>
            </a:r>
            <a:r>
              <a:rPr lang="en-US" dirty="0"/>
              <a:t>.</a:t>
            </a:r>
          </a:p>
          <a:p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5B6CC95-ABBD-471C-985C-7DBFDE6DD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B2AC929-901E-466E-BE68-07E756E2CD9A}" type="datetime1">
              <a:rPr lang="cs-CZ" smtClean="0"/>
              <a:t>07.04.2020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56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3A4BB7-B98F-4F5D-952E-18747CCEC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Datové typy</a:t>
            </a:r>
          </a:p>
        </p:txBody>
      </p:sp>
      <p:pic>
        <p:nvPicPr>
          <p:cNvPr id="6" name="Zástupný obsah 5" descr="Obsah obrázku snímek obrazovky&#10;&#10;Popis byl vytvořen automaticky">
            <a:extLst>
              <a:ext uri="{FF2B5EF4-FFF2-40B4-BE49-F238E27FC236}">
                <a16:creationId xmlns:a16="http://schemas.microsoft.com/office/drawing/2014/main" id="{3E1F7AE2-1CE9-43C6-83F4-39CD54DB0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014194"/>
            <a:ext cx="5470248" cy="3849687"/>
          </a:xfrm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AEED416-5A9C-47BB-BB4C-76F94F378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B2AC929-901E-466E-BE68-07E756E2CD9A}" type="datetime1">
              <a:rPr lang="cs-CZ" smtClean="0"/>
              <a:t>07.04.2020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77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88520D-9AF0-4421-83D3-2073235BA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Operátory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9FE03B7-0308-4866-9909-9119461A5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F26788-6ABF-46A8-A194-141DD3D17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B2AC929-901E-466E-BE68-07E756E2CD9A}" type="datetime1">
              <a:rPr lang="cs-CZ" smtClean="0"/>
              <a:t>07.04.2020</a:t>
            </a:fld>
            <a:endParaRPr lang="en-US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5F21382C-E635-461E-8188-0CD3E8E21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288142"/>
              </p:ext>
            </p:extLst>
          </p:nvPr>
        </p:nvGraphicFramePr>
        <p:xfrm>
          <a:off x="524541" y="2119780"/>
          <a:ext cx="5571459" cy="2801320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1857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219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Operator</a:t>
                      </a:r>
                    </a:p>
                  </a:txBody>
                  <a:tcPr marL="43340" marR="43340" marT="43340" marB="43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Description</a:t>
                      </a:r>
                    </a:p>
                  </a:txBody>
                  <a:tcPr marL="43340" marR="43340" marT="43340" marB="43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Example</a:t>
                      </a:r>
                    </a:p>
                  </a:txBody>
                  <a:tcPr marL="43340" marR="43340" marT="43340" marB="4334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21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+</a:t>
                      </a:r>
                    </a:p>
                  </a:txBody>
                  <a:tcPr marL="43340" marR="43340" marT="43340" marB="4334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Adds two operands</a:t>
                      </a:r>
                    </a:p>
                  </a:txBody>
                  <a:tcPr marL="43340" marR="43340" marT="43340" marB="4334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A + B will give 15</a:t>
                      </a:r>
                    </a:p>
                  </a:txBody>
                  <a:tcPr marL="43340" marR="43340" marT="43340" marB="433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835"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-</a:t>
                      </a:r>
                    </a:p>
                  </a:txBody>
                  <a:tcPr marL="43340" marR="43340" marT="43340" marB="4334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Subtracts second operand from the first</a:t>
                      </a:r>
                    </a:p>
                  </a:txBody>
                  <a:tcPr marL="43340" marR="43340" marT="43340" marB="4334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A - B will give -5</a:t>
                      </a:r>
                    </a:p>
                  </a:txBody>
                  <a:tcPr marL="43340" marR="43340" marT="43340" marB="433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21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*</a:t>
                      </a:r>
                    </a:p>
                  </a:txBody>
                  <a:tcPr marL="43340" marR="43340" marT="43340" marB="4334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Multiply both operands</a:t>
                      </a:r>
                    </a:p>
                  </a:txBody>
                  <a:tcPr marL="43340" marR="43340" marT="43340" marB="4334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A * B will give 50</a:t>
                      </a:r>
                    </a:p>
                  </a:txBody>
                  <a:tcPr marL="43340" marR="43340" marT="43340" marB="4334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83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/</a:t>
                      </a:r>
                    </a:p>
                  </a:txBody>
                  <a:tcPr marL="43340" marR="43340" marT="43340" marB="4334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Divide numerator by </a:t>
                      </a:r>
                      <a:r>
                        <a:rPr lang="en-US" sz="1200" dirty="0" err="1">
                          <a:effectLst/>
                        </a:rPr>
                        <a:t>denumerator</a:t>
                      </a:r>
                      <a:endParaRPr lang="en-US" sz="1200" dirty="0">
                        <a:effectLst/>
                      </a:endParaRPr>
                    </a:p>
                  </a:txBody>
                  <a:tcPr marL="43340" marR="43340" marT="43340" marB="4334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B / A will give 2</a:t>
                      </a:r>
                    </a:p>
                  </a:txBody>
                  <a:tcPr marL="43340" marR="43340" marT="43340" marB="4334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452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%</a:t>
                      </a:r>
                    </a:p>
                  </a:txBody>
                  <a:tcPr marL="43340" marR="43340" marT="43340" marB="4334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Modulus Operator and remainder of after an integer division</a:t>
                      </a:r>
                    </a:p>
                  </a:txBody>
                  <a:tcPr marL="43340" marR="43340" marT="43340" marB="4334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B MOD A will give 0</a:t>
                      </a:r>
                    </a:p>
                  </a:txBody>
                  <a:tcPr marL="43340" marR="43340" marT="43340" marB="4334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21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^</a:t>
                      </a:r>
                    </a:p>
                  </a:txBody>
                  <a:tcPr marL="43340" marR="43340" marT="43340" marB="4334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Exponentiation Operator</a:t>
                      </a:r>
                    </a:p>
                  </a:txBody>
                  <a:tcPr marL="43340" marR="43340" marT="43340" marB="4334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B ^ A will give 100000</a:t>
                      </a:r>
                    </a:p>
                  </a:txBody>
                  <a:tcPr marL="43340" marR="43340" marT="43340" marB="4334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A61DB904-C04B-4C76-BEE0-21C40F7E1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145338"/>
              </p:ext>
            </p:extLst>
          </p:nvPr>
        </p:nvGraphicFramePr>
        <p:xfrm>
          <a:off x="6212678" y="2119780"/>
          <a:ext cx="5698660" cy="4251033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810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368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Operator</a:t>
                      </a:r>
                    </a:p>
                  </a:txBody>
                  <a:tcPr marL="17804" marR="17804" marT="17804" marB="1780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Description</a:t>
                      </a:r>
                    </a:p>
                  </a:txBody>
                  <a:tcPr marL="17804" marR="17804" marT="17804" marB="1780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Example</a:t>
                      </a:r>
                    </a:p>
                  </a:txBody>
                  <a:tcPr marL="17804" marR="17804" marT="17804" marB="1780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818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==</a:t>
                      </a:r>
                    </a:p>
                  </a:txBody>
                  <a:tcPr marL="17804" marR="17804" marT="17804" marB="1780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Checks if the value of two operands are equal or not, if yes then condition becomes true.</a:t>
                      </a:r>
                    </a:p>
                  </a:txBody>
                  <a:tcPr marL="17804" marR="17804" marT="17804" marB="1780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(A == B) is False.</a:t>
                      </a:r>
                    </a:p>
                  </a:txBody>
                  <a:tcPr marL="17804" marR="17804" marT="17804" marB="1780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773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&lt;&gt;</a:t>
                      </a:r>
                    </a:p>
                  </a:txBody>
                  <a:tcPr marL="17804" marR="17804" marT="17804" marB="1780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Checks if the value of two operands are equal or not, if values are not equal then condition becomes true.</a:t>
                      </a:r>
                    </a:p>
                  </a:txBody>
                  <a:tcPr marL="17804" marR="17804" marT="17804" marB="17804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(A &lt;&gt; B) is True.</a:t>
                      </a:r>
                    </a:p>
                  </a:txBody>
                  <a:tcPr marL="17804" marR="17804" marT="17804" marB="178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727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&gt;</a:t>
                      </a:r>
                    </a:p>
                  </a:txBody>
                  <a:tcPr marL="17804" marR="17804" marT="17804" marB="1780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Checks if the value of left operand is greater than the value of right operand, if yes then condition becomes true.</a:t>
                      </a:r>
                    </a:p>
                  </a:txBody>
                  <a:tcPr marL="17804" marR="17804" marT="17804" marB="17804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(A &gt; B) is False.</a:t>
                      </a:r>
                    </a:p>
                  </a:txBody>
                  <a:tcPr marL="17804" marR="17804" marT="17804" marB="178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773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&lt;</a:t>
                      </a:r>
                    </a:p>
                  </a:txBody>
                  <a:tcPr marL="17804" marR="17804" marT="17804" marB="17804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Checks if the value of left operand is less than the value of right operand, if yes then condition becomes true.</a:t>
                      </a:r>
                    </a:p>
                  </a:txBody>
                  <a:tcPr marL="17804" marR="17804" marT="17804" marB="17804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(A &lt; B) is True.</a:t>
                      </a:r>
                    </a:p>
                  </a:txBody>
                  <a:tcPr marL="17804" marR="17804" marT="17804" marB="178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727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&gt;=</a:t>
                      </a:r>
                    </a:p>
                  </a:txBody>
                  <a:tcPr marL="17804" marR="17804" marT="17804" marB="17804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Checks if the value of left operand is greater than or equal to the value of right operand, if yes then condition becomes true.</a:t>
                      </a:r>
                    </a:p>
                  </a:txBody>
                  <a:tcPr marL="17804" marR="17804" marT="17804" marB="17804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(A &gt;= B) is False.</a:t>
                      </a:r>
                    </a:p>
                  </a:txBody>
                  <a:tcPr marL="17804" marR="17804" marT="17804" marB="1780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0727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&lt;=</a:t>
                      </a:r>
                    </a:p>
                  </a:txBody>
                  <a:tcPr marL="17804" marR="17804" marT="17804" marB="17804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Checks if the value of left operand is less than or equal to the value of right operand, if yes then condition becomes true.</a:t>
                      </a:r>
                    </a:p>
                  </a:txBody>
                  <a:tcPr marL="17804" marR="17804" marT="17804" marB="1780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(A &lt;= B) is True.</a:t>
                      </a:r>
                    </a:p>
                  </a:txBody>
                  <a:tcPr marL="17804" marR="17804" marT="17804" marB="1780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566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EFA6CF-DEB0-457E-9EA3-830909912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Operátory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63C03B1-D53B-423E-98AB-1D5CBE4A3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6E8DCA6-D3F7-43A7-BC8D-36F76EC0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B2AC929-901E-466E-BE68-07E756E2CD9A}" type="datetime1">
              <a:rPr lang="cs-CZ" smtClean="0"/>
              <a:t>07.04.2020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B52F51-CBDD-4EE0-B443-9ABAEB977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298815"/>
              </p:ext>
            </p:extLst>
          </p:nvPr>
        </p:nvGraphicFramePr>
        <p:xfrm>
          <a:off x="3278820" y="1829358"/>
          <a:ext cx="5967682" cy="3199283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805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3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9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1777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Operator</a:t>
                      </a:r>
                    </a:p>
                  </a:txBody>
                  <a:tcPr marL="23077" marR="23077" marT="23077" marB="23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Description</a:t>
                      </a:r>
                    </a:p>
                  </a:txBody>
                  <a:tcPr marL="23077" marR="23077" marT="23077" marB="23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Example</a:t>
                      </a:r>
                    </a:p>
                  </a:txBody>
                  <a:tcPr marL="23077" marR="23077" marT="23077" marB="2307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863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AND</a:t>
                      </a:r>
                    </a:p>
                  </a:txBody>
                  <a:tcPr marL="23077" marR="23077" marT="23077" marB="23077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Called Logical AND operator. If both the conditions are True then Expression becomes true.</a:t>
                      </a:r>
                    </a:p>
                  </a:txBody>
                  <a:tcPr marL="23077" marR="23077" marT="23077" marB="23077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a&lt;&gt;0 AND b&lt;&gt;0 is False.</a:t>
                      </a:r>
                    </a:p>
                  </a:txBody>
                  <a:tcPr marL="23077" marR="23077" marT="23077" marB="2307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863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OR</a:t>
                      </a:r>
                    </a:p>
                  </a:txBody>
                  <a:tcPr marL="23077" marR="23077" marT="23077" marB="23077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Called Logical OR Operator. If any of the two conditions are True then condition becomes true.</a:t>
                      </a:r>
                    </a:p>
                  </a:txBody>
                  <a:tcPr marL="23077" marR="23077" marT="23077" marB="23077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a&lt;&gt;0 OR b&lt;&gt;0 is true.</a:t>
                      </a:r>
                    </a:p>
                  </a:txBody>
                  <a:tcPr marL="23077" marR="23077" marT="23077" marB="2307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94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NOT</a:t>
                      </a:r>
                    </a:p>
                  </a:txBody>
                  <a:tcPr marL="23077" marR="23077" marT="23077" marB="23077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Called Logical NOT Operator. Use to reverses the logical state of its operand. If a condition is true then Logical NOT operator will make false.</a:t>
                      </a:r>
                    </a:p>
                  </a:txBody>
                  <a:tcPr marL="23077" marR="23077" marT="23077" marB="23077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NOT(a&lt;&gt;0 OR b&lt;&gt;0) is false.</a:t>
                      </a:r>
                    </a:p>
                  </a:txBody>
                  <a:tcPr marL="23077" marR="23077" marT="23077" marB="2307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2987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XOR</a:t>
                      </a:r>
                    </a:p>
                  </a:txBody>
                  <a:tcPr marL="23077" marR="23077" marT="23077" marB="23077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Called Logical Exclusion. It is the combination of NOT and OR Operator. If one, and only one, of the expressions evaluates to True, result is True.</a:t>
                      </a:r>
                    </a:p>
                  </a:txBody>
                  <a:tcPr marL="23077" marR="23077" marT="23077" marB="23077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(a&lt;&gt;0 XOR b&lt;&gt;0) is false.</a:t>
                      </a:r>
                    </a:p>
                  </a:txBody>
                  <a:tcPr marL="23077" marR="23077" marT="23077" marB="2307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5918AD-3392-4D32-9A58-FFFADAA70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085576"/>
              </p:ext>
            </p:extLst>
          </p:nvPr>
        </p:nvGraphicFramePr>
        <p:xfrm>
          <a:off x="3295831" y="5017770"/>
          <a:ext cx="5753100" cy="1383030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191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Operator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Description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Example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+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Adds two Values as Variable Values are Numeric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A + B will give 15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&amp;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Concatenates two Values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A &amp; B will give 510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191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184739-248F-410C-B2EF-6B2F58902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Typy cyklů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1183D61-175D-48B4-9396-49D535B62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B2AC929-901E-466E-BE68-07E756E2CD9A}" type="datetime1">
              <a:rPr lang="cs-CZ" smtClean="0"/>
              <a:t>07.04.2020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454C279-0A2F-47A3-A8D7-9C4778D1E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701870"/>
              </p:ext>
            </p:extLst>
          </p:nvPr>
        </p:nvGraphicFramePr>
        <p:xfrm>
          <a:off x="401129" y="1723740"/>
          <a:ext cx="4782038" cy="4818432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1425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6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191"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effectLst/>
                        </a:rPr>
                        <a:t>Loop Type</a:t>
                      </a:r>
                    </a:p>
                  </a:txBody>
                  <a:tcPr marL="39586" marR="39586" marT="39586" marB="3958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effectLst/>
                        </a:rPr>
                        <a:t>Description</a:t>
                      </a:r>
                    </a:p>
                  </a:txBody>
                  <a:tcPr marL="39586" marR="39586" marT="39586" marB="3958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226">
                <a:tc>
                  <a:txBody>
                    <a:bodyPr/>
                    <a:lstStyle/>
                    <a:p>
                      <a:r>
                        <a:rPr lang="en-US" sz="1500" b="1" u="none" strike="noStrike" dirty="0">
                          <a:solidFill>
                            <a:srgbClr val="313131"/>
                          </a:solidFill>
                          <a:effectLst/>
                          <a:hlinkClick r:id="rId2" tooltip="for loop in VBA"/>
                        </a:rPr>
                        <a:t>for loop</a:t>
                      </a:r>
                      <a:endParaRPr lang="en-US" sz="1500" dirty="0">
                        <a:effectLst/>
                      </a:endParaRPr>
                    </a:p>
                  </a:txBody>
                  <a:tcPr marL="39586" marR="39586" marT="39586" marB="39586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Executes a sequence of statements multiple times and abbreviates the code that manages the loop variable.</a:t>
                      </a:r>
                    </a:p>
                  </a:txBody>
                  <a:tcPr marL="39586" marR="39586" marT="39586" marB="3958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226">
                <a:tc>
                  <a:txBody>
                    <a:bodyPr/>
                    <a:lstStyle/>
                    <a:p>
                      <a:r>
                        <a:rPr lang="en-US" sz="1500" b="1" u="none" strike="noStrike">
                          <a:solidFill>
                            <a:srgbClr val="313131"/>
                          </a:solidFill>
                          <a:effectLst/>
                          <a:hlinkClick r:id="rId3" tooltip="for each loop in VBA"/>
                        </a:rPr>
                        <a:t>for ..each loop</a:t>
                      </a:r>
                      <a:endParaRPr lang="en-US" sz="1500">
                        <a:effectLst/>
                      </a:endParaRPr>
                    </a:p>
                  </a:txBody>
                  <a:tcPr marL="39586" marR="39586" marT="39586" marB="39586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This is executed if there is at least one element in group and reiterated for each element in a group.</a:t>
                      </a:r>
                    </a:p>
                  </a:txBody>
                  <a:tcPr marL="39586" marR="39586" marT="39586" marB="3958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208">
                <a:tc>
                  <a:txBody>
                    <a:bodyPr/>
                    <a:lstStyle/>
                    <a:p>
                      <a:r>
                        <a:rPr lang="en-US" sz="1500" b="1" u="none" strike="noStrike">
                          <a:solidFill>
                            <a:srgbClr val="313131"/>
                          </a:solidFill>
                          <a:effectLst/>
                          <a:hlinkClick r:id="rId4" tooltip="while..wend loop in VBA"/>
                        </a:rPr>
                        <a:t>while..wend loop</a:t>
                      </a:r>
                      <a:endParaRPr lang="en-US" sz="1500">
                        <a:effectLst/>
                      </a:endParaRPr>
                    </a:p>
                  </a:txBody>
                  <a:tcPr marL="39586" marR="39586" marT="39586" marB="39586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This tests the condition before executing the loop body.</a:t>
                      </a:r>
                    </a:p>
                  </a:txBody>
                  <a:tcPr marL="39586" marR="39586" marT="39586" marB="3958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1244">
                <a:tc>
                  <a:txBody>
                    <a:bodyPr/>
                    <a:lstStyle/>
                    <a:p>
                      <a:r>
                        <a:rPr lang="en-US" sz="1500" b="1" u="none" strike="noStrike">
                          <a:solidFill>
                            <a:srgbClr val="313131"/>
                          </a:solidFill>
                          <a:effectLst/>
                          <a:hlinkClick r:id="rId5" tooltip="do..while loop in VBA"/>
                        </a:rPr>
                        <a:t>do..while loops</a:t>
                      </a:r>
                      <a:endParaRPr lang="en-US" sz="1500">
                        <a:effectLst/>
                      </a:endParaRPr>
                    </a:p>
                  </a:txBody>
                  <a:tcPr marL="39586" marR="39586" marT="39586" marB="39586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The do..While statements will be executed as long as condition is True.(i.e.,) The Loop should be repeated till the condition is False.</a:t>
                      </a:r>
                    </a:p>
                  </a:txBody>
                  <a:tcPr marL="39586" marR="39586" marT="39586" marB="3958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1244">
                <a:tc>
                  <a:txBody>
                    <a:bodyPr/>
                    <a:lstStyle/>
                    <a:p>
                      <a:r>
                        <a:rPr lang="en-US" sz="1500" b="1" u="none" strike="noStrike">
                          <a:solidFill>
                            <a:srgbClr val="313131"/>
                          </a:solidFill>
                          <a:effectLst/>
                          <a:hlinkClick r:id="rId6" tooltip="do..until loop in VBA"/>
                        </a:rPr>
                        <a:t>do..until loops</a:t>
                      </a:r>
                      <a:endParaRPr lang="en-US" sz="1500">
                        <a:effectLst/>
                      </a:endParaRPr>
                    </a:p>
                  </a:txBody>
                  <a:tcPr marL="39586" marR="39586" marT="39586" marB="39586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The </a:t>
                      </a:r>
                      <a:r>
                        <a:rPr lang="en-US" sz="1500" dirty="0" err="1">
                          <a:effectLst/>
                        </a:rPr>
                        <a:t>do..Until</a:t>
                      </a:r>
                      <a:r>
                        <a:rPr lang="en-US" sz="1500" dirty="0">
                          <a:effectLst/>
                        </a:rPr>
                        <a:t> statements will be executed as long as condition is False.(i.e.,) The Loop should be repeated till the condition is True.</a:t>
                      </a:r>
                    </a:p>
                  </a:txBody>
                  <a:tcPr marL="39586" marR="39586" marT="39586" marB="3958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7">
            <a:extLst>
              <a:ext uri="{FF2B5EF4-FFF2-40B4-BE49-F238E27FC236}">
                <a16:creationId xmlns:a16="http://schemas.microsoft.com/office/drawing/2014/main" id="{A1FA500C-FD62-43A1-8174-ECEC605380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20" y="1723740"/>
            <a:ext cx="2442204" cy="1497886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470EA156-D2F0-41DD-BB6D-8EBEA28532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20" y="3221626"/>
            <a:ext cx="1671236" cy="1505090"/>
          </a:xfrm>
          <a:prstGeom prst="rect">
            <a:avLst/>
          </a:prstGeom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C460F19F-B54B-4B50-A005-05C21EDA78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20" y="4726716"/>
            <a:ext cx="1314633" cy="1019317"/>
          </a:xfrm>
          <a:prstGeom prst="rect">
            <a:avLst/>
          </a:prstGeom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51E9916C-861F-4337-96D0-FC122459FA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037" y="3147787"/>
            <a:ext cx="1267002" cy="1810003"/>
          </a:xfrm>
          <a:prstGeom prst="rect">
            <a:avLst/>
          </a:prstGeom>
        </p:spPr>
      </p:pic>
      <p:pic>
        <p:nvPicPr>
          <p:cNvPr id="10" name="Picture 11">
            <a:extLst>
              <a:ext uri="{FF2B5EF4-FFF2-40B4-BE49-F238E27FC236}">
                <a16:creationId xmlns:a16="http://schemas.microsoft.com/office/drawing/2014/main" id="{C57E3819-CD0D-48AF-A583-A87DE7B37F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906" y="3221626"/>
            <a:ext cx="1295581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18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03C76B-F052-4A7B-9ABD-5852B10CD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Typy Podmínek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CEAF2EB-718B-4617-85D4-E99AB80D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B2AC929-901E-466E-BE68-07E756E2CD9A}" type="datetime1">
              <a:rPr lang="cs-CZ" smtClean="0"/>
              <a:t>07.04.2020</a:t>
            </a:fld>
            <a:endParaRPr lang="en-US"/>
          </a:p>
        </p:txBody>
      </p:sp>
      <p:graphicFrame>
        <p:nvGraphicFramePr>
          <p:cNvPr id="10" name="Table 1">
            <a:extLst>
              <a:ext uri="{FF2B5EF4-FFF2-40B4-BE49-F238E27FC236}">
                <a16:creationId xmlns:a16="http://schemas.microsoft.com/office/drawing/2014/main" id="{0CB48B58-2709-4698-85F2-27AEAFE2A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245238"/>
              </p:ext>
            </p:extLst>
          </p:nvPr>
        </p:nvGraphicFramePr>
        <p:xfrm>
          <a:off x="825883" y="1579775"/>
          <a:ext cx="3789227" cy="4765536"/>
        </p:xfrm>
        <a:graphic>
          <a:graphicData uri="http://schemas.openxmlformats.org/drawingml/2006/table">
            <a:tbl>
              <a:tblPr firstRow="1" firstCol="1" bandRow="1">
                <a:tableStyleId>{1E171933-4619-4E11-9A3F-F7608DF75F80}</a:tableStyleId>
              </a:tblPr>
              <a:tblGrid>
                <a:gridCol w="1323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414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Statement</a:t>
                      </a:r>
                    </a:p>
                  </a:txBody>
                  <a:tcPr marL="31368" marR="31368" marT="31368" marB="313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Description</a:t>
                      </a:r>
                    </a:p>
                  </a:txBody>
                  <a:tcPr marL="31368" marR="31368" marT="31368" marB="3136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771">
                <a:tc>
                  <a:txBody>
                    <a:bodyPr/>
                    <a:lstStyle/>
                    <a:p>
                      <a:r>
                        <a:rPr lang="en-US" sz="1200" b="1" u="none" strike="noStrike">
                          <a:solidFill>
                            <a:srgbClr val="313131"/>
                          </a:solidFill>
                          <a:effectLst/>
                          <a:hlinkClick r:id="rId2" tooltip="VBA if statement"/>
                        </a:rPr>
                        <a:t>if statement</a:t>
                      </a:r>
                      <a:endParaRPr lang="en-US" sz="1200">
                        <a:effectLst/>
                      </a:endParaRPr>
                    </a:p>
                  </a:txBody>
                  <a:tcPr marL="31368" marR="31368" marT="31368" marB="31368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An </a:t>
                      </a:r>
                      <a:r>
                        <a:rPr lang="en-US" sz="1200" b="1" dirty="0">
                          <a:effectLst/>
                        </a:rPr>
                        <a:t>if</a:t>
                      </a:r>
                      <a:r>
                        <a:rPr lang="en-US" sz="1200" dirty="0">
                          <a:effectLst/>
                        </a:rPr>
                        <a:t> statement consists of a </a:t>
                      </a:r>
                      <a:r>
                        <a:rPr lang="en-US" sz="1200" dirty="0" err="1">
                          <a:effectLst/>
                        </a:rPr>
                        <a:t>boolean</a:t>
                      </a:r>
                      <a:r>
                        <a:rPr lang="en-US" sz="1200" dirty="0">
                          <a:effectLst/>
                        </a:rPr>
                        <a:t> expression followed by one or more statements.</a:t>
                      </a:r>
                    </a:p>
                  </a:txBody>
                  <a:tcPr marL="31368" marR="31368" marT="31368" marB="3136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7484">
                <a:tc>
                  <a:txBody>
                    <a:bodyPr/>
                    <a:lstStyle/>
                    <a:p>
                      <a:r>
                        <a:rPr lang="en-US" sz="1200" b="1" u="none" strike="noStrike" dirty="0" err="1">
                          <a:solidFill>
                            <a:srgbClr val="313131"/>
                          </a:solidFill>
                          <a:effectLst/>
                          <a:hlinkClick r:id="rId3" tooltip="VBA if else statement"/>
                        </a:rPr>
                        <a:t>if..else</a:t>
                      </a:r>
                      <a:r>
                        <a:rPr lang="en-US" sz="1200" b="1" u="none" strike="noStrike" dirty="0">
                          <a:solidFill>
                            <a:srgbClr val="313131"/>
                          </a:solidFill>
                          <a:effectLst/>
                          <a:hlinkClick r:id="rId3" tooltip="VBA if else statement"/>
                        </a:rPr>
                        <a:t> statement</a:t>
                      </a:r>
                      <a:endParaRPr lang="en-US" sz="1200" dirty="0">
                        <a:effectLst/>
                      </a:endParaRPr>
                    </a:p>
                  </a:txBody>
                  <a:tcPr marL="31368" marR="31368" marT="31368" marB="31368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An </a:t>
                      </a:r>
                      <a:r>
                        <a:rPr lang="en-US" sz="1200" b="1" dirty="0">
                          <a:effectLst/>
                        </a:rPr>
                        <a:t>if else</a:t>
                      </a:r>
                      <a:r>
                        <a:rPr lang="en-US" sz="1200" dirty="0">
                          <a:effectLst/>
                        </a:rPr>
                        <a:t> statement consists of a </a:t>
                      </a:r>
                      <a:r>
                        <a:rPr lang="en-US" sz="1200" dirty="0" err="1">
                          <a:effectLst/>
                        </a:rPr>
                        <a:t>boolean</a:t>
                      </a:r>
                      <a:r>
                        <a:rPr lang="en-US" sz="1200" dirty="0">
                          <a:effectLst/>
                        </a:rPr>
                        <a:t> expression followed by one or more statements. If the condition is True, the statements under </a:t>
                      </a:r>
                      <a:r>
                        <a:rPr lang="en-US" sz="1200" b="1" dirty="0">
                          <a:effectLst/>
                        </a:rPr>
                        <a:t>If</a:t>
                      </a:r>
                      <a:r>
                        <a:rPr lang="en-US" sz="1200" dirty="0">
                          <a:effectLst/>
                        </a:rPr>
                        <a:t> statements are executed. If the condition is false, Else part of the script is Executed</a:t>
                      </a:r>
                    </a:p>
                  </a:txBody>
                  <a:tcPr marL="31368" marR="31368" marT="31368" marB="3136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6806">
                <a:tc>
                  <a:txBody>
                    <a:bodyPr/>
                    <a:lstStyle/>
                    <a:p>
                      <a:r>
                        <a:rPr lang="en-US" sz="1200" b="1" u="none" strike="noStrike">
                          <a:solidFill>
                            <a:srgbClr val="313131"/>
                          </a:solidFill>
                          <a:effectLst/>
                          <a:hlinkClick r:id="rId4" tooltip="VBA if...elseif...else statement"/>
                        </a:rPr>
                        <a:t>if...elseif..else statement</a:t>
                      </a:r>
                      <a:endParaRPr lang="en-US" sz="1200">
                        <a:effectLst/>
                      </a:endParaRPr>
                    </a:p>
                  </a:txBody>
                  <a:tcPr marL="31368" marR="31368" marT="31368" marB="31368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An </a:t>
                      </a:r>
                      <a:r>
                        <a:rPr lang="en-US" sz="1200" b="1" dirty="0">
                          <a:effectLst/>
                        </a:rPr>
                        <a:t>if</a:t>
                      </a:r>
                      <a:r>
                        <a:rPr lang="en-US" sz="1200" dirty="0">
                          <a:effectLst/>
                        </a:rPr>
                        <a:t> statement followed by one or more </a:t>
                      </a:r>
                      <a:r>
                        <a:rPr lang="en-US" sz="1200" b="1" dirty="0" err="1">
                          <a:effectLst/>
                        </a:rPr>
                        <a:t>ElseIf</a:t>
                      </a:r>
                      <a:r>
                        <a:rPr lang="en-US" sz="1200" dirty="0" err="1">
                          <a:effectLst/>
                        </a:rPr>
                        <a:t>Statements</a:t>
                      </a:r>
                      <a:r>
                        <a:rPr lang="en-US" sz="1200" dirty="0">
                          <a:effectLst/>
                        </a:rPr>
                        <a:t>, that consists of </a:t>
                      </a:r>
                      <a:r>
                        <a:rPr lang="en-US" sz="1200" dirty="0" err="1">
                          <a:effectLst/>
                        </a:rPr>
                        <a:t>boolean</a:t>
                      </a:r>
                      <a:r>
                        <a:rPr lang="en-US" sz="1200" dirty="0">
                          <a:effectLst/>
                        </a:rPr>
                        <a:t> expressions and then followed by an optional </a:t>
                      </a:r>
                      <a:r>
                        <a:rPr lang="en-US" sz="1200" b="1" dirty="0">
                          <a:effectLst/>
                        </a:rPr>
                        <a:t>else statement</a:t>
                      </a:r>
                      <a:r>
                        <a:rPr lang="en-US" sz="1200" dirty="0">
                          <a:effectLst/>
                        </a:rPr>
                        <a:t>, which executes when all the condition becomes false.</a:t>
                      </a:r>
                    </a:p>
                  </a:txBody>
                  <a:tcPr marL="31368" marR="31368" marT="31368" marB="3136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092">
                <a:tc>
                  <a:txBody>
                    <a:bodyPr/>
                    <a:lstStyle/>
                    <a:p>
                      <a:r>
                        <a:rPr lang="en-US" sz="1200" b="1" u="none" strike="noStrike">
                          <a:solidFill>
                            <a:srgbClr val="313131"/>
                          </a:solidFill>
                          <a:effectLst/>
                          <a:hlinkClick r:id="rId5" tooltip="VBA nested if statements"/>
                        </a:rPr>
                        <a:t>nested if statements</a:t>
                      </a:r>
                      <a:endParaRPr lang="en-US" sz="1200">
                        <a:effectLst/>
                      </a:endParaRPr>
                    </a:p>
                  </a:txBody>
                  <a:tcPr marL="31368" marR="31368" marT="31368" marB="31368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An </a:t>
                      </a:r>
                      <a:r>
                        <a:rPr lang="en-US" sz="1200" b="1">
                          <a:effectLst/>
                        </a:rPr>
                        <a:t>if</a:t>
                      </a:r>
                      <a:r>
                        <a:rPr lang="en-US" sz="1200">
                          <a:effectLst/>
                        </a:rPr>
                        <a:t> or </a:t>
                      </a:r>
                      <a:r>
                        <a:rPr lang="en-US" sz="1200" b="1">
                          <a:effectLst/>
                        </a:rPr>
                        <a:t>elseif</a:t>
                      </a:r>
                      <a:r>
                        <a:rPr lang="en-US" sz="1200">
                          <a:effectLst/>
                        </a:rPr>
                        <a:t> statement inside another </a:t>
                      </a:r>
                      <a:r>
                        <a:rPr lang="en-US" sz="1200" b="1">
                          <a:effectLst/>
                        </a:rPr>
                        <a:t>if</a:t>
                      </a:r>
                      <a:r>
                        <a:rPr lang="en-US" sz="1200">
                          <a:effectLst/>
                        </a:rPr>
                        <a:t> or </a:t>
                      </a:r>
                      <a:r>
                        <a:rPr lang="en-US" sz="1200" b="1">
                          <a:effectLst/>
                        </a:rPr>
                        <a:t>elseif</a:t>
                      </a:r>
                      <a:r>
                        <a:rPr lang="en-US" sz="1200">
                          <a:effectLst/>
                        </a:rPr>
                        <a:t>statement(s).</a:t>
                      </a:r>
                    </a:p>
                  </a:txBody>
                  <a:tcPr marL="31368" marR="31368" marT="31368" marB="3136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771">
                <a:tc>
                  <a:txBody>
                    <a:bodyPr/>
                    <a:lstStyle/>
                    <a:p>
                      <a:r>
                        <a:rPr lang="en-US" sz="1200" b="1" u="none" strike="noStrike">
                          <a:solidFill>
                            <a:srgbClr val="313131"/>
                          </a:solidFill>
                          <a:effectLst/>
                          <a:hlinkClick r:id="rId6" tooltip="VBA switch statement"/>
                        </a:rPr>
                        <a:t>switch statement</a:t>
                      </a:r>
                      <a:endParaRPr lang="en-US" sz="1200">
                        <a:effectLst/>
                      </a:endParaRPr>
                    </a:p>
                  </a:txBody>
                  <a:tcPr marL="31368" marR="31368" marT="31368" marB="31368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A </a:t>
                      </a:r>
                      <a:r>
                        <a:rPr lang="en-US" sz="1200" b="1" dirty="0">
                          <a:effectLst/>
                        </a:rPr>
                        <a:t>switch</a:t>
                      </a:r>
                      <a:r>
                        <a:rPr lang="en-US" sz="1200" dirty="0">
                          <a:effectLst/>
                        </a:rPr>
                        <a:t> statement allows a variable to be tested for equality against a list of values.</a:t>
                      </a:r>
                    </a:p>
                  </a:txBody>
                  <a:tcPr marL="31368" marR="31368" marT="31368" marB="3136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Picture 3">
            <a:extLst>
              <a:ext uri="{FF2B5EF4-FFF2-40B4-BE49-F238E27FC236}">
                <a16:creationId xmlns:a16="http://schemas.microsoft.com/office/drawing/2014/main" id="{E8B11305-90E1-4F89-8B9B-F6457398C2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83" y="2248467"/>
            <a:ext cx="1662925" cy="920867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5CD7293C-7F4F-41D8-BA88-3C53C7040F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83" y="3503260"/>
            <a:ext cx="1552138" cy="1526693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CFD96F02-7D28-4E52-9268-C130FEC484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778" y="408321"/>
            <a:ext cx="2028681" cy="3020679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53FC0B3D-DC4D-4496-9DC4-CBA58F9A980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1874" y="3455413"/>
            <a:ext cx="1295834" cy="2776787"/>
          </a:xfrm>
          <a:prstGeom prst="rect">
            <a:avLst/>
          </a:prstGeom>
        </p:spPr>
      </p:pic>
      <p:pic>
        <p:nvPicPr>
          <p:cNvPr id="15" name="Picture 9">
            <a:extLst>
              <a:ext uri="{FF2B5EF4-FFF2-40B4-BE49-F238E27FC236}">
                <a16:creationId xmlns:a16="http://schemas.microsoft.com/office/drawing/2014/main" id="{1ED659CD-C6DF-47BA-BE44-4068EAE56D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550" y="1070483"/>
            <a:ext cx="2372056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44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2741F6-B6B7-4BBC-AB85-AE8A9B57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D2A11A-7DB0-4A43-BAAF-F198EE425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725140"/>
          </a:xfrm>
        </p:spPr>
        <p:txBody>
          <a:bodyPr/>
          <a:lstStyle/>
          <a:p>
            <a:r>
              <a:rPr lang="cs-CZ" dirty="0"/>
              <a:t>Funkce je blok kódu, který je znovu využitelný a může být volaný kdekoli v programu.</a:t>
            </a:r>
          </a:p>
          <a:p>
            <a:r>
              <a:rPr lang="cs-CZ" dirty="0"/>
              <a:t>Funkce většinou vrací nějakou hodnotu, tím se liší od procedury.</a:t>
            </a:r>
          </a:p>
          <a:p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BBB2E40-B54A-49DB-9E46-8A87A10A9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B2AC929-901E-466E-BE68-07E756E2CD9A}" type="datetime1">
              <a:rPr lang="cs-CZ" smtClean="0"/>
              <a:t>07.04.2020</a:t>
            </a:fld>
            <a:endParaRPr lang="en-US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A760EF2D-00F9-4147-94F7-EE3C7AF58B1F}"/>
              </a:ext>
            </a:extLst>
          </p:cNvPr>
          <p:cNvSpPr txBox="1"/>
          <p:nvPr/>
        </p:nvSpPr>
        <p:spPr>
          <a:xfrm>
            <a:off x="1066800" y="4738078"/>
            <a:ext cx="791905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500" dirty="0"/>
              <a:t>Funkci</a:t>
            </a:r>
            <a:r>
              <a:rPr lang="en-US" sz="1500" dirty="0"/>
              <a:t> </a:t>
            </a:r>
            <a:r>
              <a:rPr lang="cs-CZ" sz="1500" dirty="0"/>
              <a:t>voláme dvěma způsoby:</a:t>
            </a:r>
          </a:p>
          <a:p>
            <a:endParaRPr lang="cs-CZ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500" dirty="0"/>
              <a:t>Uvedením názvu funkci následovaném argumenty v závorkách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500" dirty="0"/>
              <a:t>Příkazem call následovaným názvem procedury. Pokud to uděláme, návratový typ se zahodí.</a:t>
            </a:r>
            <a:endParaRPr lang="en-US" sz="1500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5B696661-2F0D-4860-8F55-8F6477971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10" y="3159194"/>
            <a:ext cx="3877216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94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E88F7A-5949-4109-B1AC-BC916950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Procedury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DD4F53-1253-4B42-A551-DDE169965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661345"/>
          </a:xfrm>
        </p:spPr>
        <p:txBody>
          <a:bodyPr>
            <a:normAutofit fontScale="92500" lnSpcReduction="10000"/>
          </a:bodyPr>
          <a:lstStyle/>
          <a:p>
            <a:r>
              <a:rPr lang="cs-CZ" dirty="0"/>
              <a:t>Procedury se využívají ze stejného důvodu jako funkce.</a:t>
            </a:r>
          </a:p>
          <a:p>
            <a:r>
              <a:rPr lang="cs-CZ" dirty="0"/>
              <a:t>Na rozdíl od funkcí ale nevracejí hodnotu.</a:t>
            </a:r>
            <a:endParaRPr lang="en-US" dirty="0"/>
          </a:p>
          <a:p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84E675F-90EE-4EDC-A997-5B1D4DC7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B2AC929-901E-466E-BE68-07E756E2CD9A}" type="datetime1">
              <a:rPr lang="cs-CZ" smtClean="0"/>
              <a:t>07.04.2020</a:t>
            </a:fld>
            <a:endParaRPr lang="en-US"/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C56E6A62-BC6F-4F32-B911-DF4D5D5A8018}"/>
              </a:ext>
            </a:extLst>
          </p:cNvPr>
          <p:cNvSpPr txBox="1"/>
          <p:nvPr/>
        </p:nvSpPr>
        <p:spPr>
          <a:xfrm>
            <a:off x="1066800" y="4430302"/>
            <a:ext cx="878958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cs-CZ" sz="1500" dirty="0"/>
              <a:t>Procedura se volá třemi způsoby:</a:t>
            </a:r>
          </a:p>
          <a:p>
            <a:pPr>
              <a:spcBef>
                <a:spcPts val="600"/>
              </a:spcBef>
            </a:pPr>
            <a:endParaRPr lang="cs-CZ" sz="15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1500" dirty="0"/>
              <a:t>Uvedením názvu procedury následované argumenty bez závorek.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1500" dirty="0"/>
              <a:t>Uvedením názvu procedury následovaném argumenty v závorkách. Tím říkáme, že využijeme návratový typ procedury, takže ji voláme jako funkce.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1500" dirty="0"/>
              <a:t>Příkazem call následovaným názvem procedury a v závorkách argumenty.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4ABAED20-E046-4EBD-A89E-0FB537314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368455"/>
            <a:ext cx="2333951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43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7680802-D39D-408F-BE85-078246846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901703"/>
            <a:ext cx="4663440" cy="640080"/>
          </a:xfrm>
        </p:spPr>
        <p:txBody>
          <a:bodyPr/>
          <a:lstStyle/>
          <a:p>
            <a:r>
              <a:rPr lang="cs-CZ" dirty="0"/>
              <a:t>Modifikátory přístup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4170B96-CAA1-436C-9EB9-A369820E9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9846" y="1665420"/>
            <a:ext cx="4663440" cy="316382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Public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cs-CZ" dirty="0"/>
              <a:t>Ve všech modulech a procedurách lze zavolat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 err="1"/>
              <a:t>Private</a:t>
            </a:r>
            <a:r>
              <a:rPr lang="cs-CZ" dirty="0"/>
              <a:t>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cs-CZ" dirty="0"/>
              <a:t>Dostupné pouze pro modul</a:t>
            </a:r>
          </a:p>
          <a:p>
            <a:endParaRPr lang="cs-CZ" dirty="0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B245327-4C57-4847-B828-84A1D98105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71596" y="901703"/>
            <a:ext cx="4663440" cy="640080"/>
          </a:xfrm>
        </p:spPr>
        <p:txBody>
          <a:bodyPr/>
          <a:lstStyle/>
          <a:p>
            <a:r>
              <a:rPr lang="cs-CZ" dirty="0"/>
              <a:t>Klíčová slova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BF91A5E-DCBC-42E4-A486-AF42507F25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58714" y="1665420"/>
            <a:ext cx="4663440" cy="4586524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500" dirty="0" err="1"/>
              <a:t>Optional</a:t>
            </a:r>
            <a:r>
              <a:rPr lang="cs-CZ" sz="1500" dirty="0"/>
              <a:t> [argument funkce]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cs-CZ" sz="1500" dirty="0"/>
              <a:t>Argument funkce je volitelný, nemusí  být zadán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500" dirty="0" err="1"/>
              <a:t>ByRef</a:t>
            </a:r>
            <a:r>
              <a:rPr lang="cs-CZ" sz="1500" dirty="0"/>
              <a:t> [argument funkce]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cs-CZ" sz="1500" dirty="0"/>
              <a:t>Hodnota argumentu funkce bude 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500" dirty="0" err="1"/>
              <a:t>ByVal</a:t>
            </a:r>
            <a:r>
              <a:rPr lang="cs-CZ" sz="1500" dirty="0"/>
              <a:t> [argument funkce]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cs-CZ" sz="1500" dirty="0"/>
              <a:t>Hodnota argumentu funkce se </a:t>
            </a:r>
            <a:r>
              <a:rPr lang="cs-CZ" sz="1500" dirty="0" err="1"/>
              <a:t>skopíruje</a:t>
            </a:r>
            <a:endParaRPr lang="cs-CZ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500" dirty="0" err="1"/>
              <a:t>CONST</a:t>
            </a:r>
            <a:r>
              <a:rPr lang="cs-CZ" sz="1500" dirty="0"/>
              <a:t> [proměnné]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cs-CZ" sz="1500" dirty="0"/>
              <a:t>Nastaví proměnné hodnotu, která nelze změnit.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500" dirty="0" err="1"/>
              <a:t>Dim</a:t>
            </a:r>
            <a:r>
              <a:rPr lang="cs-CZ" sz="1500" dirty="0"/>
              <a:t> [proměnné]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cs-CZ" sz="1500" dirty="0"/>
              <a:t>Dostupné pro proceduru v daném modulu</a:t>
            </a:r>
          </a:p>
          <a:p>
            <a:endParaRPr lang="cs-CZ" sz="1500" dirty="0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91E7F64D-3681-4A06-B870-6E88C7F4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71B7C9-1526-4531-B1BE-04E9A37FA2CE}" type="datetime1">
              <a:rPr lang="cs-CZ" smtClean="0"/>
              <a:t>07.04.2020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62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21DC43-EC73-4652-8BEA-351A597A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VBA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30E62DF-8FF7-4C2C-947D-24D5A2AE6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5711" y="4682060"/>
            <a:ext cx="8939784" cy="457200"/>
          </a:xfrm>
        </p:spPr>
        <p:txBody>
          <a:bodyPr/>
          <a:lstStyle/>
          <a:p>
            <a:r>
              <a:rPr lang="cs-CZ" dirty="0"/>
              <a:t>Tomáš Vrzal	Adam Matula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55687FC-CD10-47DC-8D88-747319A86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CF5898F-43A4-4623-95FA-D301F8EA43EB}" type="datetime1">
              <a:rPr lang="cs-CZ" smtClean="0"/>
              <a:t>07.04.2020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6439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89_TF78438558" id="{AA281ABA-03DA-437C-8D75-29E1E8C7EFDD}" vid="{4E1E5E86-B9E6-4CB7-B9C7-D05656AD29D3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{E6232F1B-D354-456B-B3F5-ECD95D8A6FBA}tf78438558</Template>
  <TotalTime>0</TotalTime>
  <Words>1074</Words>
  <Application>Microsoft Office PowerPoint</Application>
  <PresentationFormat>Širokoúhlá obrazovka</PresentationFormat>
  <Paragraphs>156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Courier New</vt:lpstr>
      <vt:lpstr>Garamond</vt:lpstr>
      <vt:lpstr>SavonVTI</vt:lpstr>
      <vt:lpstr>VBA</vt:lpstr>
      <vt:lpstr>Základní info</vt:lpstr>
      <vt:lpstr>Moduly</vt:lpstr>
      <vt:lpstr>Datové typy</vt:lpstr>
      <vt:lpstr>Operátory</vt:lpstr>
      <vt:lpstr>Operátory</vt:lpstr>
      <vt:lpstr>Typy cyklů</vt:lpstr>
      <vt:lpstr>Typy Podmínek</vt:lpstr>
      <vt:lpstr>Funkce</vt:lpstr>
      <vt:lpstr>Procedury</vt:lpstr>
      <vt:lpstr>Prezentace aplikace PowerPoint</vt:lpstr>
      <vt:lpstr>VBA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2020-04-07T08:31:01Z</dcterms:created>
  <dcterms:modified xsi:type="dcterms:W3CDTF">2020-04-07T09:01:25Z</dcterms:modified>
</cp:coreProperties>
</file>