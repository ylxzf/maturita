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617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695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921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992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2/25/2025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467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2/25/2025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0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2/25/2025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735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505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146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691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27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6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89" r:id="rId6"/>
    <p:sldLayoutId id="2147483685" r:id="rId7"/>
    <p:sldLayoutId id="2147483686" r:id="rId8"/>
    <p:sldLayoutId id="2147483687" r:id="rId9"/>
    <p:sldLayoutId id="2147483688" r:id="rId10"/>
    <p:sldLayoutId id="214748369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hatgpt.com/" TargetMode="External"/><Relationship Id="rId2" Type="http://schemas.openxmlformats.org/officeDocument/2006/relationships/hyperlink" Target="https://cs.wikipedia.org/wiki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office.lasakovi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E5473D2-DD46-DFAF-84EC-264D6CE58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162C81-90A9-0269-D561-24A6A3EDA2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640" r="20170" b="2"/>
          <a:stretch/>
        </p:blipFill>
        <p:spPr>
          <a:xfrm>
            <a:off x="2" y="10"/>
            <a:ext cx="6648448" cy="685799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A6F2F872-853E-C20E-5BC8-D1F8004109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67550" y="1585762"/>
            <a:ext cx="4564611" cy="2811737"/>
          </a:xfrm>
        </p:spPr>
        <p:txBody>
          <a:bodyPr>
            <a:normAutofit/>
          </a:bodyPr>
          <a:lstStyle/>
          <a:p>
            <a:pPr algn="l"/>
            <a:r>
              <a:rPr lang="cs-CZ" sz="4400" dirty="0"/>
              <a:t>Databázový procesor</a:t>
            </a:r>
            <a:br>
              <a:rPr lang="cs-CZ" sz="4400" dirty="0"/>
            </a:br>
            <a:r>
              <a:rPr lang="cs-CZ" sz="4400" dirty="0"/>
              <a:t>VBA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D74DA4F1-D0DB-3415-9C39-B8B6F3DA5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30716" y="4524046"/>
            <a:ext cx="4038277" cy="1319951"/>
          </a:xfrm>
        </p:spPr>
        <p:txBody>
          <a:bodyPr>
            <a:normAutofit/>
          </a:bodyPr>
          <a:lstStyle/>
          <a:p>
            <a:pPr algn="l"/>
            <a:r>
              <a:rPr lang="cs-CZ" dirty="0"/>
              <a:t>Švorčík Ondřej, Kvasnička Filip</a:t>
            </a:r>
          </a:p>
        </p:txBody>
      </p:sp>
    </p:spTree>
    <p:extLst>
      <p:ext uri="{BB962C8B-B14F-4D97-AF65-F5344CB8AC3E}">
        <p14:creationId xmlns:p14="http://schemas.microsoft.com/office/powerpoint/2010/main" val="1050010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F3F2FF9-5990-602E-60CC-CF981082E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VBA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DCAA3CA-C06D-5C40-7064-6C4053675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Visual Basic for Applications</a:t>
            </a:r>
          </a:p>
          <a:p>
            <a:r>
              <a:rPr lang="cs-CZ" dirty="0"/>
              <a:t>Programovací jazyk od Microsoftu</a:t>
            </a:r>
          </a:p>
          <a:p>
            <a:r>
              <a:rPr lang="cs-CZ" dirty="0"/>
              <a:t>Pro aplikace sady Microsoft Office</a:t>
            </a:r>
          </a:p>
          <a:p>
            <a:pPr lvl="1"/>
            <a:r>
              <a:rPr lang="cs-CZ" dirty="0"/>
              <a:t>MS Access</a:t>
            </a:r>
          </a:p>
          <a:p>
            <a:pPr lvl="1"/>
            <a:r>
              <a:rPr lang="cs-CZ" dirty="0"/>
              <a:t>MS Excel</a:t>
            </a:r>
          </a:p>
          <a:p>
            <a:pPr lvl="1"/>
            <a:r>
              <a:rPr lang="cs-CZ" dirty="0"/>
              <a:t>MS Word</a:t>
            </a:r>
          </a:p>
          <a:p>
            <a:pPr lvl="1"/>
            <a:r>
              <a:rPr lang="cs-CZ" dirty="0"/>
              <a:t>A další…</a:t>
            </a:r>
          </a:p>
        </p:txBody>
      </p:sp>
    </p:spTree>
    <p:extLst>
      <p:ext uri="{BB962C8B-B14F-4D97-AF65-F5344CB8AC3E}">
        <p14:creationId xmlns:p14="http://schemas.microsoft.com/office/powerpoint/2010/main" val="1306945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A39B309-BB45-E801-8E1F-EEF74CF34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Moduly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5BC035A-FF62-18D8-8E0C-F5A3399AE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Samostatně pojmenovaný objekt aplikace pro strukturování kódu</a:t>
            </a:r>
          </a:p>
          <a:p>
            <a:r>
              <a:rPr lang="cs-CZ" b="1" dirty="0"/>
              <a:t>Standartní moduly</a:t>
            </a:r>
          </a:p>
          <a:p>
            <a:pPr lvl="1"/>
            <a:r>
              <a:rPr lang="cs-CZ" dirty="0"/>
              <a:t>Obsahují procedury a funkce, které lze volat odkudkoliv v projektu</a:t>
            </a:r>
          </a:p>
          <a:p>
            <a:pPr lvl="1"/>
            <a:r>
              <a:rPr lang="cs-CZ" dirty="0"/>
              <a:t>Pro běžné makra a opakovaně použitelné funkce</a:t>
            </a:r>
          </a:p>
          <a:p>
            <a:r>
              <a:rPr lang="cs-CZ" b="1" dirty="0"/>
              <a:t>Moduly třídy</a:t>
            </a:r>
          </a:p>
          <a:p>
            <a:pPr lvl="1"/>
            <a:r>
              <a:rPr lang="cs-CZ" dirty="0"/>
              <a:t>Umožňují vytvářet vlastní objekty</a:t>
            </a:r>
          </a:p>
          <a:p>
            <a:r>
              <a:rPr lang="cs-CZ" b="1" dirty="0"/>
              <a:t>Moduly formulářů</a:t>
            </a:r>
          </a:p>
          <a:p>
            <a:pPr lvl="1"/>
            <a:r>
              <a:rPr lang="cs-CZ" dirty="0"/>
              <a:t>K vytváření vlastních uživatelských formulářů s ovládacími prvky</a:t>
            </a:r>
          </a:p>
        </p:txBody>
      </p:sp>
    </p:spTree>
    <p:extLst>
      <p:ext uri="{BB962C8B-B14F-4D97-AF65-F5344CB8AC3E}">
        <p14:creationId xmlns:p14="http://schemas.microsoft.com/office/powerpoint/2010/main" val="2853255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E250225-24FF-56BA-1638-A3EDEFB6A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cs-CZ" dirty="0"/>
              <a:t>Datové typy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87DA510-0667-CDBF-0C4A-3A106D2CF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>
            <a:normAutofit/>
          </a:bodyPr>
          <a:lstStyle/>
          <a:p>
            <a:r>
              <a:rPr lang="cs-CZ" sz="1800" dirty="0"/>
              <a:t>Definují druhy hodnot</a:t>
            </a:r>
          </a:p>
          <a:p>
            <a:r>
              <a:rPr lang="cs-CZ" sz="1800" dirty="0"/>
              <a:t>Číselné, textové, datumové </a:t>
            </a:r>
            <a:br>
              <a:rPr lang="cs-CZ" sz="1800" dirty="0"/>
            </a:br>
            <a:r>
              <a:rPr lang="cs-CZ" sz="1800" dirty="0"/>
              <a:t>a speciální datové typy</a:t>
            </a:r>
          </a:p>
          <a:p>
            <a:r>
              <a:rPr lang="cs-CZ" sz="1800" dirty="0"/>
              <a:t>Deklarují se pomocí klíčového </a:t>
            </a:r>
            <a:br>
              <a:rPr lang="cs-CZ" sz="1800" dirty="0"/>
            </a:br>
            <a:r>
              <a:rPr lang="cs-CZ" sz="1800" dirty="0"/>
              <a:t>slova „Dim“</a:t>
            </a:r>
          </a:p>
          <a:p>
            <a:r>
              <a:rPr lang="cs-CZ" sz="1800" dirty="0"/>
              <a:t>Není-li proměnná deklarována, </a:t>
            </a:r>
            <a:br>
              <a:rPr lang="cs-CZ" sz="1800" dirty="0"/>
            </a:br>
            <a:r>
              <a:rPr lang="cs-CZ" sz="1800" dirty="0"/>
              <a:t>nabývá typ Variant</a:t>
            </a:r>
          </a:p>
          <a:p>
            <a:endParaRPr lang="cs-CZ" sz="1800" dirty="0"/>
          </a:p>
          <a:p>
            <a:endParaRPr lang="cs-CZ" sz="1800" dirty="0"/>
          </a:p>
        </p:txBody>
      </p:sp>
      <p:pic>
        <p:nvPicPr>
          <p:cNvPr id="23" name="Obrázek 22">
            <a:extLst>
              <a:ext uri="{FF2B5EF4-FFF2-40B4-BE49-F238E27FC236}">
                <a16:creationId xmlns:a16="http://schemas.microsoft.com/office/drawing/2014/main" id="{73DDA22B-2199-D113-B1FE-B1577A6DE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5795" y="746162"/>
            <a:ext cx="6813557" cy="536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107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59EA0DD-14AB-3F38-A182-6CA7A47E4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Konstanty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0A836EC-F2DC-6FFB-63FF-DF8F2EEE2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Speciální proměnné, jejichž hodnota se během běhu programu nemění</a:t>
            </a:r>
          </a:p>
          <a:p>
            <a:r>
              <a:rPr lang="cs-CZ" dirty="0"/>
              <a:t>Pro zlepšení čitelnosti kódu, zabránění chybám a snadnější úpravy kódu.</a:t>
            </a:r>
          </a:p>
          <a:p>
            <a:r>
              <a:rPr lang="cs-CZ" sz="2000" dirty="0"/>
              <a:t>Deklarují se pomocí klíčového slova „Const“</a:t>
            </a:r>
          </a:p>
          <a:p>
            <a:r>
              <a:rPr lang="cs-CZ" b="1" dirty="0"/>
              <a:t>Lokální konstanty</a:t>
            </a:r>
          </a:p>
          <a:p>
            <a:pPr lvl="1"/>
            <a:r>
              <a:rPr lang="cs-CZ" dirty="0"/>
              <a:t>Je definována uvnitř procedury a platí pouze v ní.</a:t>
            </a:r>
            <a:endParaRPr lang="cs-CZ" b="1" dirty="0"/>
          </a:p>
          <a:p>
            <a:r>
              <a:rPr lang="cs-CZ" sz="2000" b="1" dirty="0"/>
              <a:t>Globální konstanty</a:t>
            </a:r>
          </a:p>
          <a:p>
            <a:pPr lvl="1"/>
            <a:r>
              <a:rPr lang="cs-CZ" dirty="0"/>
              <a:t>Platí pro celý projekt</a:t>
            </a:r>
          </a:p>
          <a:p>
            <a:r>
              <a:rPr lang="cs-CZ" b="1" dirty="0"/>
              <a:t>Předdefinované konstanty</a:t>
            </a:r>
          </a:p>
          <a:p>
            <a:pPr lvl="1"/>
            <a:r>
              <a:rPr lang="cs-CZ" dirty="0"/>
              <a:t>Barvy, zprávy, typ souboru při ukládání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187478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65680DE-1C97-FCC2-30B0-9A03C1386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Proměnné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52396DB-5BA8-03A4-685F-17D36E699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680898"/>
            <a:ext cx="10653579" cy="4593828"/>
          </a:xfrm>
        </p:spPr>
        <p:txBody>
          <a:bodyPr>
            <a:normAutofit/>
          </a:bodyPr>
          <a:lstStyle/>
          <a:p>
            <a:r>
              <a:rPr lang="cs-CZ" dirty="0"/>
              <a:t>Slouží k ukládání hodnot během běhu programu</a:t>
            </a:r>
          </a:p>
          <a:p>
            <a:r>
              <a:rPr lang="cs-CZ" dirty="0"/>
              <a:t>Umožňují dynamickou práci s daty, manipulaci a výpočty</a:t>
            </a:r>
          </a:p>
          <a:p>
            <a:r>
              <a:rPr lang="cs-CZ" b="1" dirty="0"/>
              <a:t>Private</a:t>
            </a:r>
          </a:p>
          <a:p>
            <a:pPr lvl="1"/>
            <a:r>
              <a:rPr lang="cs-CZ" dirty="0"/>
              <a:t>proměnná platí jen v daném modulu</a:t>
            </a:r>
            <a:endParaRPr lang="cs-CZ" b="1" dirty="0"/>
          </a:p>
          <a:p>
            <a:r>
              <a:rPr lang="cs-CZ" b="1" dirty="0"/>
              <a:t>Public</a:t>
            </a:r>
          </a:p>
          <a:p>
            <a:pPr lvl="1"/>
            <a:r>
              <a:rPr lang="cs-CZ" dirty="0"/>
              <a:t>proměnná platná pro celý projekt</a:t>
            </a:r>
            <a:endParaRPr lang="cs-CZ" b="1" dirty="0"/>
          </a:p>
          <a:p>
            <a:r>
              <a:rPr lang="cs-CZ" b="1" dirty="0"/>
              <a:t>Static</a:t>
            </a:r>
          </a:p>
          <a:p>
            <a:pPr lvl="1"/>
            <a:r>
              <a:rPr lang="pl-PL" dirty="0"/>
              <a:t>uchovává hodnotu i po skončení procedury</a:t>
            </a:r>
            <a:endParaRPr lang="cs-CZ" b="1" dirty="0"/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0EAA8FC7-5FAC-2496-54FC-9BC1C4931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6246" y="2963182"/>
            <a:ext cx="3735553" cy="2561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102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86C8082-0C3A-307A-E465-46250DBB1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Zápis kódu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3A3BF56-3FF5-A577-0E82-A9DDAA3E5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D</a:t>
            </a:r>
            <a:r>
              <a:rPr lang="pt-BR" dirty="0"/>
              <a:t>o modulů</a:t>
            </a:r>
            <a:r>
              <a:rPr lang="cs-CZ" dirty="0"/>
              <a:t>, obsahuje funkce, proměnné a příkazy.</a:t>
            </a:r>
          </a:p>
          <a:p>
            <a:r>
              <a:rPr lang="cs-CZ" dirty="0"/>
              <a:t>Pro přehlednost a lepší čitelnost kódu</a:t>
            </a:r>
          </a:p>
          <a:p>
            <a:r>
              <a:rPr lang="cs-CZ" b="1" dirty="0"/>
              <a:t>Komentáře </a:t>
            </a:r>
          </a:p>
          <a:p>
            <a:pPr lvl="1"/>
            <a:r>
              <a:rPr lang="cs-CZ" dirty="0"/>
              <a:t> Pomocí apostrofu '</a:t>
            </a:r>
          </a:p>
          <a:p>
            <a:r>
              <a:rPr lang="cs-CZ" b="1" dirty="0"/>
              <a:t>Odsazování</a:t>
            </a:r>
          </a:p>
          <a:p>
            <a:pPr lvl="1"/>
            <a:r>
              <a:rPr lang="cs-CZ" dirty="0"/>
              <a:t>Pro cykly, case příkazy, atd. Doporučené jsou 4 mezery</a:t>
            </a:r>
          </a:p>
          <a:p>
            <a:r>
              <a:rPr lang="cs-CZ" b="1" dirty="0"/>
              <a:t>Velká a malá písmena</a:t>
            </a:r>
          </a:p>
          <a:p>
            <a:pPr lvl="1"/>
            <a:r>
              <a:rPr lang="cs-CZ" sz="1800" dirty="0"/>
              <a:t>VBA </a:t>
            </a:r>
            <a:r>
              <a:rPr lang="pt-BR" sz="1800" dirty="0"/>
              <a:t>malá a velká písmena </a:t>
            </a:r>
            <a:r>
              <a:rPr lang="cs-CZ" sz="1800" dirty="0"/>
              <a:t>nerozlišuje</a:t>
            </a:r>
            <a:endParaRPr lang="cs-CZ" dirty="0"/>
          </a:p>
          <a:p>
            <a:r>
              <a:rPr lang="cs-CZ" b="1" dirty="0"/>
              <a:t>Rozdělení příkazu na více řádků</a:t>
            </a:r>
          </a:p>
          <a:p>
            <a:pPr lvl="1"/>
            <a:r>
              <a:rPr lang="cs-CZ" dirty="0"/>
              <a:t>Vhodné pro dlouhé příkazy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05017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DB4BC17-A25E-A91E-A3AD-90E5CE9F1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Řídící příkazy a cykly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19FCDE9-0CE3-9DFA-3B2B-46C4688DD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Řízení toku programu.</a:t>
            </a:r>
            <a:endParaRPr lang="cs-CZ" b="1" dirty="0"/>
          </a:p>
          <a:p>
            <a:r>
              <a:rPr lang="cs-CZ" b="1" dirty="0"/>
              <a:t>Větvení </a:t>
            </a:r>
            <a:r>
              <a:rPr lang="cs-CZ" dirty="0"/>
              <a:t>-</a:t>
            </a:r>
            <a:r>
              <a:rPr lang="cs-CZ" b="1" dirty="0"/>
              <a:t> </a:t>
            </a:r>
            <a:r>
              <a:rPr lang="cs-CZ" dirty="0"/>
              <a:t>pro rozhodování na základě podmínek.</a:t>
            </a:r>
            <a:endParaRPr lang="cs-CZ" b="1" dirty="0"/>
          </a:p>
          <a:p>
            <a:pPr lvl="1"/>
            <a:r>
              <a:rPr lang="cs-CZ" dirty="0"/>
              <a:t>If…then…else</a:t>
            </a:r>
          </a:p>
          <a:p>
            <a:pPr lvl="1"/>
            <a:r>
              <a:rPr lang="cs-CZ" dirty="0"/>
              <a:t>Select case</a:t>
            </a:r>
          </a:p>
          <a:p>
            <a:r>
              <a:rPr lang="cs-CZ" b="1" dirty="0"/>
              <a:t>Cykly </a:t>
            </a:r>
            <a:r>
              <a:rPr lang="cs-CZ" dirty="0"/>
              <a:t>- k opakování kódu podle dané podmínky.</a:t>
            </a:r>
            <a:endParaRPr lang="cs-CZ" b="1" dirty="0"/>
          </a:p>
          <a:p>
            <a:pPr lvl="1"/>
            <a:r>
              <a:rPr lang="cs-CZ" dirty="0"/>
              <a:t>Do…Loop</a:t>
            </a:r>
          </a:p>
          <a:p>
            <a:pPr lvl="1"/>
            <a:r>
              <a:rPr lang="cs-CZ" dirty="0"/>
              <a:t>For…Next</a:t>
            </a:r>
          </a:p>
          <a:p>
            <a:pPr lvl="1"/>
            <a:r>
              <a:rPr lang="cs-CZ" dirty="0"/>
              <a:t>For each…Next</a:t>
            </a:r>
          </a:p>
          <a:p>
            <a:pPr lvl="1"/>
            <a:r>
              <a:rPr lang="cs-CZ" dirty="0"/>
              <a:t>While…Wend</a:t>
            </a:r>
          </a:p>
          <a:p>
            <a:pPr lvl="1"/>
            <a:endParaRPr lang="cs-CZ" dirty="0"/>
          </a:p>
          <a:p>
            <a:pPr lvl="1"/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2395521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9B715F6-3D55-2ED5-2765-5E9305739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Procedury a funkce 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ED088B0-996D-1C1F-D20B-CB338770C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680898"/>
            <a:ext cx="10653579" cy="4593828"/>
          </a:xfrm>
        </p:spPr>
        <p:txBody>
          <a:bodyPr/>
          <a:lstStyle/>
          <a:p>
            <a:r>
              <a:rPr lang="cs-CZ" dirty="0"/>
              <a:t>Bloky kódu, které provádějí konkrétní úlohy.</a:t>
            </a:r>
            <a:endParaRPr lang="cs-CZ" b="1" dirty="0"/>
          </a:p>
          <a:p>
            <a:r>
              <a:rPr lang="cs-CZ" b="1" dirty="0"/>
              <a:t>Procedura</a:t>
            </a:r>
          </a:p>
          <a:p>
            <a:pPr lvl="1"/>
            <a:r>
              <a:rPr lang="cs-CZ" dirty="0"/>
              <a:t>Vykonává akci, ale nevrací hodnotu</a:t>
            </a:r>
          </a:p>
          <a:p>
            <a:pPr lvl="1"/>
            <a:r>
              <a:rPr lang="cs-CZ" dirty="0">
                <a:latin typeface="Arial" charset="0"/>
              </a:rPr>
              <a:t>P</a:t>
            </a:r>
            <a:r>
              <a:rPr lang="cs-CZ" sz="1800" dirty="0">
                <a:latin typeface="Arial" charset="0"/>
              </a:rPr>
              <a:t>růběh lze ovlivnit předanými parametry.</a:t>
            </a:r>
          </a:p>
          <a:p>
            <a:pPr lvl="1"/>
            <a:r>
              <a:rPr lang="cs-CZ" sz="1800" dirty="0">
                <a:latin typeface="Arial" charset="0"/>
              </a:rPr>
              <a:t>Nemůže obsahovat jinou proceduru nebo funkci, ale může volat sam</a:t>
            </a:r>
            <a:r>
              <a:rPr lang="cs-CZ" dirty="0">
                <a:latin typeface="Arial" charset="0"/>
              </a:rPr>
              <a:t>a sebe</a:t>
            </a:r>
            <a:endParaRPr lang="cs-CZ" b="1" dirty="0"/>
          </a:p>
          <a:p>
            <a:r>
              <a:rPr lang="cs-CZ" b="1" dirty="0"/>
              <a:t>Funkce</a:t>
            </a:r>
          </a:p>
          <a:p>
            <a:pPr lvl="1"/>
            <a:r>
              <a:rPr lang="cs-CZ" dirty="0"/>
              <a:t>Provádí akci a vrací hodnotu</a:t>
            </a:r>
          </a:p>
          <a:p>
            <a:pPr lvl="1"/>
            <a:r>
              <a:rPr lang="cs-CZ" dirty="0"/>
              <a:t>Může obsahovat další vestavěné funkce</a:t>
            </a:r>
          </a:p>
          <a:p>
            <a:r>
              <a:rPr lang="cs-CZ" dirty="0"/>
              <a:t>Vyvolání pomocí klíčového slova „call“</a:t>
            </a:r>
          </a:p>
          <a:p>
            <a:pPr lvl="1"/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3364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7689EAD-C3BE-7DD3-3ED8-FFDABE0C0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Prvky formuláře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CFD8115-8463-0268-36D2-64577DEF1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/>
              <a:t>Pro interakci s uživatelem</a:t>
            </a:r>
          </a:p>
          <a:p>
            <a:r>
              <a:rPr lang="cs-CZ"/>
              <a:t>Umožňují zadávání a zobrazování dat.</a:t>
            </a:r>
          </a:p>
          <a:p>
            <a:r>
              <a:rPr lang="cs-CZ" b="1"/>
              <a:t>Hlavní prvky formuláře:</a:t>
            </a:r>
          </a:p>
          <a:p>
            <a:pPr lvl="1"/>
            <a:r>
              <a:rPr lang="cs-CZ"/>
              <a:t>Label</a:t>
            </a:r>
            <a:endParaRPr lang="cs-CZ" dirty="0"/>
          </a:p>
          <a:p>
            <a:pPr lvl="1"/>
            <a:r>
              <a:rPr lang="cs-CZ" dirty="0"/>
              <a:t>Textové pole</a:t>
            </a:r>
          </a:p>
          <a:p>
            <a:pPr lvl="1"/>
            <a:r>
              <a:rPr lang="cs-CZ" dirty="0"/>
              <a:t>Tlačítko</a:t>
            </a:r>
          </a:p>
          <a:p>
            <a:pPr lvl="1"/>
            <a:r>
              <a:rPr lang="cs-CZ" dirty="0"/>
              <a:t>Seznam</a:t>
            </a:r>
          </a:p>
          <a:p>
            <a:pPr lvl="1"/>
            <a:r>
              <a:rPr lang="cs-CZ" dirty="0"/>
              <a:t>Roletové menu</a:t>
            </a:r>
          </a:p>
        </p:txBody>
      </p:sp>
      <p:pic>
        <p:nvPicPr>
          <p:cNvPr id="12" name="Obrázek 11">
            <a:extLst>
              <a:ext uri="{FF2B5EF4-FFF2-40B4-BE49-F238E27FC236}">
                <a16:creationId xmlns:a16="http://schemas.microsoft.com/office/drawing/2014/main" id="{7C133D02-BC77-5A0B-CCCE-14695652E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418" y="2935971"/>
            <a:ext cx="3315163" cy="21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530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BC7956E-150E-B7FA-925D-569505127A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cs-CZ" sz="4800" dirty="0"/>
              <a:t>Konec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05461667-ED49-E113-68D0-AA5D42BA07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2149686"/>
          </a:xfrm>
        </p:spPr>
        <p:txBody>
          <a:bodyPr>
            <a:normAutofit/>
          </a:bodyPr>
          <a:lstStyle/>
          <a:p>
            <a:r>
              <a:rPr lang="cs-CZ" dirty="0"/>
              <a:t>Zdroje:</a:t>
            </a:r>
          </a:p>
          <a:p>
            <a:r>
              <a:rPr lang="cs-CZ" sz="1200" dirty="0">
                <a:hlinkClick r:id="rId2"/>
              </a:rPr>
              <a:t>https://cs.wikipedia.org/wiki</a:t>
            </a:r>
            <a:endParaRPr lang="cs-CZ" sz="1200" dirty="0"/>
          </a:p>
          <a:p>
            <a:r>
              <a:rPr lang="cs-CZ" sz="1200" dirty="0">
                <a:hlinkClick r:id="rId3"/>
              </a:rPr>
              <a:t>https://chatgpt.com/</a:t>
            </a:r>
            <a:endParaRPr lang="cs-CZ" sz="1200" dirty="0"/>
          </a:p>
          <a:p>
            <a:r>
              <a:rPr lang="cs-CZ" sz="1200" dirty="0">
                <a:hlinkClick r:id="rId4"/>
              </a:rPr>
              <a:t>https://office.lasakovi.com/</a:t>
            </a:r>
            <a:endParaRPr lang="cs-CZ" sz="1200" dirty="0"/>
          </a:p>
          <a:p>
            <a:r>
              <a:rPr lang="cs-CZ" sz="1200" dirty="0"/>
              <a:t>https://www.itnetwork.cz/</a:t>
            </a:r>
          </a:p>
        </p:txBody>
      </p:sp>
    </p:spTree>
    <p:extLst>
      <p:ext uri="{BB962C8B-B14F-4D97-AF65-F5344CB8AC3E}">
        <p14:creationId xmlns:p14="http://schemas.microsoft.com/office/powerpoint/2010/main" val="1450096585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416</Words>
  <Application>Microsoft Office PowerPoint</Application>
  <PresentationFormat>Širokoúhlá obrazovka</PresentationFormat>
  <Paragraphs>89</Paragraphs>
  <Slides>11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11</vt:i4>
      </vt:variant>
    </vt:vector>
  </HeadingPairs>
  <TitlesOfParts>
    <vt:vector size="14" baseType="lpstr">
      <vt:lpstr>Arial</vt:lpstr>
      <vt:lpstr>Neue Haas Grotesk Text Pro</vt:lpstr>
      <vt:lpstr>VanillaVTI</vt:lpstr>
      <vt:lpstr>Databázový procesor VBA</vt:lpstr>
      <vt:lpstr>VBA</vt:lpstr>
      <vt:lpstr>Moduly</vt:lpstr>
      <vt:lpstr>Datové typy</vt:lpstr>
      <vt:lpstr>Konstanty</vt:lpstr>
      <vt:lpstr>Proměnné</vt:lpstr>
      <vt:lpstr>Zápis kódu</vt:lpstr>
      <vt:lpstr>Řídící příkazy a cykly</vt:lpstr>
      <vt:lpstr>Procedury a funkce </vt:lpstr>
      <vt:lpstr>Prvky formuláře</vt:lpstr>
      <vt:lpstr>Konec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Kvasnička Filip</dc:creator>
  <cp:lastModifiedBy>Kvasnička Filip</cp:lastModifiedBy>
  <cp:revision>6</cp:revision>
  <dcterms:created xsi:type="dcterms:W3CDTF">2025-02-24T16:03:04Z</dcterms:created>
  <dcterms:modified xsi:type="dcterms:W3CDTF">2025-02-25T21:11:01Z</dcterms:modified>
</cp:coreProperties>
</file>