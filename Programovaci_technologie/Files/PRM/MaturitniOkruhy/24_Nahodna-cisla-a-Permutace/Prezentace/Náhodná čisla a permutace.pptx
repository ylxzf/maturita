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985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479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405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185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980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630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022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0684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489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765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1341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1475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4595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6182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5727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9747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524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1E2F696-DCCF-4005-902B-370DF10FAC5E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C318C9F-B9A8-4378-B4BA-A4B9CA75CE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488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B4628C-77A5-72AB-82FE-63DC7399FA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Náhodná </a:t>
            </a:r>
            <a:r>
              <a:rPr lang="cs-CZ" dirty="0" err="1"/>
              <a:t>čisla</a:t>
            </a:r>
            <a:r>
              <a:rPr lang="cs-CZ" dirty="0"/>
              <a:t> a permutace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821677F-54A2-ED4A-7E93-D7AF118C10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279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56648E-C59D-E930-140C-6E3377BC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Permutace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51A296-0E85-B60C-B830-E2E22864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Permutace n prvků je skupina všech prvků, které jsou uspořádaný v jakémkoliv možném pořadí = výběr prvků závisí na pořadí</a:t>
            </a:r>
          </a:p>
          <a:p>
            <a:r>
              <a:rPr lang="cs-CZ" dirty="0"/>
              <a:t>Prvky se nemohou opakovat</a:t>
            </a:r>
          </a:p>
          <a:p>
            <a:r>
              <a:rPr lang="cs-CZ" dirty="0"/>
              <a:t>Určeno vztahem P(n) = n!</a:t>
            </a:r>
          </a:p>
          <a:p>
            <a:r>
              <a:rPr lang="cs-CZ" dirty="0"/>
              <a:t>Pokud se hovoří o permutaci prvků, jsou obvykle bez opakování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2282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7D92A3-DF1A-F1A8-CF7C-CFD31C1D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permutací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EB74179-D232-CCA6-5E49-9D9814E0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34" y="2384425"/>
            <a:ext cx="5366566" cy="383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D25641-17FD-E18B-5751-A7E313F9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Náhodná čísla - </a:t>
            </a:r>
            <a:r>
              <a:rPr lang="cs-CZ" dirty="0" err="1"/>
              <a:t>Rnd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7633B2-3026-EFF6-5C92-9DF753ADF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+mj-lt"/>
              </a:rPr>
              <a:t>Generování náhodných čísel patří u většiny jazyků k jedněm ze základních vlastností</a:t>
            </a:r>
          </a:p>
          <a:p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V </a:t>
            </a:r>
            <a:r>
              <a:rPr lang="cs-CZ" b="0" i="0" u="none" strike="noStrike" dirty="0">
                <a:solidFill>
                  <a:srgbClr val="000000"/>
                </a:solidFill>
                <a:effectLst/>
                <a:latin typeface="+mj-lt"/>
              </a:rPr>
              <a:t>jazyce Java</a:t>
            </a:r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 je možné jej dosáhnout jednoduše pomocí třídy </a:t>
            </a:r>
            <a:r>
              <a:rPr lang="cs-CZ" b="0" i="0" dirty="0" err="1">
                <a:solidFill>
                  <a:srgbClr val="2B2B2B"/>
                </a:solidFill>
                <a:effectLst/>
                <a:latin typeface="+mj-lt"/>
              </a:rPr>
              <a:t>java.util.Random</a:t>
            </a:r>
            <a:endParaRPr lang="cs-CZ" b="0" i="0" dirty="0">
              <a:solidFill>
                <a:srgbClr val="2B2B2B"/>
              </a:solidFill>
              <a:effectLst/>
              <a:latin typeface="+mj-lt"/>
            </a:endParaRPr>
          </a:p>
          <a:p>
            <a:r>
              <a:rPr lang="cs-CZ" dirty="0">
                <a:solidFill>
                  <a:srgbClr val="2B2B2B"/>
                </a:solidFill>
                <a:latin typeface="+mj-lt"/>
              </a:rPr>
              <a:t>První krok je zadání příkazu import před začátek třídy programu</a:t>
            </a:r>
            <a:endParaRPr lang="cs-CZ" b="0" i="0" dirty="0">
              <a:solidFill>
                <a:srgbClr val="00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464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709FAC-9E15-C4A4-5958-C3033D78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Náhodná čísla - </a:t>
            </a:r>
            <a:r>
              <a:rPr lang="cs-CZ" dirty="0" err="1"/>
              <a:t>Rnd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E965B3-24F5-F26F-9A2F-2314CB640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Náhodný objekt vám poskytuje jednoduchý generátor náhodných čísel – </a:t>
            </a:r>
            <a:r>
              <a:rPr lang="cs-CZ" b="0" i="0" dirty="0" err="1">
                <a:solidFill>
                  <a:srgbClr val="2B2B2B"/>
                </a:solidFill>
                <a:effectLst/>
                <a:latin typeface="+mj-lt"/>
              </a:rPr>
              <a:t>Random</a:t>
            </a:r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 </a:t>
            </a:r>
            <a:r>
              <a:rPr lang="cs-CZ" b="0" i="0" dirty="0" err="1">
                <a:solidFill>
                  <a:srgbClr val="2B2B2B"/>
                </a:solidFill>
                <a:effectLst/>
                <a:latin typeface="+mj-lt"/>
              </a:rPr>
              <a:t>rnd</a:t>
            </a:r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= </a:t>
            </a:r>
            <a:r>
              <a:rPr lang="cs-CZ" b="0" i="0" dirty="0" err="1">
                <a:solidFill>
                  <a:srgbClr val="2B2B2B"/>
                </a:solidFill>
                <a:effectLst/>
                <a:latin typeface="+mj-lt"/>
              </a:rPr>
              <a:t>new</a:t>
            </a:r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 </a:t>
            </a:r>
            <a:r>
              <a:rPr lang="cs-CZ" b="0" i="0" dirty="0" err="1">
                <a:solidFill>
                  <a:srgbClr val="2B2B2B"/>
                </a:solidFill>
                <a:effectLst/>
                <a:latin typeface="+mj-lt"/>
              </a:rPr>
              <a:t>random</a:t>
            </a:r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();</a:t>
            </a:r>
          </a:p>
          <a:p>
            <a:endParaRPr lang="cs-CZ" dirty="0">
              <a:solidFill>
                <a:srgbClr val="2B2B2B"/>
              </a:solidFill>
              <a:latin typeface="+mj-lt"/>
            </a:endParaRPr>
          </a:p>
          <a:p>
            <a:r>
              <a:rPr lang="cs-CZ" b="0" i="0" dirty="0">
                <a:solidFill>
                  <a:srgbClr val="2B2B2B"/>
                </a:solidFill>
                <a:effectLst/>
                <a:latin typeface="+mj-lt"/>
              </a:rPr>
              <a:t>Jednotlivé metody objektu umožnují volbu náhodných čísel</a:t>
            </a:r>
          </a:p>
          <a:p>
            <a:pPr marL="0" indent="0">
              <a:buNone/>
            </a:pPr>
            <a:r>
              <a:rPr lang="cs-CZ" dirty="0">
                <a:solidFill>
                  <a:srgbClr val="2B2B2B"/>
                </a:solidFill>
                <a:latin typeface="+mj-lt"/>
              </a:rPr>
              <a:t>Např. </a:t>
            </a:r>
            <a:r>
              <a:rPr lang="cs-CZ" dirty="0" err="1">
                <a:solidFill>
                  <a:srgbClr val="2B2B2B"/>
                </a:solidFill>
                <a:latin typeface="+mj-lt"/>
              </a:rPr>
              <a:t>nextInt</a:t>
            </a:r>
            <a:r>
              <a:rPr lang="cs-CZ" dirty="0">
                <a:solidFill>
                  <a:srgbClr val="2B2B2B"/>
                </a:solidFill>
                <a:latin typeface="+mj-lt"/>
              </a:rPr>
              <a:t>(), </a:t>
            </a:r>
            <a:r>
              <a:rPr lang="cs-CZ" dirty="0" err="1">
                <a:solidFill>
                  <a:srgbClr val="2B2B2B"/>
                </a:solidFill>
                <a:latin typeface="+mj-lt"/>
              </a:rPr>
              <a:t>nextLong</a:t>
            </a:r>
            <a:r>
              <a:rPr lang="cs-CZ" dirty="0">
                <a:solidFill>
                  <a:srgbClr val="2B2B2B"/>
                </a:solidFill>
                <a:latin typeface="+mj-lt"/>
              </a:rPr>
              <a:t>() – </a:t>
            </a:r>
            <a:r>
              <a:rPr lang="cs-CZ" dirty="0" err="1">
                <a:solidFill>
                  <a:srgbClr val="2B2B2B"/>
                </a:solidFill>
                <a:latin typeface="+mj-lt"/>
              </a:rPr>
              <a:t>Vracéné</a:t>
            </a:r>
            <a:r>
              <a:rPr lang="cs-CZ" dirty="0">
                <a:solidFill>
                  <a:srgbClr val="2B2B2B"/>
                </a:solidFill>
                <a:latin typeface="+mj-lt"/>
              </a:rPr>
              <a:t> čísla budou náhodně vybraná </a:t>
            </a:r>
            <a:r>
              <a:rPr lang="cs-CZ" dirty="0" err="1">
                <a:solidFill>
                  <a:srgbClr val="2B2B2B"/>
                </a:solidFill>
                <a:latin typeface="+mj-lt"/>
              </a:rPr>
              <a:t>int</a:t>
            </a:r>
            <a:r>
              <a:rPr lang="cs-CZ" dirty="0">
                <a:solidFill>
                  <a:srgbClr val="2B2B2B"/>
                </a:solidFill>
                <a:latin typeface="+mj-lt"/>
              </a:rPr>
              <a:t> a dlouhé hodnoty</a:t>
            </a:r>
          </a:p>
          <a:p>
            <a:endParaRPr lang="cs-CZ" b="0" i="0" dirty="0">
              <a:solidFill>
                <a:srgbClr val="2B2B2B"/>
              </a:solidFill>
              <a:effectLst/>
              <a:latin typeface="+mj-lt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801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A8900E-6227-8BB0-A63F-5D0AE6FB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náhodných čísel z určitého rozsahu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E8A2ED-F63F-D860-462A-5E619F1F1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2B2B2B"/>
                </a:solidFill>
                <a:effectLst/>
              </a:rPr>
              <a:t>Normálně musí být náhodná čísla vygenerována z určitého rozsahu (např. Mezi 1 až 40 včetně)</a:t>
            </a:r>
          </a:p>
          <a:p>
            <a:r>
              <a:rPr lang="cs-CZ" b="0" i="0" dirty="0">
                <a:solidFill>
                  <a:srgbClr val="2B2B2B"/>
                </a:solidFill>
                <a:effectLst/>
              </a:rPr>
              <a:t>Pro tento účel může metoda </a:t>
            </a:r>
            <a:r>
              <a:rPr lang="cs-CZ" b="0" i="0" dirty="0" err="1">
                <a:solidFill>
                  <a:srgbClr val="2B2B2B"/>
                </a:solidFill>
                <a:effectLst/>
              </a:rPr>
              <a:t>nextInt</a:t>
            </a:r>
            <a:r>
              <a:rPr lang="cs-CZ" b="0" i="0" dirty="0">
                <a:solidFill>
                  <a:srgbClr val="2B2B2B"/>
                </a:solidFill>
                <a:effectLst/>
              </a:rPr>
              <a:t> () také přijmout parametr </a:t>
            </a:r>
            <a:r>
              <a:rPr lang="cs-CZ" b="0" i="0" dirty="0" err="1">
                <a:solidFill>
                  <a:srgbClr val="2B2B2B"/>
                </a:solidFill>
                <a:effectLst/>
              </a:rPr>
              <a:t>int</a:t>
            </a:r>
            <a:r>
              <a:rPr lang="cs-CZ" dirty="0">
                <a:solidFill>
                  <a:srgbClr val="2B2B2B"/>
                </a:solidFill>
              </a:rPr>
              <a:t>,</a:t>
            </a:r>
            <a:r>
              <a:rPr lang="cs-CZ" b="0" i="0" dirty="0">
                <a:solidFill>
                  <a:srgbClr val="2B2B2B"/>
                </a:solidFill>
                <a:effectLst/>
              </a:rPr>
              <a:t> </a:t>
            </a:r>
            <a:r>
              <a:rPr lang="cs-CZ" dirty="0">
                <a:solidFill>
                  <a:srgbClr val="2B2B2B"/>
                </a:solidFill>
              </a:rPr>
              <a:t>o</a:t>
            </a:r>
            <a:r>
              <a:rPr lang="cs-CZ" b="0" i="0" dirty="0">
                <a:solidFill>
                  <a:srgbClr val="2B2B2B"/>
                </a:solidFill>
                <a:effectLst/>
              </a:rPr>
              <a:t>značuje horní hranici rozsahu čísel</a:t>
            </a:r>
          </a:p>
          <a:p>
            <a:r>
              <a:rPr lang="cs-CZ" dirty="0">
                <a:solidFill>
                  <a:srgbClr val="2B2B2B"/>
                </a:solidFill>
              </a:rPr>
              <a:t>Metoda </a:t>
            </a:r>
            <a:r>
              <a:rPr lang="cs-CZ" dirty="0" err="1">
                <a:solidFill>
                  <a:srgbClr val="2B2B2B"/>
                </a:solidFill>
              </a:rPr>
              <a:t>nextInt</a:t>
            </a:r>
            <a:r>
              <a:rPr lang="cs-CZ" dirty="0">
                <a:solidFill>
                  <a:srgbClr val="2B2B2B"/>
                </a:solidFill>
              </a:rPr>
              <a:t>() funguje od nuly nahoru</a:t>
            </a:r>
          </a:p>
          <a:p>
            <a:r>
              <a:rPr lang="cs-CZ" b="0" i="0" dirty="0">
                <a:solidFill>
                  <a:srgbClr val="2B2B2B"/>
                </a:solidFill>
                <a:effectLst/>
              </a:rPr>
              <a:t> Chcete-li vybrat z rozsahu, který začíná číslem 1, jednoduše přidat 1 k výsledku metody </a:t>
            </a:r>
            <a:r>
              <a:rPr lang="cs-CZ" b="0" i="0" dirty="0" err="1">
                <a:solidFill>
                  <a:srgbClr val="2B2B2B"/>
                </a:solidFill>
                <a:effectLst/>
              </a:rPr>
              <a:t>nextInt</a:t>
            </a:r>
            <a:r>
              <a:rPr lang="cs-CZ" b="0" i="0" dirty="0">
                <a:solidFill>
                  <a:srgbClr val="2B2B2B"/>
                </a:solidFill>
                <a:effectLst/>
              </a:rPr>
              <a:t> ()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3104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F22DB1-F219-F183-AF92-95186CE8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A7F590-EC28-5717-3DA3-2E70B3A5B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0 – 39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1-40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0189EB7-65DD-7D13-0CD6-077BA304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616" y="4225925"/>
            <a:ext cx="8413582" cy="739475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B2482A5-7677-DC04-C00B-95623D8EA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616" y="2247470"/>
            <a:ext cx="7449015" cy="92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68C83A-5E45-A5F1-D09B-207DD685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480"/>
            <a:ext cx="10515600" cy="1325563"/>
          </a:xfrm>
        </p:spPr>
        <p:txBody>
          <a:bodyPr/>
          <a:lstStyle/>
          <a:p>
            <a:r>
              <a:rPr lang="cs-CZ" dirty="0"/>
              <a:t>Náhodná čísla  - </a:t>
            </a:r>
            <a:r>
              <a:rPr lang="cs-CZ" dirty="0" err="1"/>
              <a:t>Math.random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6F5B1B-6256-10CC-5750-E2D91EA2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092" y="2167731"/>
            <a:ext cx="10515600" cy="4351338"/>
          </a:xfrm>
        </p:spPr>
        <p:txBody>
          <a:bodyPr/>
          <a:lstStyle/>
          <a:p>
            <a:r>
              <a:rPr lang="cs-CZ" dirty="0"/>
              <a:t>V JS se pro generování náhodné čísla také používá </a:t>
            </a:r>
            <a:r>
              <a:rPr lang="cs-CZ" dirty="0" err="1"/>
              <a:t>Math.Random</a:t>
            </a:r>
            <a:r>
              <a:rPr lang="cs-CZ" dirty="0"/>
              <a:t>()</a:t>
            </a:r>
          </a:p>
          <a:p>
            <a:r>
              <a:rPr lang="cs-CZ" dirty="0"/>
              <a:t>V základu vždy generuje číslo které je menší než 1 nebo rovno 0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4535E4C-51D3-C7C1-E86B-F53CAA523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4" y="3042708"/>
            <a:ext cx="7291458" cy="42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62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B05C49-3C6A-DB86-DFE0-218C4F83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Náhodná čísla  - </a:t>
            </a:r>
            <a:r>
              <a:rPr lang="cs-CZ" dirty="0" err="1"/>
              <a:t>Math.random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83DE67-578B-1754-ABAA-815677359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421" y="2468032"/>
            <a:ext cx="8825659" cy="3416300"/>
          </a:xfrm>
        </p:spPr>
        <p:txBody>
          <a:bodyPr/>
          <a:lstStyle/>
          <a:p>
            <a:r>
              <a:rPr lang="cs-CZ" b="0" i="0" dirty="0">
                <a:solidFill>
                  <a:srgbClr val="292929"/>
                </a:solidFill>
                <a:effectLst/>
                <a:latin typeface="+mj-lt"/>
              </a:rPr>
              <a:t>Protože je zpravidla nutné mít čísla celá, násobí se to celé počtem požadovaných čísel</a:t>
            </a:r>
          </a:p>
          <a:p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5437FE7-5FA6-25CA-7219-75BCCA90F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175" y="2948522"/>
            <a:ext cx="3950759" cy="372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7D7E1B-5446-55E0-3480-AC399EE4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Náhodná čísla – </a:t>
            </a:r>
            <a:r>
              <a:rPr lang="cs-CZ" dirty="0" err="1"/>
              <a:t>Math.random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CA094C-F934-5A5E-766B-678CEFAF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dosažení celých čísel se poté provede zaokrouhlení</a:t>
            </a:r>
          </a:p>
          <a:p>
            <a:pPr marL="0" indent="0">
              <a:buNone/>
            </a:pPr>
            <a:r>
              <a:rPr lang="cs-CZ" dirty="0" err="1"/>
              <a:t>Math.floor</a:t>
            </a:r>
            <a:r>
              <a:rPr lang="cs-CZ" dirty="0"/>
              <a:t> – zaokrouhluje dolů</a:t>
            </a:r>
          </a:p>
          <a:p>
            <a:r>
              <a:rPr lang="cs-CZ" dirty="0" err="1"/>
              <a:t>Použítí</a:t>
            </a:r>
            <a:r>
              <a:rPr lang="cs-CZ" dirty="0"/>
              <a:t> jiného způsobu (</a:t>
            </a:r>
            <a:r>
              <a:rPr lang="cs-CZ" dirty="0" err="1"/>
              <a:t>Math.round</a:t>
            </a:r>
            <a:r>
              <a:rPr lang="cs-CZ" dirty="0"/>
              <a:t>/</a:t>
            </a:r>
            <a:r>
              <a:rPr lang="cs-CZ" dirty="0" err="1"/>
              <a:t>Math.ceil</a:t>
            </a:r>
            <a:r>
              <a:rPr lang="cs-CZ" dirty="0"/>
              <a:t>) by vedlo k nerovnoměrnému rozdělení jednotlivých čísel</a:t>
            </a:r>
          </a:p>
        </p:txBody>
      </p:sp>
    </p:spTree>
    <p:extLst>
      <p:ext uri="{BB962C8B-B14F-4D97-AF65-F5344CB8AC3E}">
        <p14:creationId xmlns:p14="http://schemas.microsoft.com/office/powerpoint/2010/main" val="1165748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2BA173-6934-D3A0-B875-17D35080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3557BF-2245-6F1F-0D0A-DB2DAA319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6731DC8-C3B0-7944-BEFE-B8054AF41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08" y="1320972"/>
            <a:ext cx="508635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923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F00675D-F1E6-4899-93A0-2707D01C8FF9}"/>
</file>

<file path=customXml/itemProps2.xml><?xml version="1.0" encoding="utf-8"?>
<ds:datastoreItem xmlns:ds="http://schemas.openxmlformats.org/officeDocument/2006/customXml" ds:itemID="{A5BD21E6-CF4A-461D-A59B-E444CCFCC784}"/>
</file>

<file path=customXml/itemProps3.xml><?xml version="1.0" encoding="utf-8"?>
<ds:datastoreItem xmlns:ds="http://schemas.openxmlformats.org/officeDocument/2006/customXml" ds:itemID="{A243F92C-4DAD-46B8-9FC0-38EA827E695B}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104</TotalTime>
  <Words>300</Words>
  <Application>Microsoft Office PowerPoint</Application>
  <PresentationFormat>Širokoúhlá obrazovka</PresentationFormat>
  <Paragraphs>35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Náhodná čisla a permutace</vt:lpstr>
      <vt:lpstr>Permutace</vt:lpstr>
      <vt:lpstr>Příklad permutací</vt:lpstr>
      <vt:lpstr>Náhodná čísla - Rnd</vt:lpstr>
      <vt:lpstr>Náhodná čísla - Rnd</vt:lpstr>
      <vt:lpstr>Výběr náhodných čísel z určitého rozsahu</vt:lpstr>
      <vt:lpstr>Prezentace aplikace PowerPoint</vt:lpstr>
      <vt:lpstr>Náhodná čísla  - Math.random</vt:lpstr>
      <vt:lpstr>Náhodná čísla  - Math.random</vt:lpstr>
      <vt:lpstr>Náhodná čísla – Math.random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Náhodná čisla a permutace</dc:title>
  <dc:creator>Dulimov Patrik</dc:creator>
  <cp:lastModifiedBy>Kašpárek Ladislav</cp:lastModifiedBy>
  <cp:revision>2</cp:revision>
  <dcterms:created xsi:type="dcterms:W3CDTF">2023-03-16T21:04:06Z</dcterms:created>
  <dcterms:modified xsi:type="dcterms:W3CDTF">2023-03-17T10:19:13Z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