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61" r:id="rId7"/>
    <p:sldId id="258" r:id="rId8"/>
    <p:sldId id="259" r:id="rId9"/>
    <p:sldId id="260" r:id="rId10"/>
    <p:sldId id="265" r:id="rId11"/>
    <p:sldId id="262" r:id="rId12"/>
    <p:sldId id="263" r:id="rId13"/>
    <p:sldId id="26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E2A7ACC9-5D32-47B8-8B2C-170B16048B25}">
          <p14:sldIdLst>
            <p14:sldId id="256"/>
            <p14:sldId id="257"/>
            <p14:sldId id="261"/>
            <p14:sldId id="258"/>
            <p14:sldId id="259"/>
            <p14:sldId id="260"/>
            <p14:sldId id="265"/>
            <p14:sldId id="262"/>
            <p14:sldId id="263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5/26/2023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EE9129-4D63-6018-3787-9ACE7A20D8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Teorie grafů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46B4606-176F-563F-B8A6-C2F0826DAB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Viktor Pauzar</a:t>
            </a:r>
          </a:p>
        </p:txBody>
      </p:sp>
    </p:spTree>
    <p:extLst>
      <p:ext uri="{BB962C8B-B14F-4D97-AF65-F5344CB8AC3E}">
        <p14:creationId xmlns:p14="http://schemas.microsoft.com/office/powerpoint/2010/main" val="133517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7851A2-37C9-AA94-96DB-7F2158AC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Obecné 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38FE50-47EC-548D-1F7B-70A7F8710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Graf je struktura dat, definovaná množinou vrcholů a množinou hran</a:t>
            </a:r>
          </a:p>
          <a:p>
            <a:r>
              <a:rPr lang="cs-CZ" dirty="0"/>
              <a:t>Každá hrana vede mezi dvěma vrcholy – značíme čárou</a:t>
            </a:r>
          </a:p>
          <a:p>
            <a:r>
              <a:rPr lang="cs-CZ" dirty="0"/>
              <a:t>Vrcholy často reprezentují reálné objekty – značíme je kolečkem</a:t>
            </a:r>
          </a:p>
          <a:p>
            <a:r>
              <a:rPr lang="cs-CZ" dirty="0"/>
              <a:t>Jak vrchol tak hrana mohou být ohodnoceny</a:t>
            </a:r>
          </a:p>
          <a:p>
            <a:pPr lvl="1"/>
            <a:r>
              <a:rPr lang="cs-CZ" dirty="0"/>
              <a:t>Přiřazení reálného čísla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21018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9D5E26-BE84-9DEB-D68E-68775CE5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Vytvoření grafu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C53FAB-B12A-01C5-3C7D-D6AF8A36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 </a:t>
            </a:r>
            <a:r>
              <a:rPr lang="cs-CZ" dirty="0" err="1"/>
              <a:t>javě</a:t>
            </a:r>
            <a:r>
              <a:rPr lang="cs-CZ" dirty="0"/>
              <a:t> můžeme reprezentovat pomocí kolekcí či dynamických polí</a:t>
            </a:r>
          </a:p>
          <a:p>
            <a:r>
              <a:rPr lang="cs-CZ" dirty="0"/>
              <a:t>Obvykle se grafy implementují pomocí kolekce </a:t>
            </a:r>
            <a:r>
              <a:rPr lang="cs-CZ" dirty="0" err="1"/>
              <a:t>HashMap</a:t>
            </a:r>
            <a:endParaRPr lang="cs-CZ" dirty="0"/>
          </a:p>
          <a:p>
            <a:pPr lvl="1"/>
            <a:r>
              <a:rPr lang="cs-CZ" dirty="0"/>
              <a:t>Prvky ve formě klíčů – pro hodnoty</a:t>
            </a:r>
          </a:p>
          <a:p>
            <a:r>
              <a:rPr lang="cs-CZ" dirty="0"/>
              <a:t>Nejběžnější způsob reprezentace </a:t>
            </a:r>
          </a:p>
          <a:p>
            <a:pPr lvl="1"/>
            <a:r>
              <a:rPr lang="cs-CZ" dirty="0"/>
              <a:t>Matice sousednosti</a:t>
            </a:r>
          </a:p>
        </p:txBody>
      </p:sp>
    </p:spTree>
    <p:extLst>
      <p:ext uri="{BB962C8B-B14F-4D97-AF65-F5344CB8AC3E}">
        <p14:creationId xmlns:p14="http://schemas.microsoft.com/office/powerpoint/2010/main" val="30627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53DFB3-6A3A-E8B5-E48E-859BA76A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typy: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F87FEE-7591-45E5-6417-735788259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556084"/>
            <a:ext cx="10002951" cy="4507831"/>
          </a:xfrm>
        </p:spPr>
        <p:txBody>
          <a:bodyPr>
            <a:normAutofit/>
          </a:bodyPr>
          <a:lstStyle/>
          <a:p>
            <a:r>
              <a:rPr lang="cs-CZ" b="1" u="sng" dirty="0"/>
              <a:t>Orientované</a:t>
            </a:r>
          </a:p>
          <a:p>
            <a:pPr lvl="1"/>
            <a:r>
              <a:rPr lang="cs-CZ" dirty="0"/>
              <a:t>Hrany mají přesně určený směr odkud kam vedou</a:t>
            </a:r>
          </a:p>
          <a:p>
            <a:pPr lvl="1"/>
            <a:r>
              <a:rPr lang="cs-CZ" dirty="0"/>
              <a:t>Určený začáteční a koncový vrchol</a:t>
            </a:r>
          </a:p>
          <a:p>
            <a:pPr lvl="1"/>
            <a:r>
              <a:rPr lang="cs-CZ" dirty="0"/>
              <a:t>Hrany znázorněny pomocí šipek</a:t>
            </a:r>
          </a:p>
          <a:p>
            <a:pPr lvl="1"/>
            <a:r>
              <a:rPr lang="cs-CZ" dirty="0"/>
              <a:t>Matice těchto grafů je nesymetrická</a:t>
            </a:r>
          </a:p>
          <a:p>
            <a:endParaRPr lang="cs-CZ" b="1" u="sng" dirty="0"/>
          </a:p>
          <a:p>
            <a:r>
              <a:rPr lang="cs-CZ" b="1" u="sng" dirty="0"/>
              <a:t>Neorientované</a:t>
            </a:r>
          </a:p>
          <a:p>
            <a:pPr lvl="1"/>
            <a:r>
              <a:rPr lang="cs-CZ" dirty="0"/>
              <a:t>Nemá zadaný směr</a:t>
            </a:r>
          </a:p>
          <a:p>
            <a:pPr lvl="1"/>
            <a:r>
              <a:rPr lang="cs-CZ" dirty="0"/>
              <a:t>Matice těchto grafů je symetrická</a:t>
            </a:r>
          </a:p>
          <a:p>
            <a:pPr lvl="1"/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921760B-71CB-D65E-05E8-73AFB4C80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1033" b="51472"/>
          <a:stretch/>
        </p:blipFill>
        <p:spPr>
          <a:xfrm>
            <a:off x="7679182" y="4065841"/>
            <a:ext cx="1881910" cy="182998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7927CBA-2662-9C38-8243-1CE3615227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363"/>
          <a:stretch/>
        </p:blipFill>
        <p:spPr>
          <a:xfrm>
            <a:off x="7679182" y="1747557"/>
            <a:ext cx="1881910" cy="171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2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B33E8A-2CBB-5A12-ACA0-270E331E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pojmy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2BD7B7-62C9-832E-C686-9112BC134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u="sng" dirty="0"/>
              <a:t>Stupeň</a:t>
            </a:r>
            <a:r>
              <a:rPr lang="cs-CZ" dirty="0"/>
              <a:t> – počet hran, které vychází z vrcholu</a:t>
            </a:r>
            <a:endParaRPr lang="cs-CZ" b="1" u="sng" dirty="0"/>
          </a:p>
          <a:p>
            <a:r>
              <a:rPr lang="cs-CZ" b="1" u="sng" dirty="0"/>
              <a:t>Sled</a:t>
            </a:r>
            <a:r>
              <a:rPr lang="cs-CZ" dirty="0"/>
              <a:t> – z vrcholu v</a:t>
            </a:r>
            <a:r>
              <a:rPr lang="cs-CZ" sz="1200" dirty="0"/>
              <a:t>0</a:t>
            </a:r>
            <a:r>
              <a:rPr lang="cs-CZ" sz="1100" dirty="0"/>
              <a:t> </a:t>
            </a:r>
            <a:r>
              <a:rPr lang="cs-CZ" dirty="0"/>
              <a:t>do </a:t>
            </a:r>
            <a:r>
              <a:rPr lang="cs-CZ" dirty="0" err="1"/>
              <a:t>v</a:t>
            </a:r>
            <a:r>
              <a:rPr lang="cs-CZ" sz="1200" dirty="0" err="1"/>
              <a:t>k</a:t>
            </a:r>
            <a:r>
              <a:rPr lang="cs-CZ" sz="1200" dirty="0"/>
              <a:t> </a:t>
            </a:r>
            <a:r>
              <a:rPr lang="cs-CZ" dirty="0"/>
              <a:t>je posloupnost uzlů a hran</a:t>
            </a:r>
            <a:endParaRPr lang="cs-CZ" sz="1200" b="1" u="sng" dirty="0"/>
          </a:p>
          <a:p>
            <a:r>
              <a:rPr lang="cs-CZ" b="1" u="sng" dirty="0"/>
              <a:t>Tah</a:t>
            </a:r>
            <a:r>
              <a:rPr lang="cs-CZ" dirty="0"/>
              <a:t> – sled, ve kterém se </a:t>
            </a:r>
            <a:r>
              <a:rPr lang="cs-CZ" b="1" u="sng"/>
              <a:t>neopakují konečné</a:t>
            </a:r>
            <a:r>
              <a:rPr lang="cs-CZ"/>
              <a:t> </a:t>
            </a:r>
            <a:r>
              <a:rPr lang="cs-CZ" dirty="0"/>
              <a:t>hrany (problém obchod. cestujícího)</a:t>
            </a:r>
            <a:endParaRPr lang="cs-CZ" b="1" u="sng" dirty="0"/>
          </a:p>
          <a:p>
            <a:r>
              <a:rPr lang="cs-CZ" b="1" u="sng" dirty="0"/>
              <a:t>Cesta</a:t>
            </a:r>
            <a:r>
              <a:rPr lang="cs-CZ" dirty="0"/>
              <a:t> – posloupnost vrcholů a hran, ve které se </a:t>
            </a:r>
            <a:r>
              <a:rPr lang="cs-CZ" b="1" u="sng" dirty="0"/>
              <a:t>neopakují</a:t>
            </a:r>
            <a:r>
              <a:rPr lang="cs-CZ" dirty="0"/>
              <a:t> vrcholy</a:t>
            </a:r>
          </a:p>
        </p:txBody>
      </p:sp>
    </p:spTree>
    <p:extLst>
      <p:ext uri="{BB962C8B-B14F-4D97-AF65-F5344CB8AC3E}">
        <p14:creationId xmlns:p14="http://schemas.microsoft.com/office/powerpoint/2010/main" val="166746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89EADA-1692-FD37-0D6A-17D9EC6F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Struktury grafu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7000F9-6316-7D71-64B4-0E82DC2DE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u="sng" dirty="0"/>
              <a:t>Souvislý graf</a:t>
            </a:r>
          </a:p>
          <a:p>
            <a:pPr lvl="1"/>
            <a:r>
              <a:rPr lang="cs-CZ" dirty="0"/>
              <a:t>Mezi každými dvěma uzly existuje cesta s počátečním vrcholem</a:t>
            </a:r>
          </a:p>
          <a:p>
            <a:r>
              <a:rPr lang="cs-CZ" b="1" u="sng" dirty="0"/>
              <a:t>Nesouvislý graf</a:t>
            </a:r>
          </a:p>
          <a:p>
            <a:pPr lvl="1"/>
            <a:r>
              <a:rPr lang="cs-CZ" dirty="0"/>
              <a:t>Není souvislý, jeví se jako „rozpadlý“ na více částí</a:t>
            </a:r>
          </a:p>
          <a:p>
            <a:r>
              <a:rPr lang="cs-CZ" b="1" u="sng" dirty="0"/>
              <a:t>Úplný graf</a:t>
            </a:r>
          </a:p>
          <a:p>
            <a:pPr lvl="1"/>
            <a:r>
              <a:rPr lang="cs-CZ" dirty="0"/>
              <a:t>Existuje zde hrana mezi každou dvojicí vrcholů</a:t>
            </a:r>
          </a:p>
          <a:p>
            <a:endParaRPr lang="cs-CZ" dirty="0"/>
          </a:p>
        </p:txBody>
      </p:sp>
      <p:pic>
        <p:nvPicPr>
          <p:cNvPr id="1026" name="Picture 2" descr="Příklad souvislého a nesouvislého grafu">
            <a:extLst>
              <a:ext uri="{FF2B5EF4-FFF2-40B4-BE49-F238E27FC236}">
                <a16:creationId xmlns:a16="http://schemas.microsoft.com/office/drawing/2014/main" id="{2074FD46-6331-6A00-C560-784F2D9B4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270" y="4806413"/>
            <a:ext cx="3164305" cy="20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říklady úplných grafů">
            <a:extLst>
              <a:ext uri="{FF2B5EF4-FFF2-40B4-BE49-F238E27FC236}">
                <a16:creationId xmlns:a16="http://schemas.microsoft.com/office/drawing/2014/main" id="{7E4A6BB7-0CEA-00EF-F4EE-E1678B40E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727" y="4997605"/>
            <a:ext cx="58674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04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40C57C-A4FD-6D88-6A1A-9232CA95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Matice incidence a sousednosti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7E9B9A-64E7-4A1D-55E6-D24454C96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171768"/>
            <a:ext cx="9603275" cy="3732907"/>
          </a:xfrm>
        </p:spPr>
        <p:txBody>
          <a:bodyPr>
            <a:normAutofit/>
          </a:bodyPr>
          <a:lstStyle/>
          <a:p>
            <a:r>
              <a:rPr lang="cs-CZ" b="1" u="sng" dirty="0"/>
              <a:t>Matice sousednosti</a:t>
            </a:r>
          </a:p>
          <a:p>
            <a:pPr lvl="1"/>
            <a:r>
              <a:rPr lang="cs-CZ" dirty="0"/>
              <a:t>Vyjmenovává, které body spolu sousedí</a:t>
            </a:r>
          </a:p>
          <a:p>
            <a:pPr lvl="1"/>
            <a:r>
              <a:rPr lang="cs-CZ" dirty="0"/>
              <a:t>Symetrická podle diagonály</a:t>
            </a:r>
          </a:p>
          <a:p>
            <a:pPr lvl="1"/>
            <a:endParaRPr lang="cs-CZ" dirty="0"/>
          </a:p>
          <a:p>
            <a:endParaRPr lang="cs-CZ" dirty="0"/>
          </a:p>
          <a:p>
            <a:r>
              <a:rPr lang="cs-CZ" b="1" u="sng" dirty="0"/>
              <a:t>Matice incidence</a:t>
            </a:r>
          </a:p>
          <a:p>
            <a:pPr lvl="1"/>
            <a:r>
              <a:rPr lang="cs-CZ" dirty="0"/>
              <a:t>V každém sloupci by měli být 2 jedničky</a:t>
            </a:r>
          </a:p>
          <a:p>
            <a:pPr lvl="1"/>
            <a:r>
              <a:rPr lang="cs-CZ" dirty="0"/>
              <a:t>U grafů bez smyček</a:t>
            </a:r>
          </a:p>
          <a:p>
            <a:pPr lvl="1"/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416C7C2-C7E5-0EC7-3C2E-34773B8C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381" y="2352061"/>
            <a:ext cx="4525006" cy="168616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6EE54C5-6C53-6783-49F2-F8056933D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378" y="4755424"/>
            <a:ext cx="4525007" cy="194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74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56FA4A-4130-60EB-A5F1-CAF57E10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Průchody grafem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CC6902-C3AD-AB57-AC70-2345FE1FD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Náhodný průchod</a:t>
            </a:r>
          </a:p>
          <a:p>
            <a:r>
              <a:rPr lang="cs-CZ" dirty="0"/>
              <a:t>Průchod do hloubky</a:t>
            </a:r>
          </a:p>
          <a:p>
            <a:r>
              <a:rPr lang="cs-CZ" dirty="0"/>
              <a:t>Průchod do šířky</a:t>
            </a:r>
          </a:p>
        </p:txBody>
      </p:sp>
    </p:spTree>
    <p:extLst>
      <p:ext uri="{BB962C8B-B14F-4D97-AF65-F5344CB8AC3E}">
        <p14:creationId xmlns:p14="http://schemas.microsoft.com/office/powerpoint/2010/main" val="176988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1A931B-BB0E-E830-BAE6-C3B4C074B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Náhodný průchod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716D4C-9BE2-C138-CDFD-7B017AB9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už z názvu vyplívá, průchod nemá žádný řád</a:t>
            </a:r>
          </a:p>
          <a:p>
            <a:r>
              <a:rPr lang="cs-CZ" dirty="0"/>
              <a:t>Prochází se tedy zcela náhodně a může se stát, že dojde k opakování či zacyklení</a:t>
            </a:r>
          </a:p>
        </p:txBody>
      </p:sp>
    </p:spTree>
    <p:extLst>
      <p:ext uri="{BB962C8B-B14F-4D97-AF65-F5344CB8AC3E}">
        <p14:creationId xmlns:p14="http://schemas.microsoft.com/office/powerpoint/2010/main" val="406664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18CE07-ED43-0E8F-0728-3781E4C8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Průchod do hloubky - DFS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4D538C-933E-F224-4ADF-F53627249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Graf se prochází metodou </a:t>
            </a:r>
            <a:r>
              <a:rPr lang="cs-CZ" dirty="0" err="1"/>
              <a:t>backtrack</a:t>
            </a:r>
            <a:endParaRPr lang="cs-CZ" dirty="0"/>
          </a:p>
          <a:p>
            <a:r>
              <a:rPr lang="cs-CZ" dirty="0"/>
              <a:t>Na začátku se určí první vrchol, následně cyklus zamíří k sousedovi</a:t>
            </a:r>
          </a:p>
          <a:p>
            <a:r>
              <a:rPr lang="cs-CZ" dirty="0"/>
              <a:t>Takto se průchod opakuje do doby dokud nedojde do místa, kde nelze dále pokračovat</a:t>
            </a:r>
          </a:p>
          <a:p>
            <a:r>
              <a:rPr lang="cs-CZ" dirty="0"/>
              <a:t>Zde se použije metoda </a:t>
            </a:r>
            <a:r>
              <a:rPr lang="cs-CZ" dirty="0" err="1"/>
              <a:t>backtrack</a:t>
            </a:r>
            <a:endParaRPr lang="cs-CZ" dirty="0"/>
          </a:p>
          <a:p>
            <a:r>
              <a:rPr lang="cs-CZ" dirty="0"/>
              <a:t>Realizace pomocí zásobníku (postupné ukládání vrcholů)</a:t>
            </a:r>
          </a:p>
        </p:txBody>
      </p:sp>
      <p:pic>
        <p:nvPicPr>
          <p:cNvPr id="2052" name="Picture 4" descr="Otevírání a uzavírání uzlů při procházení grafu do hloubky">
            <a:extLst>
              <a:ext uri="{FF2B5EF4-FFF2-40B4-BE49-F238E27FC236}">
                <a16:creationId xmlns:a16="http://schemas.microsoft.com/office/drawing/2014/main" id="{7C88BDCE-86E9-CF81-951B-C0B8676AD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358" y="3977588"/>
            <a:ext cx="3102142" cy="192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205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22A187-CA9F-479C-E900-7AD2ECEC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Průchod do šířky - BFS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D56987-9B80-8D6C-3D2F-E6EFAC23B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Postupné procházení všech vrcholů grafu</a:t>
            </a:r>
          </a:p>
          <a:p>
            <a:r>
              <a:rPr lang="cs-CZ" dirty="0"/>
              <a:t>Průchod je ve „vlnách“</a:t>
            </a:r>
          </a:p>
          <a:p>
            <a:r>
              <a:rPr lang="cs-CZ" dirty="0"/>
              <a:t>Určíme počáteční vrchol, poté algoritmus projde všechny sousedy a dále všechny sousedy sousedů atd.</a:t>
            </a:r>
          </a:p>
          <a:p>
            <a:r>
              <a:rPr lang="cs-CZ" dirty="0"/>
              <a:t>Vhodný pro nalezení nejkratší cesty mezi dvěma vrcholy</a:t>
            </a:r>
          </a:p>
        </p:txBody>
      </p:sp>
      <p:pic>
        <p:nvPicPr>
          <p:cNvPr id="3076" name="Picture 4" descr="Matematická biologie učebnice: Prohledávání grafu do šířky">
            <a:extLst>
              <a:ext uri="{FF2B5EF4-FFF2-40B4-BE49-F238E27FC236}">
                <a16:creationId xmlns:a16="http://schemas.microsoft.com/office/drawing/2014/main" id="{5C8F6080-80EF-D0A6-5F0D-B135F26EC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611" y="4484429"/>
            <a:ext cx="4988593" cy="225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38172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B5A9B4-82B2-4A11-8574-C85B0A0C63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4a1236-8527-43c9-89e6-2e1ca6a69820"/>
    <ds:schemaRef ds:uri="46bffffc-6843-44ee-a691-3b63b640fe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E427CF-36C9-4D8D-936C-1D5E71566DC5}">
  <ds:schemaRefs>
    <ds:schemaRef ds:uri="http://schemas.microsoft.com/office/2006/metadata/properties"/>
    <ds:schemaRef ds:uri="http://schemas.microsoft.com/office/infopath/2007/PartnerControls"/>
    <ds:schemaRef ds:uri="46bffffc-6843-44ee-a691-3b63b640fe68"/>
    <ds:schemaRef ds:uri="3b4a1236-8527-43c9-89e6-2e1ca6a69820"/>
  </ds:schemaRefs>
</ds:datastoreItem>
</file>

<file path=customXml/itemProps3.xml><?xml version="1.0" encoding="utf-8"?>
<ds:datastoreItem xmlns:ds="http://schemas.openxmlformats.org/officeDocument/2006/customXml" ds:itemID="{2FC015BA-955C-4EC6-89AD-D42C4F41FB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TM10001114[[fn=Galerie]]</Template>
  <TotalTime>129</TotalTime>
  <Words>354</Words>
  <Application>Microsoft Office PowerPoint</Application>
  <PresentationFormat>Širokoúhlá obrazovka</PresentationFormat>
  <Paragraphs>63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Galerie</vt:lpstr>
      <vt:lpstr>Teorie grafů</vt:lpstr>
      <vt:lpstr>Obecné informace</vt:lpstr>
      <vt:lpstr>Vytvoření grafu</vt:lpstr>
      <vt:lpstr>Základní typy:</vt:lpstr>
      <vt:lpstr>Základní pojmy</vt:lpstr>
      <vt:lpstr>Struktury grafu</vt:lpstr>
      <vt:lpstr>Matice incidence a sousednosti</vt:lpstr>
      <vt:lpstr>Průchody grafem</vt:lpstr>
      <vt:lpstr>Náhodný průchod</vt:lpstr>
      <vt:lpstr>Průchod do hloubky - DFS</vt:lpstr>
      <vt:lpstr>Průchod do šířky - BFS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Teorie grafů</dc:title>
  <dc:creator>Viktor Pauzar</dc:creator>
  <cp:lastModifiedBy>Kněžíček Vojtěch</cp:lastModifiedBy>
  <cp:revision>4</cp:revision>
  <dcterms:created xsi:type="dcterms:W3CDTF">2023-03-11T13:01:45Z</dcterms:created>
  <dcterms:modified xsi:type="dcterms:W3CDTF">2023-05-26T10:05:56Z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