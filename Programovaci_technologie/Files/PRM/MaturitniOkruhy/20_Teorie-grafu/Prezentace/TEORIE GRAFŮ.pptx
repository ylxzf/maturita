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5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742922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529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40837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802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235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5156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801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445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60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633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603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8EFB78-29E5-427E-8412-CE30A422FB8A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0CACC35-8FB1-4432-B0F3-C6B8ABBF46B2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265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895C76-2C42-B213-C392-2F6F7811D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TEORIE GRAFŮ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8693D6E-4328-E486-266F-FF07100DD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5591" y="5408579"/>
            <a:ext cx="3003775" cy="489971"/>
          </a:xfrm>
        </p:spPr>
        <p:txBody>
          <a:bodyPr>
            <a:normAutofit/>
          </a:bodyPr>
          <a:lstStyle/>
          <a:p>
            <a:r>
              <a:rPr lang="cs-CZ" sz="1050"/>
              <a:t> Autor: František Honzl</a:t>
            </a:r>
            <a:endParaRPr lang="cs-CZ" sz="1050" dirty="0"/>
          </a:p>
        </p:txBody>
      </p:sp>
    </p:spTree>
    <p:extLst>
      <p:ext uri="{BB962C8B-B14F-4D97-AF65-F5344CB8AC3E}">
        <p14:creationId xmlns:p14="http://schemas.microsoft.com/office/powerpoint/2010/main" val="14160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1DBE45-BD3A-A6AD-C193-82239784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F7E4C0-0701-13F5-B41A-8F77A0EA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Teorie grafů zkoumá vlastnosti grafů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Slouží jako abstrakce mnoha různých problémů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Často se jedná o zjednodušený model nějaké skutečné sítě</a:t>
            </a:r>
            <a:endParaRPr lang="cs-CZ" dirty="0"/>
          </a:p>
          <a:p>
            <a:r>
              <a:rPr lang="cs-CZ" dirty="0"/>
              <a:t>Graf – 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matematická struktura, definovaná </a:t>
            </a:r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množinou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vrcholů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množinou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hran</a:t>
            </a:r>
          </a:p>
        </p:txBody>
      </p:sp>
    </p:spTree>
    <p:extLst>
      <p:ext uri="{BB962C8B-B14F-4D97-AF65-F5344CB8AC3E}">
        <p14:creationId xmlns:p14="http://schemas.microsoft.com/office/powerpoint/2010/main" val="272797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F4C5EF-1FDC-0829-9D55-30B0F6C1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74B0C2-7B68-80A9-3395-A62899A1D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Vrchol(uzel) - 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 či malý kruh, z vrcholu mohou vést </a:t>
            </a:r>
            <a:r>
              <a:rPr lang="cs-CZ" i="0" dirty="0">
                <a:solidFill>
                  <a:schemeClr val="tx1"/>
                </a:solidFill>
                <a:latin typeface="Arial" panose="020B0604020202020204" pitchFamily="34" charset="0"/>
              </a:rPr>
              <a:t>hrany</a:t>
            </a:r>
          </a:p>
          <a:p>
            <a:r>
              <a:rPr lang="cs-CZ" i="0" dirty="0">
                <a:solidFill>
                  <a:schemeClr val="tx1"/>
                </a:solidFill>
                <a:latin typeface="Arial" panose="020B0604020202020204" pitchFamily="34" charset="0"/>
              </a:rPr>
              <a:t>Hrana – značí propojení vrcholů</a:t>
            </a:r>
            <a:endParaRPr lang="cs-CZ" dirty="0"/>
          </a:p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Sled – posloupnost uzlů a hran</a:t>
            </a:r>
          </a:p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Tah – sled, kde se neopakují hrany</a:t>
            </a:r>
          </a:p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Cesta – tah, kde se neopakují uzly</a:t>
            </a:r>
          </a:p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Kružnice – uzavřená cesta</a:t>
            </a:r>
          </a:p>
          <a:p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Cyklus – uzavřená orientovaná cesta</a:t>
            </a:r>
          </a:p>
          <a:p>
            <a:pPr marL="0" indent="0">
              <a:buNone/>
            </a:pPr>
            <a:endParaRPr lang="cs-CZ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2710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79B3CB-28BA-0D4C-5ADB-820FD651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hran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C025FD-1D2E-72D1-FE75-89CD7E9E7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orientovaná hrana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uspořádaná dvojice vrcholů; má vyznačen směr průchodu, hranou lze procházet pouze ve vyznačeném směru</a:t>
            </a:r>
          </a:p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neorientovaná hrana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neuspořádaná dvojice; bez vyznačení směru průchodu, hranou lze procházet oběma směry</a:t>
            </a:r>
          </a:p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násobné hrany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více hran spojujících stejné vrcholy</a:t>
            </a:r>
          </a:p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hrana, jejímž odebráním se zvýší počet komponent grafu</a:t>
            </a:r>
          </a:p>
          <a:p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smyčka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hrana vedoucí z vrcholu do něj samotného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395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97902297-66D4-3458-6CF3-4E7A39AE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167" y="825079"/>
            <a:ext cx="3282694" cy="4887797"/>
          </a:xfrm>
        </p:spPr>
        <p:txBody>
          <a:bodyPr>
            <a:normAutofit/>
          </a:bodyPr>
          <a:lstStyle/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a) neorientovaná hrana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b) přímá orientovaná hrana</a:t>
            </a:r>
            <a:endParaRPr lang="cs-CZ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c) a d) násobné hrany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e) a f) rovnoběžné hrany</a:t>
            </a:r>
            <a:endParaRPr lang="cs-CZ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g) orientovaná smyčka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h) neorientovaná smyčka</a:t>
            </a:r>
            <a:endParaRPr lang="cs-CZ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i) a j) násobné hrany se smyčkou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3F2906-1A9D-F2C2-FADE-074B0831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1467" y="825080"/>
            <a:ext cx="6517065" cy="488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63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87BEDA-BA45-98B4-14A5-EECB036D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grafů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8FCDD2-5651-B5E7-54EA-2C5BD0A7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7350"/>
            <a:ext cx="9601200" cy="4895850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Neorientovaný graf</a:t>
            </a:r>
          </a:p>
          <a:p>
            <a:pPr lvl="1"/>
            <a:r>
              <a:rPr lang="cs-CZ" i="0" dirty="0">
                <a:solidFill>
                  <a:schemeClr val="tx1"/>
                </a:solidFill>
                <a:latin typeface="Arial" panose="020B0604020202020204" pitchFamily="34" charset="0"/>
              </a:rPr>
              <a:t>graf</a:t>
            </a:r>
            <a:r>
              <a:rPr lang="cs-CZ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jehož hrany jsou dvouprvkové </a:t>
            </a:r>
            <a:r>
              <a:rPr lang="cs-CZ" i="0" dirty="0">
                <a:solidFill>
                  <a:schemeClr val="tx1"/>
                </a:solidFill>
                <a:latin typeface="Arial" panose="020B0604020202020204" pitchFamily="34" charset="0"/>
              </a:rPr>
              <a:t>množiny</a:t>
            </a:r>
            <a:endParaRPr lang="cs-CZ" dirty="0">
              <a:solidFill>
                <a:schemeClr val="tx1"/>
              </a:solidFill>
            </a:endParaRPr>
          </a:p>
          <a:p>
            <a:pPr lvl="1"/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 hrany nezáleží na pořadí vrcholů</a:t>
            </a:r>
          </a:p>
          <a:p>
            <a:pPr lvl="2"/>
            <a:r>
              <a:rPr lang="pl-PL" dirty="0">
                <a:solidFill>
                  <a:srgbClr val="202122"/>
                </a:solidFill>
                <a:latin typeface="Arial" panose="020B0604020202020204" pitchFamily="34" charset="0"/>
              </a:rPr>
              <a:t>Strom – </a:t>
            </a:r>
            <a:r>
              <a:rPr lang="fr-F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Souvislý les </a:t>
            </a:r>
            <a:endParaRPr lang="cs-CZ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2"/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– jednoduchý </a:t>
            </a:r>
            <a:r>
              <a:rPr lang="it-IT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graf bez kružnic </a:t>
            </a:r>
            <a:endParaRPr lang="cs-CZ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2"/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množina navzájem nepropojených stromů</a:t>
            </a:r>
            <a:endParaRPr lang="pl-PL" b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30352" lvl="1" indent="0">
              <a:buNone/>
            </a:pPr>
            <a:endParaRPr lang="cs-CZ" dirty="0"/>
          </a:p>
          <a:p>
            <a:r>
              <a:rPr lang="cs-CZ" dirty="0"/>
              <a:t>Orientovaný graf</a:t>
            </a:r>
          </a:p>
          <a:p>
            <a:pPr lvl="1"/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Hrany mají pevně danou orientaci</a:t>
            </a:r>
          </a:p>
          <a:p>
            <a:pPr lvl="1"/>
            <a:r>
              <a:rPr lang="cs-CZ" i="0" dirty="0">
                <a:solidFill>
                  <a:srgbClr val="202122"/>
                </a:solidFill>
                <a:latin typeface="Arial" panose="020B0604020202020204" pitchFamily="34" charset="0"/>
              </a:rPr>
              <a:t>Orientovaný strom – má jeden význačný vrchol(kořen), z něho mají hrany určený směr</a:t>
            </a:r>
          </a:p>
          <a:p>
            <a:pPr lvl="1"/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Potomek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určitého vrcholu je každý vrchol, do kterého vede z tohoto vrcholu orientovaná hrana</a:t>
            </a:r>
          </a:p>
          <a:p>
            <a:pPr lvl="1"/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Vrchol, který nemá potomky, se nazývá 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list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Větev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je (jednoznačně určená) cesta od kořene k listu</a:t>
            </a:r>
          </a:p>
          <a:p>
            <a:pPr lvl="1"/>
            <a:endParaRPr lang="cs-CZ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cs-CZ" i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/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Strom (teória grafov) – Wikipédia">
            <a:extLst>
              <a:ext uri="{FF2B5EF4-FFF2-40B4-BE49-F238E27FC236}">
                <a16:creationId xmlns:a16="http://schemas.microsoft.com/office/drawing/2014/main" id="{A3A6598E-850D-919C-D724-A790077E0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840" y="634805"/>
            <a:ext cx="3727938" cy="253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51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E61B33-5097-D404-4482-FD7187F6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cs-CZ" dirty="0"/>
              <a:t>DFS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5C4085-D686-629A-BBDF-77B04657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351846" cy="3581400"/>
          </a:xfrm>
        </p:spPr>
        <p:txBody>
          <a:bodyPr>
            <a:normAutofit lnSpcReduction="10000"/>
          </a:bodyPr>
          <a:lstStyle/>
          <a:p>
            <a:r>
              <a:rPr lang="cs-CZ" sz="1800" dirty="0"/>
              <a:t>Prohledávání do hloubky (</a:t>
            </a:r>
            <a:r>
              <a:rPr lang="cs-CZ" sz="1800" dirty="0" err="1"/>
              <a:t>depth-first-search</a:t>
            </a:r>
            <a:r>
              <a:rPr lang="cs-CZ" sz="1800" dirty="0"/>
              <a:t>)</a:t>
            </a:r>
          </a:p>
          <a:p>
            <a:r>
              <a:rPr lang="cs-CZ" sz="1800" dirty="0"/>
              <a:t>Prochází grafy pomocí </a:t>
            </a:r>
            <a:r>
              <a:rPr lang="cs-CZ" sz="1800" dirty="0" err="1"/>
              <a:t>backtrack</a:t>
            </a:r>
            <a:r>
              <a:rPr lang="cs-CZ" sz="1800" dirty="0"/>
              <a:t> </a:t>
            </a:r>
            <a:r>
              <a:rPr lang="cs-CZ" sz="1800" dirty="0" err="1"/>
              <a:t>algorimtu</a:t>
            </a:r>
            <a:endParaRPr lang="cs-CZ" sz="1800" dirty="0"/>
          </a:p>
          <a:p>
            <a:r>
              <a:rPr lang="cs-CZ" sz="1800" b="0" i="0" dirty="0">
                <a:effectLst/>
                <a:latin typeface="Arial" panose="020B0604020202020204" pitchFamily="34" charset="0"/>
              </a:rPr>
              <a:t>vždy expanduje prvního následníka každého vrcholu, pokud jej ještě nenavštívil</a:t>
            </a:r>
          </a:p>
          <a:p>
            <a:r>
              <a:rPr lang="cs-CZ" sz="1800" b="0" i="0" dirty="0">
                <a:effectLst/>
                <a:latin typeface="Arial" panose="020B0604020202020204" pitchFamily="34" charset="0"/>
              </a:rPr>
              <a:t>Pokud narazí na vrchol, z nějž už nelze dále pokračovat (nemá žádné následníky nebo byli všichni navštíveni), vrací se zpět </a:t>
            </a:r>
            <a:r>
              <a:rPr lang="cs-CZ" sz="1800" b="0" i="0" dirty="0" err="1">
                <a:effectLst/>
                <a:latin typeface="Arial" panose="020B0604020202020204" pitchFamily="34" charset="0"/>
              </a:rPr>
              <a:t>backtrackingem</a:t>
            </a:r>
            <a:endParaRPr lang="cs-CZ" sz="1800" b="0" i="0" dirty="0">
              <a:effectLst/>
              <a:latin typeface="Arial" panose="020B0604020202020204" pitchFamily="34" charset="0"/>
            </a:endParaRPr>
          </a:p>
          <a:p>
            <a:endParaRPr lang="cs-CZ" sz="1800" b="0" i="0" dirty="0">
              <a:effectLst/>
              <a:latin typeface="Arial" panose="020B0604020202020204" pitchFamily="34" charset="0"/>
            </a:endParaRPr>
          </a:p>
          <a:p>
            <a:endParaRPr lang="cs-CZ" sz="1800" dirty="0">
              <a:latin typeface="Arial" panose="020B0604020202020204" pitchFamily="34" charset="0"/>
            </a:endParaRPr>
          </a:p>
          <a:p>
            <a:endParaRPr lang="cs-CZ" sz="1800" dirty="0"/>
          </a:p>
          <a:p>
            <a:endParaRPr lang="cs-CZ" sz="1600" dirty="0"/>
          </a:p>
          <a:p>
            <a:endParaRPr lang="cs-CZ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B5B64E-4E06-36C9-ECF4-A677CF4A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3446" y="1846288"/>
            <a:ext cx="5583904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69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7903DE-8C20-E24D-33CD-A66D2AA6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cs-CZ" dirty="0"/>
              <a:t>BFS</a:t>
            </a:r>
          </a:p>
        </p:txBody>
      </p:sp>
      <p:sp>
        <p:nvSpPr>
          <p:cNvPr id="3079" name="Rectangle 307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8A998F-8B3A-A727-0C80-DA3A21AB1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cs-CZ" sz="1800" dirty="0"/>
              <a:t>Prohledávání do šířky(</a:t>
            </a:r>
            <a:r>
              <a:rPr lang="cs-CZ" sz="1800" dirty="0" err="1"/>
              <a:t>Breadth-first</a:t>
            </a:r>
            <a:r>
              <a:rPr lang="cs-CZ" sz="1800" dirty="0"/>
              <a:t> </a:t>
            </a:r>
            <a:r>
              <a:rPr lang="cs-CZ" sz="1800" dirty="0" err="1"/>
              <a:t>search</a:t>
            </a:r>
            <a:r>
              <a:rPr lang="cs-CZ" sz="1800" dirty="0"/>
              <a:t>)</a:t>
            </a:r>
          </a:p>
          <a:p>
            <a:r>
              <a:rPr lang="cs-CZ" sz="1800" b="0" i="0" dirty="0">
                <a:effectLst/>
                <a:latin typeface="Arial" panose="020B0604020202020204" pitchFamily="34" charset="0"/>
              </a:rPr>
              <a:t>prohledávání grafu přes všechny uzly</a:t>
            </a:r>
          </a:p>
          <a:p>
            <a:r>
              <a:rPr lang="cs-CZ" sz="1800" dirty="0">
                <a:latin typeface="Arial" panose="020B0604020202020204" pitchFamily="34" charset="0"/>
              </a:rPr>
              <a:t>P</a:t>
            </a:r>
            <a:r>
              <a:rPr lang="cs-CZ" sz="1800" b="0" i="0" dirty="0">
                <a:effectLst/>
                <a:latin typeface="Arial" panose="020B0604020202020204" pitchFamily="34" charset="0"/>
              </a:rPr>
              <a:t>rochází všechny uzly a pro každý projde jejich všechny následovníky. </a:t>
            </a:r>
          </a:p>
          <a:p>
            <a:r>
              <a:rPr lang="cs-CZ" sz="1800" b="0" i="0" dirty="0">
                <a:effectLst/>
                <a:latin typeface="Arial" panose="020B0604020202020204" pitchFamily="34" charset="0"/>
              </a:rPr>
              <a:t>Přitom si poznamenává předchůdce jednotlivých uzlů a tím je poté vytvořen strom nejkratších cest k jednotlivým uzlům z kořene (uzlu v kterém jsme začínali).</a:t>
            </a:r>
          </a:p>
          <a:p>
            <a:r>
              <a:rPr lang="cs-CZ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velký nárok na prostor, nepraktické pro rozsáhlejší problémy</a:t>
            </a:r>
            <a:endParaRPr lang="cs-CZ" sz="1800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8685F496-75AA-689F-44B0-011D4879B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2582" y="1769136"/>
            <a:ext cx="4095856" cy="383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45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7350ED-2C94-50A4-E16B-20471F1A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Matice incidence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498CFA-3D2F-6F40-294E-00C97162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způsob je reprezentace</a:t>
            </a:r>
            <a:r>
              <a:rPr lang="pl-PL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</a:rPr>
              <a:t>grafu</a:t>
            </a: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</a:rPr>
              <a:t>Neorientovaný graf –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řádek pro každý vrchol a sloupec pro každou hranu. </a:t>
            </a:r>
          </a:p>
          <a:p>
            <a:pPr lvl="1"/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Pokud vrchol náleží hraně, je na dané pozici jednička, jinak nula</a:t>
            </a:r>
          </a:p>
          <a:p>
            <a:pPr lvl="5"/>
            <a:endParaRPr lang="cs-CZ" i="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530352" lvl="1" indent="0">
              <a:buNone/>
            </a:pP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			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530352" lvl="1" indent="0">
              <a:buNone/>
            </a:pP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			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530352" lvl="1" indent="0">
              <a:buNone/>
            </a:pP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pl-P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</a:rPr>
              <a:t>Orientovaný graf -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stačí například výchozí vrchol místo čísla jedna značit číslem minus jedna</a:t>
            </a:r>
            <a:endParaRPr lang="pl-P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30352" lvl="1" indent="0">
              <a:buNone/>
            </a:pP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pl-P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87964D4-B7F2-2392-3535-32E661879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193" y="3598010"/>
            <a:ext cx="1858875" cy="1344719"/>
          </a:xfrm>
          <a:prstGeom prst="rect">
            <a:avLst/>
          </a:prstGeom>
        </p:spPr>
      </p:pic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5C17009E-EA93-294F-67FF-5421E4C06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661" y="3598010"/>
            <a:ext cx="1410385" cy="144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35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6F0019-7EA1-2D41-E49F-7A9F915D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Matice sousednosti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FB7795-7B53-B777-9D56-6C2D65EA7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822" y="1811295"/>
            <a:ext cx="9601200" cy="3581400"/>
          </a:xfrm>
        </p:spPr>
        <p:txBody>
          <a:bodyPr/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V řádcích i ve sloupcích budou uzly </a:t>
            </a:r>
          </a:p>
          <a:p>
            <a:r>
              <a:rPr lang="cs-CZ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Číslo 1 na dané pozici v matici bude znamenat, že příslušné uzly spolu sousedí, jinak na této pozici bude číslo 0. </a:t>
            </a:r>
          </a:p>
          <a:p>
            <a:r>
              <a:rPr lang="cs-CZ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Pro neorientovaný graf bude matice symetrická</a:t>
            </a:r>
          </a:p>
          <a:p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prvky na </a:t>
            </a:r>
            <a:r>
              <a:rPr lang="cs-CZ" dirty="0">
                <a:solidFill>
                  <a:schemeClr val="tx1"/>
                </a:solidFill>
                <a:latin typeface="Arial" panose="020B0604020202020204" pitchFamily="34" charset="0"/>
              </a:rPr>
              <a:t>diagonále</a:t>
            </a:r>
            <a:r>
              <a:rPr lang="cs-CZ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obvykle odpovídají počtu hran vedoucích z vrcholu(orientovaný graf), pokud je tam dvojnásobek této hodnoty (orientovaný)</a:t>
            </a: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BB866C-B626-9C58-5BDF-B731BCA9F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168" y="4319646"/>
            <a:ext cx="2203272" cy="241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62D49D80-4371-4266-1730-CA540169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88" y="4321058"/>
            <a:ext cx="2822227" cy="237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3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B6E65D6-E008-F7D2-E72E-90421520A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690" y="227827"/>
            <a:ext cx="2834846" cy="283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D1A787F-19C9-065F-3BFD-5AE62F221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412" y="227826"/>
            <a:ext cx="2767043" cy="276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05EA153-58C0-068B-1F4C-D809AC3B6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255" y="3795326"/>
            <a:ext cx="2900281" cy="290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3609CAFA-E117-5A7A-E9D1-25BC09372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412" y="3795326"/>
            <a:ext cx="2900281" cy="290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6408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7051AB-F715-47FD-8377-041243CFC349}"/>
</file>

<file path=customXml/itemProps2.xml><?xml version="1.0" encoding="utf-8"?>
<ds:datastoreItem xmlns:ds="http://schemas.openxmlformats.org/officeDocument/2006/customXml" ds:itemID="{A8B44799-16C9-4B6F-94A4-09281EBF38C0}"/>
</file>

<file path=customXml/itemProps3.xml><?xml version="1.0" encoding="utf-8"?>
<ds:datastoreItem xmlns:ds="http://schemas.openxmlformats.org/officeDocument/2006/customXml" ds:itemID="{1ADD18FA-FB6D-432B-B30E-F9F4E0A3DE34}"/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173</TotalTime>
  <Words>527</Words>
  <Application>Microsoft Office PowerPoint</Application>
  <PresentationFormat>Širokoúhlá obrazovka</PresentationFormat>
  <Paragraphs>73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Franklin Gothic Book</vt:lpstr>
      <vt:lpstr>Trebuchet MS</vt:lpstr>
      <vt:lpstr>Wingdings</vt:lpstr>
      <vt:lpstr>Oříznutí</vt:lpstr>
      <vt:lpstr>TEORIE GRAFŮ</vt:lpstr>
      <vt:lpstr>Úvod</vt:lpstr>
      <vt:lpstr>Pojmy</vt:lpstr>
      <vt:lpstr>Typy hran</vt:lpstr>
      <vt:lpstr>Prezentace aplikace PowerPoint</vt:lpstr>
      <vt:lpstr>Typy grafů</vt:lpstr>
      <vt:lpstr>DFS</vt:lpstr>
      <vt:lpstr>BFS</vt:lpstr>
      <vt:lpstr>Matice incidence</vt:lpstr>
      <vt:lpstr>Matice sousednosti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TEORIE GRAFŮ</dc:title>
  <dc:creator>Honzl František</dc:creator>
  <cp:lastModifiedBy>Kašpárek Ladislav</cp:lastModifiedBy>
  <cp:revision>10</cp:revision>
  <dcterms:created xsi:type="dcterms:W3CDTF">2023-03-16T17:33:35Z</dcterms:created>
  <dcterms:modified xsi:type="dcterms:W3CDTF">2023-03-24T10:19:07Z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