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8" r:id="rId5"/>
    <p:sldId id="258" r:id="rId6"/>
    <p:sldId id="266" r:id="rId7"/>
    <p:sldId id="267" r:id="rId8"/>
    <p:sldId id="261" r:id="rId9"/>
    <p:sldId id="260" r:id="rId10"/>
    <p:sldId id="265" r:id="rId11"/>
    <p:sldId id="264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CBD03C-0883-3B46-D40E-B97CCB644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F24A38-B729-06C2-F060-E3F5D274D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B65932F-EA77-7652-430E-1A90157B5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D2B2EED-ED8A-7088-3137-6C38B80A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C97DD25-BFEE-0419-77CA-39AA2DF7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114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AB1085-9AA6-9B82-DC4C-A2AA37C2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35D315-2DFC-2F7D-07A3-648B09DD3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C9998E3-B709-297D-5FCF-22F872D3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ABA518D-B72D-3303-1092-44ED8578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1CEBCC-A1A4-A86B-27CB-A4621BE2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278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F7BD67-918B-B7BF-DD68-B74E13CB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FEE5415-319E-A732-01F1-8D6A22FAC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75A8080-7BE9-3AE9-C7D1-8502EFDE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6CFBB0-BE58-06C4-752C-9C3141B9C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1CE0BC-2C21-3EF0-D1C6-FA9501D9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637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9D0236-499D-5A2E-9F31-00249A9E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B6AD62-2CFD-F8F1-3B4A-1C71F3DB1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094AD29-6A46-2B6F-DF03-9A6713C6A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CF7FCC5-31F0-29D2-3CEA-BF3CE5D49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965B176-395A-B710-ADF3-3136BEB4B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051424D-B595-5A26-8F56-7D91C0AA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726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0051A7-9DDB-7C66-9566-AA2B79F2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E21223F-6160-0A67-6C99-DC08965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A3655AE-FB1D-067C-43BA-14C8E310C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E789EE2-705C-D11A-AE6F-06FBD4491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B9A7247-A477-B607-457A-6795D7D2D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219BCF1-9A52-E290-F4F8-B96EE2469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AEA1EFE-9BD7-4213-CE62-0266B2FE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6735351-BDE0-564A-97A3-113F8C33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253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835235-7B47-7E19-F234-6283DF17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5B1CE0D-F86C-3C99-474F-3FB496E0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82023E3-48E3-ECC5-AE9E-1CBB19C2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010AAC-E693-196F-72E6-C5B6FB33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36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8B87623-10C8-09BE-9B5F-F8E745703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AE38259-C3D0-31D7-565D-E7AA04C1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2C6FF93-A20A-3328-E208-921976A0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880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67C79D-0E38-91C6-FA9D-DD0D3426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B25BE3-7301-1297-A5FC-9CCBE0BA9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27C6A32-D510-9D20-42E2-12DEB184E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AB975AC-6CCF-2502-3CD4-26663E72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E7886D4-2216-60EA-932F-CD5DDD2A1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99C16B2-EBFC-01F3-C34E-D0C9C2F7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717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FFDA4E-637E-AF80-68CD-B807AF95D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05A9042-4030-7D4C-DD32-749697A14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71CB612-7DCA-A688-985C-9D4D7B5F0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226FFD1-0AB7-C5C8-CB7A-C1D8ED99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535B7B-0904-83CE-C8A4-39C9066F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D2C0199-8081-0348-E2FC-717B89C6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917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2744AF-7C3D-AF6A-388C-695C6567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403F324-0561-6949-D564-F1E8BEAB0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F9FEA82-9FEE-8EDF-19DF-E2370C6B2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CCAB2C3-15B4-3D97-F502-F2A20CCFF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7ED66B-083E-BB2F-92CE-905EAC2F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8691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5D3BCB-8EB3-7F20-319C-FF4B6FB2B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820FDFA-42E0-CDC2-7F6B-8243964C9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152D0FB-F075-7FE6-2A62-E161CE22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655C4A9-A02B-A674-3FC2-303711B0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BA7AF1-3327-207A-0B03-FD0D5BB0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162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DC3DF25-92EB-0FE8-568F-21866B4F7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C76472B-A9A4-9CDD-2B11-46BD245FA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405F592-AD66-FBB9-2C6D-36255C4F2D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D0704-3E21-45A1-B0A0-1FA08559757D}" type="datetimeFigureOut">
              <a:rPr lang="cs-CZ" smtClean="0"/>
              <a:t>12.03.2025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1041242-B620-6F66-1C3F-6A21A9E9F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15751B3-9765-ADF9-8BA9-642D09C11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7D2BD-01B9-4867-8043-1B82C04D952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25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1bO55b1Zb8&amp;t=906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0C35E1-EC41-A2B7-38B7-4488E03707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cs-CZ" i="0" dirty="0">
                <a:solidFill>
                  <a:srgbClr val="333333"/>
                </a:solidFill>
                <a:effectLst/>
                <a:latin typeface="Helvetica Neue"/>
              </a:rPr>
              <a:t>Dědičnost, Rozhraní, Polymorfismus</a:t>
            </a:r>
            <a:br>
              <a:rPr lang="cs-CZ" i="0" dirty="0">
                <a:solidFill>
                  <a:srgbClr val="333333"/>
                </a:solidFill>
                <a:effectLst/>
                <a:latin typeface="Helvetica Neue"/>
              </a:rPr>
            </a:b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D3D1309-E6FB-55A4-2C77-558B0052C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4816" y="5175504"/>
            <a:ext cx="3444240" cy="850392"/>
          </a:xfrm>
        </p:spPr>
        <p:txBody>
          <a:bodyPr/>
          <a:lstStyle/>
          <a:p>
            <a:r>
              <a:rPr lang="cs-CZ" dirty="0"/>
              <a:t>Autor: Dědek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CD1771E-A0DD-BEB0-78D7-A32C8B6A0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227" y="3156543"/>
            <a:ext cx="4995546" cy="270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23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ECA8C7-314C-5C37-ACF0-9F39849C5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Dědičnost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D094B9-35A9-1305-C819-22FB1B88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161"/>
            <a:ext cx="10515600" cy="4351338"/>
          </a:xfrm>
        </p:spPr>
        <p:txBody>
          <a:bodyPr/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rodičovská třída definuje základní atributy (vlastnosti) a metody</a:t>
            </a:r>
          </a:p>
          <a:p>
            <a:r>
              <a:rPr lang="cs-CZ" dirty="0">
                <a:solidFill>
                  <a:srgbClr val="333333"/>
                </a:solidFill>
                <a:latin typeface="Helvetica Neue"/>
              </a:rPr>
              <a:t>Potomci dědí</a:t>
            </a:r>
            <a:endParaRPr lang="cs-CZ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využít, přepsat, nebo přidat další</a:t>
            </a:r>
            <a:endParaRPr lang="cs-CZ" dirty="0">
              <a:solidFill>
                <a:srgbClr val="333333"/>
              </a:solidFill>
              <a:latin typeface="Helvetica Neue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jedno-násobná dědičnost (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Helvetica Neue"/>
              </a:rPr>
              <a:t>java</a:t>
            </a:r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</a:p>
          <a:p>
            <a:pPr lvl="1"/>
            <a:r>
              <a:rPr lang="cs-CZ" dirty="0">
                <a:solidFill>
                  <a:srgbClr val="333333"/>
                </a:solidFill>
                <a:latin typeface="Helvetica Neue"/>
              </a:rPr>
              <a:t>Diamantový problém</a:t>
            </a:r>
            <a:endParaRPr lang="cs-CZ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cs-CZ" dirty="0">
                <a:solidFill>
                  <a:srgbClr val="333333"/>
                </a:solidFill>
                <a:latin typeface="Helvetica Neue"/>
              </a:rPr>
              <a:t>Default </a:t>
            </a:r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rodičovská třída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Helvetica Neue"/>
              </a:rPr>
              <a:t>java.lang.Object</a:t>
            </a:r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()</a:t>
            </a: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9A446DB-5B33-4EC1-BC99-3DBA9090B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610" y="4576941"/>
            <a:ext cx="5094780" cy="2034757"/>
          </a:xfrm>
          <a:prstGeom prst="rect">
            <a:avLst/>
          </a:prstGeom>
        </p:spPr>
      </p:pic>
      <p:pic>
        <p:nvPicPr>
          <p:cNvPr id="3074" name="Picture 2" descr="The Meaning of Family | LoveToKnow">
            <a:extLst>
              <a:ext uri="{FF2B5EF4-FFF2-40B4-BE49-F238E27FC236}">
                <a16:creationId xmlns:a16="http://schemas.microsoft.com/office/drawing/2014/main" id="{D2F77052-38BC-73E1-BC84-A3CC028B5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752" y="2192647"/>
            <a:ext cx="3200400" cy="213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593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4E5923-6D1B-55DA-5BBF-EB603206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Příkazy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70CC59-1F05-9A78-F024-CD03578EE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Super</a:t>
            </a:r>
          </a:p>
          <a:p>
            <a:pPr lvl="1"/>
            <a:r>
              <a:rPr lang="cs-CZ" dirty="0"/>
              <a:t>Funguje jako </a:t>
            </a:r>
            <a:r>
              <a:rPr lang="cs-CZ" dirty="0" err="1"/>
              <a:t>this</a:t>
            </a:r>
            <a:r>
              <a:rPr lang="cs-CZ" dirty="0"/>
              <a:t> ale odkazuje na rodiče</a:t>
            </a:r>
          </a:p>
          <a:p>
            <a:r>
              <a:rPr lang="cs-CZ" dirty="0" err="1"/>
              <a:t>Final</a:t>
            </a:r>
            <a:endParaRPr lang="cs-CZ" dirty="0"/>
          </a:p>
          <a:p>
            <a:pPr lvl="1"/>
            <a:r>
              <a:rPr lang="cs-CZ" dirty="0"/>
              <a:t> </a:t>
            </a:r>
            <a:r>
              <a:rPr lang="cs-CZ" dirty="0" err="1"/>
              <a:t>proměné</a:t>
            </a:r>
            <a:r>
              <a:rPr lang="cs-CZ" dirty="0"/>
              <a:t> a metody (nejdou přepsat) nebo třída (nejde z ní dědit) </a:t>
            </a:r>
          </a:p>
          <a:p>
            <a:endParaRPr lang="cs-CZ" dirty="0"/>
          </a:p>
        </p:txBody>
      </p:sp>
      <p:pic>
        <p:nvPicPr>
          <p:cNvPr id="2050" name="Picture 2" descr="Hackerman : r/NoMansSkyTheGame">
            <a:extLst>
              <a:ext uri="{FF2B5EF4-FFF2-40B4-BE49-F238E27FC236}">
                <a16:creationId xmlns:a16="http://schemas.microsoft.com/office/drawing/2014/main" id="{79F62C67-8432-ACA3-FC83-D1B55A5A0C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" t="24652" r="3712" b="2800"/>
          <a:stretch/>
        </p:blipFill>
        <p:spPr bwMode="auto">
          <a:xfrm>
            <a:off x="4678679" y="3662894"/>
            <a:ext cx="2834641" cy="282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54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0037B8B1-78C4-E2FC-36AE-62098EC4B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38" y="1181803"/>
            <a:ext cx="5646318" cy="4494394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75C37916-EA66-3150-F7EF-8B51854CC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85307"/>
            <a:ext cx="5972962" cy="328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13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B86D6F-3B9B-4B03-D02C-89B0BE7A6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Polymorfismus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BDFA25-ABF2-3026-C61D-609AB4493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0" i="0" dirty="0" err="1">
                <a:solidFill>
                  <a:srgbClr val="333333"/>
                </a:solidFill>
                <a:effectLst/>
                <a:latin typeface="Helvetica Neue"/>
              </a:rPr>
              <a:t>Poly</a:t>
            </a:r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 – mnoho, </a:t>
            </a:r>
            <a:r>
              <a:rPr lang="cs-CZ" dirty="0" err="1">
                <a:solidFill>
                  <a:srgbClr val="333333"/>
                </a:solidFill>
                <a:latin typeface="Helvetica Neue"/>
              </a:rPr>
              <a:t>M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Helvetica Neue"/>
              </a:rPr>
              <a:t>orphe</a:t>
            </a:r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 - forma</a:t>
            </a: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volání jedné metody se stejným jménem, ale s jinou implementací</a:t>
            </a:r>
          </a:p>
          <a:p>
            <a:endParaRPr lang="cs-CZ" dirty="0"/>
          </a:p>
        </p:txBody>
      </p:sp>
      <p:pic>
        <p:nvPicPr>
          <p:cNvPr id="1026" name="Picture 2" descr="The Metamorphosis by Franz Kafka. A review by Sarthak Pal | by Sarthak Pal  | Medium">
            <a:extLst>
              <a:ext uri="{FF2B5EF4-FFF2-40B4-BE49-F238E27FC236}">
                <a16:creationId xmlns:a16="http://schemas.microsoft.com/office/drawing/2014/main" id="{994619B7-50D3-9ADE-485C-8B493CD53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014" y="2942853"/>
            <a:ext cx="3429972" cy="344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534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B9C2F8AF-A225-7B04-A087-785FAFE57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325" y="273127"/>
            <a:ext cx="7693349" cy="658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6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A172EC80-3E20-7865-0C4B-B0B9FC95E8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004"/>
          <a:stretch/>
        </p:blipFill>
        <p:spPr>
          <a:xfrm>
            <a:off x="975332" y="969077"/>
            <a:ext cx="10706595" cy="477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74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74E333-1BAE-937C-5CDB-89A786AE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Helvetica Neue"/>
              </a:rPr>
              <a:t>Abstraktní metody / třídy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E21C58-BAC1-9C46-978D-CCAED5F72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Značí se klíčovým slovem </a:t>
            </a:r>
            <a:r>
              <a:rPr lang="cs-CZ" dirty="0" err="1"/>
              <a:t>abstract</a:t>
            </a:r>
            <a:endParaRPr lang="cs-CZ" dirty="0"/>
          </a:p>
          <a:p>
            <a:r>
              <a:rPr lang="cs-CZ" dirty="0"/>
              <a:t>Abstraktní třída obsahuje min. jednu </a:t>
            </a:r>
            <a:r>
              <a:rPr lang="cs-CZ" dirty="0" err="1"/>
              <a:t>abstr</a:t>
            </a:r>
            <a:r>
              <a:rPr lang="cs-CZ" dirty="0"/>
              <a:t>. Metodu</a:t>
            </a:r>
          </a:p>
          <a:p>
            <a:r>
              <a:rPr lang="cs-CZ" b="0" i="0" dirty="0" err="1">
                <a:solidFill>
                  <a:srgbClr val="333333"/>
                </a:solidFill>
                <a:effectLst/>
                <a:latin typeface="Helvetica Neue"/>
              </a:rPr>
              <a:t>Abstr</a:t>
            </a:r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. metoda nemá tělo a neobsahuje žádnou implementaci</a:t>
            </a: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Z abstraktní třídy nelze vytvářet instance</a:t>
            </a:r>
            <a:endParaRPr lang="cs-CZ" dirty="0">
              <a:solidFill>
                <a:srgbClr val="333333"/>
              </a:solidFill>
              <a:latin typeface="Helvetica Neue"/>
            </a:endParaRP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2905891-DDA2-61C3-D150-71E09D0A6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319" y="4389768"/>
            <a:ext cx="4630144" cy="1685336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5C890827-4C79-BAD1-0894-A2A8D8A89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55" y="4254879"/>
            <a:ext cx="5421727" cy="192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35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2669F9-59AA-8DC7-4187-4BE41D71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Rozhraní (interface)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FDDE2E-5F11-57D9-0823-E1D79BE61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Řeší jedno-násobnou dědičnost </a:t>
            </a: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Předpis metod</a:t>
            </a:r>
          </a:p>
          <a:p>
            <a:r>
              <a:rPr lang="cs-CZ" dirty="0">
                <a:solidFill>
                  <a:srgbClr val="333333"/>
                </a:solidFill>
                <a:latin typeface="Helvetica Neue"/>
              </a:rPr>
              <a:t>Neobsahuje kód</a:t>
            </a:r>
            <a:endParaRPr lang="cs-CZ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obsahuje pouze "abstraktní" metody</a:t>
            </a:r>
          </a:p>
          <a:p>
            <a:pPr lvl="1"/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hlavičku metody s návratovým typem a seznamem parametrů</a:t>
            </a:r>
            <a:endParaRPr lang="cs-CZ" dirty="0">
              <a:solidFill>
                <a:srgbClr val="333333"/>
              </a:solidFill>
              <a:latin typeface="Helvetica Neue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Helvetica Neue"/>
              </a:rPr>
              <a:t>Může obsahovat konstanty</a:t>
            </a:r>
          </a:p>
          <a:p>
            <a:r>
              <a:rPr lang="cs-CZ" dirty="0">
                <a:solidFill>
                  <a:srgbClr val="333333"/>
                </a:solidFill>
                <a:latin typeface="Helvetica Neue"/>
              </a:rPr>
              <a:t>Třída může mít libovolně mnoho rozhraní</a:t>
            </a:r>
            <a:endParaRPr lang="cs-CZ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2952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8A18B837-4EF9-C299-2DE6-2CFAD03B0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32" y="111458"/>
            <a:ext cx="5487383" cy="1505194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BDE55832-F2EB-C83C-ECEA-DB33E576F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07" y="1888254"/>
            <a:ext cx="4635563" cy="2063108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86E12D54-F1AD-A806-5CB6-645A8DFC2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862" y="111458"/>
            <a:ext cx="5519045" cy="1505194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8AA8AF34-3755-1631-5B50-DEDCC69E7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31" y="1865595"/>
            <a:ext cx="4479761" cy="2108427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BEA8633B-0C26-F3A9-E5F5-9F2227C22E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218" y="4222964"/>
            <a:ext cx="4635564" cy="222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26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376A05-038B-4BA9-1938-EB319BF9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Vložení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2D7132-DF9E-9C0A-A7A1-68CF76E65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PRM Okruh 10 PRINCIPY OOP (DĚDIČNOST, ROZHRANÍ, ABSTRAKTNÍ TŘÍDA) - Karel </a:t>
            </a:r>
            <a:r>
              <a:rPr lang="cs-CZ" dirty="0" err="1">
                <a:hlinkClick r:id="rId2"/>
              </a:rPr>
              <a:t>Johanovský</a:t>
            </a:r>
            <a:r>
              <a:rPr lang="cs-CZ" dirty="0">
                <a:hlinkClick r:id="rId2"/>
              </a:rPr>
              <a:t> SŠPTAJI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3676923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066FEEE5F48AD4681024082CD4E6082" ma:contentTypeVersion="11" ma:contentTypeDescription="Vytvoří nový dokument" ma:contentTypeScope="" ma:versionID="6021c7b32f80356c74d63ee04b326413">
  <xsd:schema xmlns:xsd="http://www.w3.org/2001/XMLSchema" xmlns:xs="http://www.w3.org/2001/XMLSchema" xmlns:p="http://schemas.microsoft.com/office/2006/metadata/properties" xmlns:ns2="56f66b51-0c61-4da8-9d6e-b8db00b12de2" xmlns:ns3="084efd27-671c-4a3e-a1f9-193c3664239c" targetNamespace="http://schemas.microsoft.com/office/2006/metadata/properties" ma:root="true" ma:fieldsID="894ec311cd56890784da74c65925d942" ns2:_="" ns3:_="">
    <xsd:import namespace="56f66b51-0c61-4da8-9d6e-b8db00b12de2"/>
    <xsd:import namespace="084efd27-671c-4a3e-a1f9-193c366423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66b51-0c61-4da8-9d6e-b8db00b12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efd27-671c-4a3e-a1f9-193c366423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9bef40-6bc0-44a3-b004-108519b05bb9}" ma:internalName="TaxCatchAll" ma:showField="CatchAllData" ma:web="084efd27-671c-4a3e-a1f9-193c366423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f66b51-0c61-4da8-9d6e-b8db00b12de2">
      <Terms xmlns="http://schemas.microsoft.com/office/infopath/2007/PartnerControls"/>
    </lcf76f155ced4ddcb4097134ff3c332f>
    <TaxCatchAll xmlns="084efd27-671c-4a3e-a1f9-193c3664239c" xsi:nil="true"/>
  </documentManagement>
</p:properties>
</file>

<file path=customXml/itemProps1.xml><?xml version="1.0" encoding="utf-8"?>
<ds:datastoreItem xmlns:ds="http://schemas.openxmlformats.org/officeDocument/2006/customXml" ds:itemID="{8ED36BC3-9A22-4854-9222-39672F2EC280}"/>
</file>

<file path=customXml/itemProps2.xml><?xml version="1.0" encoding="utf-8"?>
<ds:datastoreItem xmlns:ds="http://schemas.openxmlformats.org/officeDocument/2006/customXml" ds:itemID="{025EF6D9-D332-47AF-8967-05ED74B07382}"/>
</file>

<file path=customXml/itemProps3.xml><?xml version="1.0" encoding="utf-8"?>
<ds:datastoreItem xmlns:ds="http://schemas.openxmlformats.org/officeDocument/2006/customXml" ds:itemID="{091D7D16-D31E-444D-A229-CB9220CAB01A}"/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175</Words>
  <Application>Microsoft Office PowerPoint</Application>
  <PresentationFormat>Širokoúhlá obrazovka</PresentationFormat>
  <Paragraphs>33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Helvetica Neue</vt:lpstr>
      <vt:lpstr>Motiv Office</vt:lpstr>
      <vt:lpstr>Dědičnost, Rozhraní, Polymorfismus </vt:lpstr>
      <vt:lpstr>Dědičnost</vt:lpstr>
      <vt:lpstr>Příkazy</vt:lpstr>
      <vt:lpstr>Prezentace aplikace PowerPoint</vt:lpstr>
      <vt:lpstr>Polymorfismus</vt:lpstr>
      <vt:lpstr>Prezentace aplikace PowerPoint</vt:lpstr>
      <vt:lpstr>Prezentace aplikace PowerPoint</vt:lpstr>
      <vt:lpstr>Abstraktní metody / třídy</vt:lpstr>
      <vt:lpstr>Rozhraní (interface)</vt:lpstr>
      <vt:lpstr>Prezentace aplikace PowerPoint</vt:lpstr>
      <vt:lpstr>Vložení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Holcman Matěj</dc:creator>
  <cp:lastModifiedBy>Holcman Matěj</cp:lastModifiedBy>
  <cp:revision>1</cp:revision>
  <dcterms:created xsi:type="dcterms:W3CDTF">2025-03-12T14:56:48Z</dcterms:created>
  <dcterms:modified xsi:type="dcterms:W3CDTF">2025-03-12T19:38:30Z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0x0101001066FEEE5F48AD4681024082CD4E6082</vt:lpwstr>
  </property>
</Properties>
</file>