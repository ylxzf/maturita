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5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9905C0-6231-A3B0-D3F5-D4F669BB96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Kolekce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A362282-6BC9-93F1-F527-199264545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Matyáš Drápal 4ITA</a:t>
            </a:r>
          </a:p>
        </p:txBody>
      </p:sp>
    </p:spTree>
    <p:extLst>
      <p:ext uri="{BB962C8B-B14F-4D97-AF65-F5344CB8AC3E}">
        <p14:creationId xmlns:p14="http://schemas.microsoft.com/office/powerpoint/2010/main" val="325474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57C21B-8628-B010-8CFE-5290F231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Kolekce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33DD449-3D62-BD98-E3B1-C41B1DD38A52}"/>
              </a:ext>
            </a:extLst>
          </p:cNvPr>
          <p:cNvSpPr txBox="1"/>
          <p:nvPr/>
        </p:nvSpPr>
        <p:spPr>
          <a:xfrm>
            <a:off x="689811" y="2695074"/>
            <a:ext cx="107160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Pojem kolekce označuje soubor dat, které jsou většinou stejného typu a slouží </a:t>
            </a:r>
          </a:p>
          <a:p>
            <a:r>
              <a:rPr lang="cs-CZ" sz="2000" b="1" dirty="0"/>
              <a:t>     ke specifickému účelu.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Objekty, které slouží k ukládání, načítání, zpracování a přenášení  ne konečného prvků</a:t>
            </a:r>
          </a:p>
          <a:p>
            <a:r>
              <a:rPr lang="cs-CZ" sz="2000" b="1" dirty="0"/>
              <a:t>     stejného typu (umožňuje zpracovat agregovaná data)</a:t>
            </a:r>
          </a:p>
        </p:txBody>
      </p:sp>
    </p:spTree>
    <p:extLst>
      <p:ext uri="{BB962C8B-B14F-4D97-AF65-F5344CB8AC3E}">
        <p14:creationId xmlns:p14="http://schemas.microsoft.com/office/powerpoint/2010/main" val="116481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5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B4B228-8134-B820-D3C4-6C1758F0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pojmy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01CE3BD1-F621-39BF-756A-1B5DC462B162}"/>
              </a:ext>
            </a:extLst>
          </p:cNvPr>
          <p:cNvSpPr txBox="1"/>
          <p:nvPr/>
        </p:nvSpPr>
        <p:spPr>
          <a:xfrm>
            <a:off x="689811" y="2695074"/>
            <a:ext cx="962840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Rozhraní – definuje množinu abstraktních metod pro zpracování prvků</a:t>
            </a:r>
          </a:p>
          <a:p>
            <a:r>
              <a:rPr lang="cs-CZ" sz="2000" b="1" dirty="0"/>
              <a:t>     kolekcí, rozhraní (interface) jsou v hierarchii.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Třídy, které implementují (realizují) rozhraní kolekcí.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Algoritmy kolekcí – polymorfní realizace metod tříd a to jak metod rozhraní,</a:t>
            </a:r>
          </a:p>
          <a:p>
            <a:r>
              <a:rPr lang="cs-CZ" sz="2000" b="1" dirty="0"/>
              <a:t>     tak vlastní metod tříd.</a:t>
            </a:r>
          </a:p>
        </p:txBody>
      </p:sp>
    </p:spTree>
    <p:extLst>
      <p:ext uri="{BB962C8B-B14F-4D97-AF65-F5344CB8AC3E}">
        <p14:creationId xmlns:p14="http://schemas.microsoft.com/office/powerpoint/2010/main" val="248392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5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B544AE-390B-C537-5F51-AD7B9994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výhody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957ED4F-EDAF-FFE3-F2E1-7CD50BD6FF90}"/>
              </a:ext>
            </a:extLst>
          </p:cNvPr>
          <p:cNvSpPr txBox="1"/>
          <p:nvPr/>
        </p:nvSpPr>
        <p:spPr>
          <a:xfrm>
            <a:off x="689811" y="2695074"/>
            <a:ext cx="718626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Ulehčení programování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cs-CZ" sz="2000" b="1" dirty="0"/>
              <a:t>Menší k</a:t>
            </a:r>
            <a:r>
              <a:rPr lang="cs-CZ" sz="2000" b="1" i="0" dirty="0">
                <a:effectLst/>
                <a:latin typeface="+mj-lt"/>
              </a:rPr>
              <a:t>ó</a:t>
            </a:r>
            <a:r>
              <a:rPr lang="cs-CZ" sz="2000" b="1" dirty="0"/>
              <a:t>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cs-CZ" sz="2000" b="1" dirty="0"/>
              <a:t>Rychlejší algoritmy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cs-CZ" sz="2000" b="1" dirty="0"/>
              <a:t>„Neomezený rozsah“ počtu ukládaných objektů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Zvýšení čitelnosti programů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Lepší přenositelnost, kompatibilita</a:t>
            </a:r>
          </a:p>
        </p:txBody>
      </p:sp>
    </p:spTree>
    <p:extLst>
      <p:ext uri="{BB962C8B-B14F-4D97-AF65-F5344CB8AC3E}">
        <p14:creationId xmlns:p14="http://schemas.microsoft.com/office/powerpoint/2010/main" val="3307685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1CBC76-BA55-9E06-2FD8-EDD557DA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GENERICITA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E650941-9B6F-ABA0-23D8-EB51C44757B9}"/>
              </a:ext>
            </a:extLst>
          </p:cNvPr>
          <p:cNvSpPr txBox="1"/>
          <p:nvPr/>
        </p:nvSpPr>
        <p:spPr>
          <a:xfrm>
            <a:off x="4672103" y="640079"/>
            <a:ext cx="6883072" cy="2959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kolekcí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je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možné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vkládat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instance</a:t>
            </a:r>
            <a:r>
              <a:rPr lang="cs-CZ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třídy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Object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při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výběru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přetypovávat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zpět</a:t>
            </a:r>
            <a:endParaRPr lang="cs-CZ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Nevýhoda – špatná kontrola typu skutečného objektu</a:t>
            </a:r>
          </a:p>
          <a:p>
            <a:pPr marL="342900"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Chyby za běhu</a:t>
            </a:r>
          </a:p>
          <a:p>
            <a:pPr marL="342900"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Od JDK1.5 možnost typování kolekcí, tj. je možné určit instance které třídy lze do kolekce ukládat</a:t>
            </a:r>
          </a:p>
          <a:p>
            <a:pPr marL="342900"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Typ vkládaných objektů se uzavírají </a:t>
            </a:r>
            <a:r>
              <a:rPr lang="cs-CZ" b="1">
                <a:solidFill>
                  <a:schemeClr val="tx1">
                    <a:lumMod val="85000"/>
                    <a:lumOff val="15000"/>
                  </a:schemeClr>
                </a:solidFill>
              </a:rPr>
              <a:t>do &lt;&gt;, příklad</a:t>
            </a:r>
            <a:endParaRPr lang="cs-CZ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14300" defTabSz="914400">
              <a:spcBef>
                <a:spcPts val="1000"/>
              </a:spcBef>
              <a:buClr>
                <a:schemeClr val="accent2"/>
              </a:buClr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defTabSz="914400">
              <a:spcBef>
                <a:spcPts val="1000"/>
              </a:spcBef>
              <a:buClr>
                <a:schemeClr val="accent2"/>
              </a:buClr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E79560-D009-4E41-B819-296F795E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223" y="3822192"/>
            <a:ext cx="6882951" cy="20684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FCA043-D9C0-45B1-8092-5F8304328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3905450"/>
            <a:ext cx="6720840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text, dopis&#10;&#10;Popis byl vytvořen automaticky">
            <a:extLst>
              <a:ext uri="{FF2B5EF4-FFF2-40B4-BE49-F238E27FC236}">
                <a16:creationId xmlns:a16="http://schemas.microsoft.com/office/drawing/2014/main" id="{70DE74EB-1A68-50EC-6390-1F345FB35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723" y="3987746"/>
            <a:ext cx="5649949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1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5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EC68AF0A-D6AC-44E0-90FC-DAE12BB47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920" y="804334"/>
            <a:ext cx="10550161" cy="510226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691CB35-CBDC-44BB-880D-00A544D5A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968883"/>
            <a:ext cx="10222992" cy="4773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9D17E506-D6D9-C390-27A6-6433579393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35" r="-1" b="-1"/>
          <a:stretch/>
        </p:blipFill>
        <p:spPr>
          <a:xfrm>
            <a:off x="1304544" y="1288923"/>
            <a:ext cx="9582912" cy="4133088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93F3BE39-130C-0526-F8A6-A9F33E58939A}"/>
              </a:ext>
            </a:extLst>
          </p:cNvPr>
          <p:cNvSpPr txBox="1"/>
          <p:nvPr/>
        </p:nvSpPr>
        <p:spPr>
          <a:xfrm>
            <a:off x="2710874" y="6071149"/>
            <a:ext cx="6770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b="1" u="sng" dirty="0"/>
              <a:t>KOLEKCE , ZÁKLADNÍ ROZHRANÍ A TŘÍDY</a:t>
            </a:r>
          </a:p>
        </p:txBody>
      </p:sp>
    </p:spTree>
    <p:extLst>
      <p:ext uri="{BB962C8B-B14F-4D97-AF65-F5344CB8AC3E}">
        <p14:creationId xmlns:p14="http://schemas.microsoft.com/office/powerpoint/2010/main" val="339586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E6AA24-2AD2-94DA-BE8D-CAB3988ED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collection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3592182-5B7F-8B02-1377-44C29DA0A0B6}"/>
              </a:ext>
            </a:extLst>
          </p:cNvPr>
          <p:cNvSpPr txBox="1"/>
          <p:nvPr/>
        </p:nvSpPr>
        <p:spPr>
          <a:xfrm>
            <a:off x="2221992" y="2638044"/>
            <a:ext cx="3631692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Základní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rozhraní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které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zajišťuje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každou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kolekci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v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Javě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je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rozhraní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Collection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Toto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rozhraní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popisuje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základní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metody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pro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práci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každou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kolekcí</a:t>
            </a:r>
            <a:endParaRPr lang="en-US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Výběr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nejdůležitějších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metod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je k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dispozici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na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7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obrázku</a:t>
            </a:r>
            <a:endParaRPr lang="en-US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244874-7EEF-485A-A9C5-38CB59AF5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8316" y="2743200"/>
            <a:ext cx="3622548" cy="2996827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368426-73F3-46C8-BBE4-05A85E5E4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3670" y="2906589"/>
            <a:ext cx="3291840" cy="2670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E0F28990-D750-DFBB-DAA7-E99AF505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150" y="3071181"/>
            <a:ext cx="2956880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68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70E243-0604-B9B6-C4C5-C8885ED8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metody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FA54B97-9961-9D6F-1218-DB31E564D834}"/>
              </a:ext>
            </a:extLst>
          </p:cNvPr>
          <p:cNvSpPr txBox="1"/>
          <p:nvPr/>
        </p:nvSpPr>
        <p:spPr>
          <a:xfrm>
            <a:off x="689811" y="2358190"/>
            <a:ext cx="9456435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 err="1"/>
              <a:t>size</a:t>
            </a:r>
            <a:r>
              <a:rPr lang="cs-CZ" sz="2000" b="1" dirty="0"/>
              <a:t>() – vrátí aktuální počet prvků v kolekci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 err="1"/>
              <a:t>isEmpty</a:t>
            </a:r>
            <a:r>
              <a:rPr lang="cs-CZ" sz="2000" b="1" dirty="0"/>
              <a:t>() – vrátí </a:t>
            </a:r>
            <a:r>
              <a:rPr lang="cs-CZ" sz="2000" b="1" u="sng" dirty="0" err="1"/>
              <a:t>true</a:t>
            </a:r>
            <a:r>
              <a:rPr lang="cs-CZ" sz="2000" b="1" dirty="0"/>
              <a:t>, pokud se v kolekci nenachází žádný prvek, jinak </a:t>
            </a:r>
            <a:r>
              <a:rPr lang="cs-CZ" sz="2000" b="1" u="sng" dirty="0" err="1"/>
              <a:t>false</a:t>
            </a:r>
            <a:endParaRPr lang="cs-CZ" sz="2000" b="1" u="sng" dirty="0"/>
          </a:p>
          <a:p>
            <a:endParaRPr lang="cs-CZ" sz="20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 err="1"/>
              <a:t>contains</a:t>
            </a:r>
            <a:r>
              <a:rPr lang="cs-CZ" sz="2000" b="1" dirty="0"/>
              <a:t>() – vrátí </a:t>
            </a:r>
            <a:r>
              <a:rPr lang="cs-CZ" sz="2000" b="1" u="sng" dirty="0" err="1"/>
              <a:t>true</a:t>
            </a:r>
            <a:r>
              <a:rPr lang="cs-CZ" sz="2000" b="1" dirty="0"/>
              <a:t>, pokud </a:t>
            </a:r>
            <a:r>
              <a:rPr lang="cs-CZ" sz="2000" b="1" dirty="0" err="1"/>
              <a:t>kolekceobsahuje</a:t>
            </a:r>
            <a:r>
              <a:rPr lang="cs-CZ" sz="2000" b="1" dirty="0"/>
              <a:t> prvek z parametru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 err="1"/>
              <a:t>add</a:t>
            </a:r>
            <a:r>
              <a:rPr lang="cs-CZ" sz="2000" b="1" dirty="0"/>
              <a:t>() – přidá prvek do kolekce; vrátí </a:t>
            </a:r>
            <a:r>
              <a:rPr lang="cs-CZ" sz="2000" b="1" u="sng" dirty="0" err="1"/>
              <a:t>true</a:t>
            </a:r>
            <a:r>
              <a:rPr lang="cs-CZ" sz="2000" b="1" dirty="0"/>
              <a:t>, pokud se změnila kolekce</a:t>
            </a:r>
          </a:p>
          <a:p>
            <a:r>
              <a:rPr lang="cs-CZ" sz="2000" b="1" dirty="0"/>
              <a:t>     (prvek byl přidán), jinak </a:t>
            </a:r>
            <a:r>
              <a:rPr lang="cs-CZ" sz="2000" b="1" u="sng" dirty="0" err="1"/>
              <a:t>false</a:t>
            </a:r>
            <a:r>
              <a:rPr lang="cs-CZ" sz="2000" b="1" dirty="0"/>
              <a:t>.</a:t>
            </a:r>
          </a:p>
          <a:p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 err="1"/>
              <a:t>remove</a:t>
            </a:r>
            <a:r>
              <a:rPr lang="cs-CZ" sz="2000" b="1" dirty="0"/>
              <a:t>() – odebere prvek z kolekce; vrátí </a:t>
            </a:r>
            <a:r>
              <a:rPr lang="cs-CZ" sz="2000" b="1" u="sng" dirty="0" err="1"/>
              <a:t>true</a:t>
            </a:r>
            <a:r>
              <a:rPr lang="cs-CZ" sz="2000" b="1" dirty="0"/>
              <a:t>, pokud se změnila kolekce </a:t>
            </a:r>
          </a:p>
          <a:p>
            <a:r>
              <a:rPr lang="cs-CZ" sz="2000" b="1" dirty="0"/>
              <a:t>     (prvek existoval a byl odebrán), jinak </a:t>
            </a:r>
            <a:r>
              <a:rPr lang="cs-CZ" sz="2000" b="1" u="sng" dirty="0" err="1"/>
              <a:t>false</a:t>
            </a:r>
            <a:r>
              <a:rPr lang="cs-CZ" sz="2000" b="1" dirty="0"/>
              <a:t>.</a:t>
            </a:r>
          </a:p>
          <a:p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 err="1"/>
              <a:t>clear</a:t>
            </a:r>
            <a:r>
              <a:rPr lang="cs-CZ" sz="2000" b="1" dirty="0"/>
              <a:t>() – vymaže obsah kolekce</a:t>
            </a:r>
          </a:p>
        </p:txBody>
      </p:sp>
    </p:spTree>
    <p:extLst>
      <p:ext uri="{BB962C8B-B14F-4D97-AF65-F5344CB8AC3E}">
        <p14:creationId xmlns:p14="http://schemas.microsoft.com/office/powerpoint/2010/main" val="2959839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F84A64-D866-22A1-92E4-EE815905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Kolekce, přehled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FD7B5A4-B79C-A55D-E5F0-06D507D1A50E}"/>
              </a:ext>
            </a:extLst>
          </p:cNvPr>
          <p:cNvSpPr txBox="1"/>
          <p:nvPr/>
        </p:nvSpPr>
        <p:spPr>
          <a:xfrm>
            <a:off x="689810" y="2695074"/>
            <a:ext cx="10635916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dirty="0">
                <a:latin typeface="Arial" panose="020B0604020202020204" pitchFamily="34" charset="0"/>
              </a:rPr>
              <a:t>„</a:t>
            </a:r>
            <a:r>
              <a:rPr lang="cs-CZ" sz="2000" b="1" i="0" dirty="0">
                <a:effectLst/>
                <a:latin typeface="+mj-lt"/>
              </a:rPr>
              <a:t>Sbírka objektů“ v operační paměti, organizovaná dle JCF (Java </a:t>
            </a:r>
            <a:r>
              <a:rPr lang="cs-CZ" sz="2000" b="1" i="0" dirty="0" err="1">
                <a:effectLst/>
                <a:latin typeface="+mj-lt"/>
              </a:rPr>
              <a:t>Collection</a:t>
            </a:r>
            <a:r>
              <a:rPr lang="cs-CZ" sz="2000" b="1" dirty="0">
                <a:latin typeface="+mj-lt"/>
              </a:rPr>
              <a:t> </a:t>
            </a:r>
            <a:r>
              <a:rPr lang="cs-CZ" sz="2000" b="1" i="0" dirty="0">
                <a:effectLst/>
                <a:latin typeface="+mj-lt"/>
              </a:rPr>
              <a:t>Framework),  balíček </a:t>
            </a:r>
            <a:r>
              <a:rPr lang="cs-CZ" sz="2000" b="1" i="0" u="sng" dirty="0" err="1">
                <a:effectLst/>
                <a:latin typeface="+mj-lt"/>
              </a:rPr>
              <a:t>java.util</a:t>
            </a:r>
            <a:r>
              <a:rPr lang="cs-CZ" sz="2000" b="1" dirty="0">
                <a:latin typeface="+mj-lt"/>
              </a:rPr>
              <a:t> </a:t>
            </a:r>
            <a:r>
              <a:rPr lang="cs-CZ" sz="2000" b="1" i="0" dirty="0">
                <a:effectLst/>
                <a:latin typeface="+mj-lt"/>
              </a:rPr>
              <a:t>a zahrnuje zejména:</a:t>
            </a:r>
          </a:p>
          <a:p>
            <a:pPr algn="l"/>
            <a:endParaRPr lang="cs-CZ" sz="2000" b="1" i="0" dirty="0"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Rozhraní</a:t>
            </a:r>
          </a:p>
          <a:p>
            <a:pPr algn="l"/>
            <a:r>
              <a:rPr lang="cs-CZ" sz="2000" b="1" dirty="0"/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Collection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&lt;E&gt; </a:t>
            </a:r>
            <a:r>
              <a:rPr lang="cs-CZ" sz="2000" b="1" i="0" dirty="0">
                <a:effectLst/>
                <a:latin typeface="+mj-lt"/>
              </a:rPr>
              <a:t>-nejobecnější rozhraní kolekcí objektů</a:t>
            </a:r>
            <a:endParaRPr lang="cs-CZ" sz="2000" b="1" i="0" dirty="0">
              <a:solidFill>
                <a:srgbClr val="FFFF00"/>
              </a:solidFill>
              <a:effectLst/>
              <a:latin typeface="+mj-lt"/>
            </a:endParaRP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List&lt;E&gt; </a:t>
            </a:r>
            <a:r>
              <a:rPr lang="cs-CZ" sz="2000" b="1" i="0" dirty="0">
                <a:effectLst/>
                <a:latin typeface="+mj-lt"/>
              </a:rPr>
              <a:t>- indexovaná sbírka objektů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Set&lt;E&gt;,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SortedSet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 &lt;E&gt; </a:t>
            </a:r>
            <a:r>
              <a:rPr lang="cs-CZ" sz="2000" b="1" i="0" dirty="0">
                <a:effectLst/>
                <a:latin typeface="+mj-lt"/>
              </a:rPr>
              <a:t>- sbírka unikátních objektů – příp. uspořádaná</a:t>
            </a:r>
          </a:p>
          <a:p>
            <a:pPr algn="l"/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Queue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&lt;E&gt; </a:t>
            </a:r>
            <a:r>
              <a:rPr lang="cs-CZ" sz="2000" b="1" i="0" dirty="0">
                <a:effectLst/>
                <a:latin typeface="+mj-lt"/>
              </a:rPr>
              <a:t>- fronta ( FIFO )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sv-SE" sz="2000" b="1" i="0" dirty="0">
                <a:solidFill>
                  <a:srgbClr val="FFFF00"/>
                </a:solidFill>
                <a:effectLst/>
                <a:latin typeface="+mj-lt"/>
              </a:rPr>
              <a:t>Map&lt;K,V&gt;, SortedMap &lt;K,V&gt;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 </a:t>
            </a:r>
            <a:r>
              <a:rPr lang="cs-CZ" sz="2000" b="1" i="0" dirty="0">
                <a:effectLst/>
                <a:latin typeface="+mj-lt"/>
              </a:rPr>
              <a:t>- sbírka dvojic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fr-FR" sz="2000" b="1" i="0" dirty="0">
                <a:solidFill>
                  <a:srgbClr val="FFFF00"/>
                </a:solidFill>
                <a:effectLst/>
                <a:latin typeface="+mj-lt"/>
              </a:rPr>
              <a:t>Comparator&lt;T&gt;, java.lang.Comparable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 </a:t>
            </a:r>
            <a:r>
              <a:rPr lang="cs-CZ" sz="2000" b="1" i="0" dirty="0">
                <a:effectLst/>
                <a:latin typeface="+mj-lt"/>
              </a:rPr>
              <a:t>– pro porovnání objektů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it-IT" sz="2000" b="1" i="0" dirty="0">
                <a:solidFill>
                  <a:srgbClr val="FFFF00"/>
                </a:solidFill>
                <a:effectLst/>
                <a:latin typeface="+mj-lt"/>
              </a:rPr>
              <a:t>Iterator&lt;E&gt;, ListIterator&lt;E&gt;, RandomAccess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 </a:t>
            </a:r>
            <a:r>
              <a:rPr lang="cs-CZ" sz="2000" b="1" i="0" dirty="0">
                <a:effectLst/>
                <a:latin typeface="+mj-lt"/>
              </a:rPr>
              <a:t>– přístup k prvkům</a:t>
            </a:r>
            <a:endParaRPr lang="it-IT" sz="2000" b="1" i="0" dirty="0">
              <a:effectLst/>
              <a:latin typeface="+mj-lt"/>
            </a:endParaRPr>
          </a:p>
          <a:p>
            <a:br>
              <a:rPr lang="it-IT" sz="2000" dirty="0"/>
            </a:br>
            <a:endParaRPr lang="fr-FR" sz="2000" b="0" i="0" dirty="0">
              <a:effectLst/>
              <a:latin typeface="Courier New" panose="02070309020205020404" pitchFamily="49" charset="0"/>
            </a:endParaRPr>
          </a:p>
          <a:p>
            <a:br>
              <a:rPr lang="fr-FR" sz="2000" dirty="0"/>
            </a:br>
            <a:endParaRPr lang="sv-SE" sz="2000" b="0" i="0" dirty="0">
              <a:effectLst/>
              <a:latin typeface="Courier New" panose="02070309020205020404" pitchFamily="49" charset="0"/>
            </a:endParaRPr>
          </a:p>
          <a:p>
            <a:br>
              <a:rPr lang="sv-SE" sz="2000" dirty="0"/>
            </a:br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pPr algn="l"/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br>
              <a:rPr lang="cs-CZ" sz="2000" dirty="0"/>
            </a:br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pPr algn="l"/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br>
              <a:rPr lang="cs-CZ" sz="2000" dirty="0"/>
            </a:br>
            <a:endParaRPr lang="cs-CZ" sz="2000" b="1" dirty="0"/>
          </a:p>
        </p:txBody>
      </p:sp>
    </p:spTree>
    <p:extLst>
      <p:ext uri="{BB962C8B-B14F-4D97-AF65-F5344CB8AC3E}">
        <p14:creationId xmlns:p14="http://schemas.microsoft.com/office/powerpoint/2010/main" val="1357372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F84A64-D866-22A1-92E4-EE815905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Kolekce, přehled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FD7B5A4-B79C-A55D-E5F0-06D507D1A50E}"/>
              </a:ext>
            </a:extLst>
          </p:cNvPr>
          <p:cNvSpPr txBox="1"/>
          <p:nvPr/>
        </p:nvSpPr>
        <p:spPr>
          <a:xfrm>
            <a:off x="778042" y="2410086"/>
            <a:ext cx="10635916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b="1" i="0" dirty="0">
                <a:effectLst/>
                <a:latin typeface="+mj-lt"/>
              </a:rPr>
              <a:t>Třídy implementující </a:t>
            </a:r>
            <a:r>
              <a:rPr lang="cs-CZ" sz="2000" b="1" i="0" dirty="0" err="1">
                <a:effectLst/>
                <a:latin typeface="+mj-lt"/>
              </a:rPr>
              <a:t>Collection</a:t>
            </a:r>
            <a:r>
              <a:rPr lang="cs-CZ" sz="2000" b="1" i="0" dirty="0">
                <a:effectLst/>
                <a:latin typeface="+mj-lt"/>
              </a:rPr>
              <a:t>:</a:t>
            </a:r>
            <a:endParaRPr lang="cs-CZ" sz="2000" b="1" dirty="0">
              <a:latin typeface="+mj-lt"/>
            </a:endParaRPr>
          </a:p>
          <a:p>
            <a:pPr algn="l"/>
            <a:r>
              <a:rPr lang="cs-CZ" sz="2000" b="1" dirty="0"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ArrayList</a:t>
            </a:r>
            <a:r>
              <a:rPr lang="cs-CZ" sz="2000" b="1" dirty="0">
                <a:solidFill>
                  <a:srgbClr val="FFFF00"/>
                </a:solidFill>
                <a:latin typeface="+mj-lt"/>
              </a:rPr>
              <a:t> </a:t>
            </a:r>
            <a:r>
              <a:rPr lang="cs-CZ" sz="2000" b="1" i="0" dirty="0">
                <a:effectLst/>
                <a:latin typeface="+mj-lt"/>
              </a:rPr>
              <a:t>- „pole proměnné délky“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LinkedList</a:t>
            </a:r>
            <a:r>
              <a:rPr lang="cs-CZ" sz="2000" b="1" i="0" dirty="0">
                <a:effectLst/>
                <a:latin typeface="+mj-lt"/>
              </a:rPr>
              <a:t> - „spojový seznam“</a:t>
            </a:r>
          </a:p>
          <a:p>
            <a:pPr algn="l"/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HashSet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LinkedHashSet</a:t>
            </a:r>
            <a:r>
              <a:rPr lang="cs-CZ" sz="2000" b="1" i="0" dirty="0">
                <a:effectLst/>
                <a:latin typeface="+mj-lt"/>
              </a:rPr>
              <a:t> - „reprezentace množiny“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HashMap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LinkedHashMap</a:t>
            </a:r>
            <a:r>
              <a:rPr lang="cs-CZ" sz="2000" b="1" i="0" dirty="0">
                <a:effectLst/>
                <a:latin typeface="+mj-lt"/>
              </a:rPr>
              <a:t> - „mapa, klíč hodnota“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TreeSet</a:t>
            </a:r>
            <a:r>
              <a:rPr lang="cs-CZ" sz="2000" b="1" dirty="0">
                <a:latin typeface="+mj-lt"/>
              </a:rPr>
              <a:t> -</a:t>
            </a:r>
            <a:r>
              <a:rPr lang="cs-CZ" sz="2000" b="1" i="0" dirty="0">
                <a:effectLst/>
                <a:latin typeface="+mj-lt"/>
              </a:rPr>
              <a:t> „seřazená množina“</a:t>
            </a:r>
          </a:p>
          <a:p>
            <a:pPr algn="l"/>
            <a:r>
              <a:rPr lang="cs-CZ" sz="2000" b="1" dirty="0">
                <a:solidFill>
                  <a:srgbClr val="FFFF00"/>
                </a:solidFill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TreeMap</a:t>
            </a:r>
            <a:r>
              <a:rPr lang="cs-CZ" sz="2000" b="1" i="0" dirty="0">
                <a:effectLst/>
                <a:latin typeface="+mj-lt"/>
              </a:rPr>
              <a:t> - „seřazená mapa“</a:t>
            </a:r>
          </a:p>
          <a:p>
            <a:pPr algn="l"/>
            <a:endParaRPr lang="cs-CZ" sz="2000" b="1" i="0" dirty="0">
              <a:effectLst/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b="1" dirty="0">
                <a:latin typeface="+mj-lt"/>
              </a:rPr>
              <a:t>Další třídy</a:t>
            </a:r>
          </a:p>
          <a:p>
            <a:pPr algn="l"/>
            <a:r>
              <a:rPr lang="cs-CZ" sz="2000" b="1" dirty="0"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Arrays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Collections</a:t>
            </a:r>
            <a:r>
              <a:rPr lang="cs-CZ" sz="2000" b="1" dirty="0">
                <a:solidFill>
                  <a:srgbClr val="FFFF00"/>
                </a:solidFill>
                <a:latin typeface="+mj-lt"/>
              </a:rPr>
              <a:t> </a:t>
            </a:r>
            <a:r>
              <a:rPr lang="cs-CZ" sz="2000" b="1" i="0" dirty="0">
                <a:effectLst/>
                <a:latin typeface="+mj-lt"/>
              </a:rPr>
              <a:t>– „lepší pole“</a:t>
            </a:r>
          </a:p>
          <a:p>
            <a:pPr algn="l"/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Vector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Stack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Hashtable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Properties</a:t>
            </a:r>
            <a:endParaRPr lang="cs-CZ" sz="2000" b="1" i="0" dirty="0">
              <a:solidFill>
                <a:srgbClr val="FFFF00"/>
              </a:solidFill>
              <a:effectLst/>
              <a:latin typeface="+mj-lt"/>
            </a:endParaRPr>
          </a:p>
          <a:p>
            <a:pPr algn="l"/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PriorityQueue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ArrayDeque</a:t>
            </a:r>
            <a:endParaRPr lang="cs-CZ" sz="2000" b="1" i="0" dirty="0">
              <a:solidFill>
                <a:srgbClr val="FFFF00"/>
              </a:solidFill>
              <a:effectLst/>
              <a:latin typeface="+mj-lt"/>
            </a:endParaRPr>
          </a:p>
          <a:p>
            <a:pPr algn="l"/>
            <a:endParaRPr lang="cs-CZ" sz="2000" b="1" dirty="0">
              <a:solidFill>
                <a:srgbClr val="FFFF00"/>
              </a:solidFill>
              <a:latin typeface="+mj-lt"/>
            </a:endParaRPr>
          </a:p>
          <a:p>
            <a:pPr algn="l"/>
            <a:endParaRPr lang="cs-CZ" sz="2000" b="1" i="0" dirty="0">
              <a:solidFill>
                <a:srgbClr val="FFFF00"/>
              </a:solidFill>
              <a:effectLst/>
              <a:latin typeface="+mj-lt"/>
            </a:endParaRPr>
          </a:p>
          <a:p>
            <a:pPr algn="l"/>
            <a:br>
              <a:rPr lang="it-IT" sz="2000" dirty="0"/>
            </a:br>
            <a:endParaRPr lang="fr-FR" sz="2000" b="0" i="0" dirty="0">
              <a:effectLst/>
              <a:latin typeface="Courier New" panose="02070309020205020404" pitchFamily="49" charset="0"/>
            </a:endParaRPr>
          </a:p>
          <a:p>
            <a:br>
              <a:rPr lang="fr-FR" sz="2000" dirty="0"/>
            </a:br>
            <a:endParaRPr lang="sv-SE" sz="2000" b="0" i="0" dirty="0">
              <a:effectLst/>
              <a:latin typeface="Courier New" panose="02070309020205020404" pitchFamily="49" charset="0"/>
            </a:endParaRPr>
          </a:p>
          <a:p>
            <a:br>
              <a:rPr lang="sv-SE" sz="2000" dirty="0"/>
            </a:br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pPr algn="l"/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br>
              <a:rPr lang="cs-CZ" sz="2000" dirty="0"/>
            </a:br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pPr algn="l"/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br>
              <a:rPr lang="cs-CZ" sz="2000" dirty="0"/>
            </a:br>
            <a:endParaRPr lang="cs-CZ" sz="2000" b="1" dirty="0"/>
          </a:p>
        </p:txBody>
      </p:sp>
    </p:spTree>
    <p:extLst>
      <p:ext uri="{BB962C8B-B14F-4D97-AF65-F5344CB8AC3E}">
        <p14:creationId xmlns:p14="http://schemas.microsoft.com/office/powerpoint/2010/main" val="117936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F84A64-D866-22A1-92E4-EE815905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Kolekce, přehled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FD7B5A4-B79C-A55D-E5F0-06D507D1A50E}"/>
              </a:ext>
            </a:extLst>
          </p:cNvPr>
          <p:cNvSpPr txBox="1"/>
          <p:nvPr/>
        </p:nvSpPr>
        <p:spPr>
          <a:xfrm>
            <a:off x="778042" y="2695074"/>
            <a:ext cx="1063591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b="1" i="0" dirty="0">
                <a:effectLst/>
                <a:latin typeface="Arial" panose="020B0604020202020204" pitchFamily="34" charset="0"/>
              </a:rPr>
              <a:t>Algoritmy</a:t>
            </a:r>
          </a:p>
          <a:p>
            <a:pPr lvl="1"/>
            <a:r>
              <a:rPr lang="cs-CZ" sz="2000" b="1" dirty="0">
                <a:latin typeface="Arial" panose="020B0604020202020204" pitchFamily="34" charset="0"/>
              </a:rPr>
              <a:t>Pro řazení, přesouvání, doplňování, kopírování a vyhledávání</a:t>
            </a:r>
            <a:endParaRPr lang="cs-CZ" sz="2000" b="1" i="0" dirty="0">
              <a:effectLst/>
              <a:latin typeface="+mj-lt"/>
            </a:endParaRPr>
          </a:p>
          <a:p>
            <a:pPr algn="l"/>
            <a:endParaRPr lang="cs-CZ" sz="2000" b="1" i="0" dirty="0"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/>
              <a:t>Abstraktní třídy:</a:t>
            </a:r>
          </a:p>
          <a:p>
            <a:pPr algn="l"/>
            <a:r>
              <a:rPr lang="cs-CZ" sz="2000" b="1" dirty="0"/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AbstractCollection</a:t>
            </a:r>
            <a:r>
              <a:rPr lang="cs-CZ" sz="2000" b="1" dirty="0">
                <a:solidFill>
                  <a:srgbClr val="FFFF00"/>
                </a:solidFill>
                <a:latin typeface="+mj-lt"/>
              </a:rPr>
              <a:t>  	</a:t>
            </a:r>
          </a:p>
          <a:p>
            <a:pPr algn="l"/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AbstractSet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AbstractMap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AbstractList</a:t>
            </a:r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, </a:t>
            </a:r>
          </a:p>
          <a:p>
            <a:pPr algn="l"/>
            <a:r>
              <a:rPr lang="cs-CZ" sz="2000" b="1" i="0" dirty="0">
                <a:solidFill>
                  <a:srgbClr val="FFFF00"/>
                </a:solidFill>
                <a:effectLst/>
                <a:latin typeface="+mj-lt"/>
              </a:rPr>
              <a:t>	</a:t>
            </a:r>
            <a:r>
              <a:rPr lang="cs-CZ" sz="2000" b="1" i="0" dirty="0" err="1">
                <a:solidFill>
                  <a:srgbClr val="FFFF00"/>
                </a:solidFill>
                <a:effectLst/>
                <a:latin typeface="+mj-lt"/>
              </a:rPr>
              <a:t>AbstractSequentialList</a:t>
            </a:r>
            <a:endParaRPr lang="cs-CZ" sz="2000" b="1" i="0" dirty="0">
              <a:solidFill>
                <a:srgbClr val="FFFF00"/>
              </a:solidFill>
              <a:effectLst/>
              <a:latin typeface="+mj-lt"/>
            </a:endParaRPr>
          </a:p>
          <a:p>
            <a:pPr algn="l"/>
            <a:endParaRPr lang="cs-CZ" sz="2000" b="1" dirty="0">
              <a:solidFill>
                <a:srgbClr val="FFFF00"/>
              </a:solidFill>
              <a:latin typeface="+mj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b="1" i="0" dirty="0">
                <a:effectLst/>
                <a:latin typeface="+mj-lt"/>
              </a:rPr>
              <a:t>Poznámka:  třídy *</a:t>
            </a:r>
            <a:r>
              <a:rPr lang="cs-CZ" sz="2000" b="1" i="0" dirty="0" err="1">
                <a:effectLst/>
                <a:latin typeface="+mj-lt"/>
              </a:rPr>
              <a:t>Hash</a:t>
            </a:r>
            <a:r>
              <a:rPr lang="cs-CZ" sz="2000" b="1" i="0" dirty="0">
                <a:effectLst/>
                <a:latin typeface="+mj-lt"/>
              </a:rPr>
              <a:t>* vyžadují vhodnou konstrukci funkce </a:t>
            </a:r>
            <a:r>
              <a:rPr lang="cs-CZ" sz="2000" b="1" i="0" dirty="0" err="1">
                <a:effectLst/>
                <a:latin typeface="+mj-lt"/>
              </a:rPr>
              <a:t>hashCode</a:t>
            </a:r>
            <a:r>
              <a:rPr lang="cs-CZ" sz="2000" b="1" dirty="0">
                <a:latin typeface="+mj-lt"/>
              </a:rPr>
              <a:t>().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cs-CZ" sz="2000" b="1" i="0" dirty="0">
                <a:effectLst/>
                <a:latin typeface="+mj-lt"/>
              </a:rPr>
              <a:t>Ta původní z třídy Objekt dává vždy různé kódy – proto je nevhodná</a:t>
            </a:r>
          </a:p>
          <a:p>
            <a:br>
              <a:rPr lang="it-IT" sz="2000" dirty="0"/>
            </a:br>
            <a:endParaRPr lang="fr-FR" sz="2000" b="0" i="0" dirty="0">
              <a:effectLst/>
              <a:latin typeface="Courier New" panose="02070309020205020404" pitchFamily="49" charset="0"/>
            </a:endParaRPr>
          </a:p>
          <a:p>
            <a:br>
              <a:rPr lang="fr-FR" sz="2000" dirty="0"/>
            </a:br>
            <a:endParaRPr lang="sv-SE" sz="2000" b="0" i="0" dirty="0">
              <a:effectLst/>
              <a:latin typeface="Courier New" panose="02070309020205020404" pitchFamily="49" charset="0"/>
            </a:endParaRPr>
          </a:p>
          <a:p>
            <a:br>
              <a:rPr lang="sv-SE" sz="2000" dirty="0"/>
            </a:br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pPr algn="l"/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br>
              <a:rPr lang="cs-CZ" sz="2000" dirty="0"/>
            </a:br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pPr algn="l"/>
            <a:endParaRPr lang="cs-CZ" sz="2000" b="0" i="0" dirty="0">
              <a:effectLst/>
              <a:latin typeface="Courier New" panose="02070309020205020404" pitchFamily="49" charset="0"/>
            </a:endParaRPr>
          </a:p>
          <a:p>
            <a:br>
              <a:rPr lang="cs-CZ" sz="2000" dirty="0"/>
            </a:br>
            <a:r>
              <a:rPr lang="cs-CZ" sz="2000" dirty="0"/>
              <a:t> </a:t>
            </a:r>
            <a:endParaRPr lang="cs-CZ" sz="2000" b="1" dirty="0"/>
          </a:p>
        </p:txBody>
      </p:sp>
    </p:spTree>
    <p:extLst>
      <p:ext uri="{BB962C8B-B14F-4D97-AF65-F5344CB8AC3E}">
        <p14:creationId xmlns:p14="http://schemas.microsoft.com/office/powerpoint/2010/main" val="915373593"/>
      </p:ext>
    </p:extLst>
  </p:cSld>
  <p:clrMapOvr>
    <a:masterClrMapping/>
  </p:clrMapOvr>
</p:sld>
</file>

<file path=ppt/theme/theme1.xml><?xml version="1.0" encoding="utf-8"?>
<a:theme xmlns:a="http://schemas.openxmlformats.org/drawingml/2006/main" name="Balík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840A0DD-8F08-4856-A4CB-1552F94F9D28}"/>
</file>

<file path=customXml/itemProps2.xml><?xml version="1.0" encoding="utf-8"?>
<ds:datastoreItem xmlns:ds="http://schemas.openxmlformats.org/officeDocument/2006/customXml" ds:itemID="{3A750D62-9ED3-4BF0-AECF-3F68A05000DE}"/>
</file>

<file path=customXml/itemProps3.xml><?xml version="1.0" encoding="utf-8"?>
<ds:datastoreItem xmlns:ds="http://schemas.openxmlformats.org/officeDocument/2006/customXml" ds:itemID="{A914AF18-5042-4E0D-A709-C10EE7907BB9}"/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TM10001115[[fn=Balík]]</Template>
  <TotalTime>137</TotalTime>
  <Words>568</Words>
  <Application>Microsoft Office PowerPoint</Application>
  <PresentationFormat>Širokoúhlá obrazovka</PresentationFormat>
  <Paragraphs>111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Gill Sans MT</vt:lpstr>
      <vt:lpstr>Balík</vt:lpstr>
      <vt:lpstr>Kolekce</vt:lpstr>
      <vt:lpstr>Kolekce</vt:lpstr>
      <vt:lpstr>Základní pojmy</vt:lpstr>
      <vt:lpstr>výhody</vt:lpstr>
      <vt:lpstr>GENERICITA</vt:lpstr>
      <vt:lpstr>Prezentace aplikace PowerPoint</vt:lpstr>
      <vt:lpstr>collection</vt:lpstr>
      <vt:lpstr>metody</vt:lpstr>
      <vt:lpstr>Kolekce, přehled</vt:lpstr>
      <vt:lpstr>Kolekce, přehled</vt:lpstr>
      <vt:lpstr>Kolekce, přehled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Kolekce</dc:title>
  <dc:creator>Drápal Matyáš</dc:creator>
  <cp:lastModifiedBy>Kašpárek Ladislav</cp:lastModifiedBy>
  <cp:revision>4</cp:revision>
  <dcterms:created xsi:type="dcterms:W3CDTF">2023-03-23T18:49:53Z</dcterms:created>
  <dcterms:modified xsi:type="dcterms:W3CDTF">2023-03-24T10:51:33Z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