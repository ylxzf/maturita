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3C699-F015-2F90-0AA6-87AD7E8C2706}" v="5" dt="2025-03-10T21:31:28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C94462-81FB-767C-8137-74DD1A352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F8F24CD-4441-30F5-DFA2-7720C57B6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84DDE4F-B9B3-5D9D-6C05-09A44B51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79F1212-D31B-6365-A1CF-959C7B42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16A2065-16B4-1CC7-817D-BE8E04B7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78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F5F40D-8A32-22FA-3F44-8AB5ADBA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BE6C08-B3B2-302C-F6C7-97533C238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ABDDAA-AC3D-675F-0B59-431B8E15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7DD59F-E0D9-99AA-6950-C66CB279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5F073-9F91-1FF8-C280-4BA20B8C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14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6EF939-1E68-F9B6-D089-BB0E5211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5E767AF-7AE3-D10E-88C5-E95252736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DCD9CC-813B-785E-29CF-094B2582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9015C9-4665-065C-60E1-73F8B2C7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3B86F7-B91C-3268-6BD9-E76327A8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560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020871-0D4E-570E-E789-829CC3B9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DB24AB-F92E-DCF1-2E75-1262A1843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4C32294-A143-E525-8F11-1938C787F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6444D12-7F4E-8FA1-0809-DA3CE5BC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5FB2D59-29E6-DBF9-0C04-869ACB5A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9083245-5FD5-7E94-DFB5-6FC1949E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689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D233CD-61FA-7A08-F5FD-18A69B2B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1A8D1A4-4688-9BD7-F718-7FEDCCF3B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811836B-AB68-AA58-70C2-CAF932077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861A9DE-0CBC-2DB6-8C2C-B1001F6E9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087D21C-8858-2055-F6B0-2E514BB82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5DA0C1C-3D72-4ED6-D00F-E9438D3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BA1EEC8-8B51-A638-F185-61FA2FB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77A5C0-AB3E-5C2B-5FB2-89BCBCA0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847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208C09-237E-606D-B6F0-F7FD136E9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C849B55-154D-312E-A1DA-C32F318E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05C1CF4-B045-F48E-FF93-4EE0082E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A5794AA-08B9-0F45-279D-961A3D7B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004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B00AF75-D589-9780-4881-D9EC4398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862095C-56E8-1C18-8EC9-8B7C50A7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14A5C0-E9DD-95EE-4F0A-5FFD2FE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378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301C83-6804-40C0-2E1C-92D022EC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1435FD-ACE3-98AA-9AB6-AAAAE0CC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C6CC266-CF96-A57D-70B9-D5AE03386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7415183-00BD-AA31-0461-8D2D8478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8FFA07-C44B-1CFB-35AA-D293A5C2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C09462-2E88-C3B2-7A46-9D9B4556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205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CA559D-A717-DA19-A4CF-6AD99E17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6B7ECCE-4BD9-5677-EE35-6B08E1DAB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AA6D8-DA32-2A4A-2CD5-41AD81ED3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F8A431A-5B09-D381-918A-29050B6A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C0BCB34-460D-F682-EDB5-81ECCFB4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B2DAB50-78FF-56B8-BE7D-95A8A2A0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315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CE2FAD-BF4B-5367-20BF-B6206B79A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24F3958-C423-3B66-C02C-E7A8BBD1B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6ACCCE-52B8-FA3F-45CB-09F56995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7E9D80F-610A-04D7-B28F-59B9ECC1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579FD6-6C7A-B35D-0A8B-A9189B3C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701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8653E0A-DF5E-11C2-1CAE-36393862B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363EDC4-57F4-7EA5-506C-A86B540D5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0C425AE-A9E4-DDA3-4708-F8FA5C07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450F70-09A3-5900-34D6-202F948C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0E39394-AED7-0C31-0B7C-7A4D8E39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015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DEC186E-2AB6-C588-73FF-833B9B49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28D4B6B-3B68-2AF7-F5C9-5549628E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6657E9-7624-19D3-780E-8F4FB6255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CB4B1-33CE-43A8-A97F-4D31C712E305}" type="datetimeFigureOut">
              <a:rPr lang="cs-CZ" smtClean="0"/>
              <a:t>01.04.2025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554909-9A51-5E7F-D53C-A9CDF2B47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00858B-CE2D-0C0B-D14B-C52AC5330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863F1-6171-45B7-91D2-327C0D3B706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48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4025BD8-26AA-B3F9-86D4-9E31903D1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cs-CZ" sz="4800">
                <a:solidFill>
                  <a:srgbClr val="FFFFFF"/>
                </a:solidFill>
              </a:rPr>
              <a:t>19. Algoritmy pro převod</a:t>
            </a:r>
            <a:br>
              <a:rPr lang="cs-CZ" sz="4800">
                <a:solidFill>
                  <a:srgbClr val="FFFFFF"/>
                </a:solidFill>
              </a:rPr>
            </a:br>
            <a:r>
              <a:rPr lang="cs-CZ" sz="4800">
                <a:solidFill>
                  <a:srgbClr val="FFFFFF"/>
                </a:solidFill>
              </a:rPr>
              <a:t>(Morseova abeceda + Šifrování)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55E8FAF-EFFA-0771-6364-EB06FF9DB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cs-CZ">
                <a:solidFill>
                  <a:srgbClr val="FFFFFF"/>
                </a:solidFill>
              </a:rPr>
              <a:t>Tomáš Chalupa</a:t>
            </a:r>
          </a:p>
        </p:txBody>
      </p:sp>
    </p:spTree>
    <p:extLst>
      <p:ext uri="{BB962C8B-B14F-4D97-AF65-F5344CB8AC3E}">
        <p14:creationId xmlns:p14="http://schemas.microsoft.com/office/powerpoint/2010/main" val="196748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2BCF3EB-419E-3D1F-32FA-A18A91D5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Šifrování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16EFE5-F3BA-54A8-0691-279F342A2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/>
              <a:t>Šifrování je proces převodu čitelné informace na nečitelný formát</a:t>
            </a:r>
          </a:p>
          <a:p>
            <a:r>
              <a:rPr lang="cs-CZ" sz="2000"/>
              <a:t>Účelem je ochrana dat před neoprávněným přístupem</a:t>
            </a:r>
          </a:p>
          <a:p>
            <a:r>
              <a:rPr lang="cs-CZ" sz="2000"/>
              <a:t>Tento proces využívá šifrovací algoritmus a šifrovací klíč</a:t>
            </a:r>
          </a:p>
          <a:p>
            <a:r>
              <a:rPr lang="cs-CZ" sz="2000"/>
              <a:t>Šifrování se běžně používá k zabezpečení komunikace, ukládání dat</a:t>
            </a:r>
          </a:p>
          <a:p>
            <a:r>
              <a:rPr lang="cs-CZ" sz="2000"/>
              <a:t>Mezi základní typy šifrování patří </a:t>
            </a:r>
            <a:r>
              <a:rPr lang="cs-CZ" sz="2000" b="1">
                <a:effectLst/>
              </a:rPr>
              <a:t>symetrické </a:t>
            </a:r>
            <a:r>
              <a:rPr lang="cs-CZ" sz="2000" i="1">
                <a:effectLst/>
              </a:rPr>
              <a:t>(stejný klíč pro šifrování i dešifrování)</a:t>
            </a:r>
            <a:r>
              <a:rPr lang="cs-CZ" sz="2000"/>
              <a:t> a </a:t>
            </a:r>
            <a:r>
              <a:rPr lang="cs-CZ" sz="2000" b="1">
                <a:effectLst/>
              </a:rPr>
              <a:t>asymetrické </a:t>
            </a:r>
            <a:r>
              <a:rPr lang="cs-CZ" sz="2000" i="1">
                <a:effectLst/>
              </a:rPr>
              <a:t>(veřejný a soukromý klíč)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30661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E29DA4-CFBC-3B49-5E53-9AFFC63E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Morseova abeceda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531B33-844A-80EF-C388-5375F7EC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 b="1">
                <a:effectLst/>
              </a:rPr>
              <a:t>Není to šifra</a:t>
            </a:r>
            <a:r>
              <a:rPr lang="cs-CZ" sz="2000"/>
              <a:t>, ale kódovací systém pro přenos informací</a:t>
            </a:r>
          </a:p>
          <a:p>
            <a:r>
              <a:rPr lang="cs-CZ" sz="2000"/>
              <a:t>Používají se krátké </a:t>
            </a:r>
            <a:r>
              <a:rPr lang="cs-CZ" sz="2000" b="1" i="1">
                <a:effectLst/>
              </a:rPr>
              <a:t>(</a:t>
            </a:r>
            <a:r>
              <a:rPr lang="cs-CZ" sz="2000" b="1" i="1">
                <a:effectLst/>
                <a:latin typeface="SFMono-Regular"/>
              </a:rPr>
              <a:t>•</a:t>
            </a:r>
            <a:r>
              <a:rPr lang="cs-CZ" sz="2000" b="1" i="1">
                <a:effectLst/>
              </a:rPr>
              <a:t>)</a:t>
            </a:r>
            <a:r>
              <a:rPr lang="cs-CZ" sz="2000"/>
              <a:t> a dlouhé </a:t>
            </a:r>
            <a:r>
              <a:rPr lang="cs-CZ" sz="2000" b="1" i="1">
                <a:effectLst/>
              </a:rPr>
              <a:t>(</a:t>
            </a:r>
            <a:r>
              <a:rPr lang="cs-CZ" sz="2000" b="1" i="1">
                <a:effectLst/>
                <a:latin typeface="SFMono-Regular"/>
              </a:rPr>
              <a:t>−</a:t>
            </a:r>
            <a:r>
              <a:rPr lang="cs-CZ" sz="2000" b="1" i="1">
                <a:effectLst/>
              </a:rPr>
              <a:t>)</a:t>
            </a:r>
            <a:r>
              <a:rPr lang="cs-CZ" sz="2000"/>
              <a:t> signály</a:t>
            </a:r>
          </a:p>
          <a:p>
            <a:r>
              <a:rPr lang="cs-CZ" sz="2000"/>
              <a:t>Slova se oddělují lomítkem </a:t>
            </a:r>
            <a:r>
              <a:rPr lang="cs-CZ" sz="2000">
                <a:effectLst/>
                <a:latin typeface="SFMono-Regular"/>
              </a:rPr>
              <a:t>/</a:t>
            </a:r>
            <a:r>
              <a:rPr lang="cs-CZ" sz="2000"/>
              <a:t>, písmena mezerou</a:t>
            </a:r>
          </a:p>
          <a:p>
            <a:r>
              <a:rPr lang="cs-CZ" sz="2000"/>
              <a:t>Každé písmeno má odpovídající sekvenci teček a čárek</a:t>
            </a:r>
          </a:p>
        </p:txBody>
      </p:sp>
    </p:spTree>
    <p:extLst>
      <p:ext uri="{BB962C8B-B14F-4D97-AF65-F5344CB8AC3E}">
        <p14:creationId xmlns:p14="http://schemas.microsoft.com/office/powerpoint/2010/main" val="354185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CCF4EF-F474-82EA-574A-110130D9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Morseova abeceda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BFBFF27A-EEC0-66BC-CE5E-A96FF14E7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867051"/>
              </p:ext>
            </p:extLst>
          </p:nvPr>
        </p:nvGraphicFramePr>
        <p:xfrm>
          <a:off x="4905052" y="1039529"/>
          <a:ext cx="6666833" cy="48757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04996">
                  <a:extLst>
                    <a:ext uri="{9D8B030D-6E8A-4147-A177-3AD203B41FA5}">
                      <a16:colId xmlns:a16="http://schemas.microsoft.com/office/drawing/2014/main" val="3517903086"/>
                    </a:ext>
                  </a:extLst>
                </a:gridCol>
                <a:gridCol w="3561837">
                  <a:extLst>
                    <a:ext uri="{9D8B030D-6E8A-4147-A177-3AD203B41FA5}">
                      <a16:colId xmlns:a16="http://schemas.microsoft.com/office/drawing/2014/main" val="1813417309"/>
                    </a:ext>
                  </a:extLst>
                </a:gridCol>
              </a:tblGrid>
              <a:tr h="975149"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Písmeno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Morseovka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50287"/>
                  </a:ext>
                </a:extLst>
              </a:tr>
              <a:tr h="975149"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•−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718454"/>
                  </a:ext>
                </a:extLst>
              </a:tr>
              <a:tr h="975149"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−•••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20243"/>
                  </a:ext>
                </a:extLst>
              </a:tr>
              <a:tr h="975149"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−•−•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495639"/>
                  </a:ext>
                </a:extLst>
              </a:tr>
              <a:tr h="975149"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SOS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500" cap="none" spc="0">
                          <a:solidFill>
                            <a:schemeClr val="tx1"/>
                          </a:solidFill>
                        </a:rPr>
                        <a:t>•••−−−•••</a:t>
                      </a:r>
                    </a:p>
                  </a:txBody>
                  <a:tcPr marL="262764" marR="262764" marT="262764" marB="2627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556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60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5CA596E-2EC4-88C4-92B3-6456129E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Caesarova šifra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76DD14-558F-B506-4F43-7B1BE0C6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/>
              <a:t>Jednoduchá substituční šifra, která posouvá každé písmeno v abecedě o pevně daný počet míst</a:t>
            </a:r>
          </a:p>
          <a:p>
            <a:r>
              <a:rPr lang="cs-CZ" sz="2000"/>
              <a:t>Máme </a:t>
            </a:r>
            <a:r>
              <a:rPr lang="cs-CZ" sz="2000" b="1"/>
              <a:t>klíč</a:t>
            </a:r>
            <a:r>
              <a:rPr lang="cs-CZ" sz="2000"/>
              <a:t>, což je číslo určující posun </a:t>
            </a:r>
            <a:r>
              <a:rPr lang="cs-CZ" sz="2000" i="1">
                <a:effectLst/>
              </a:rPr>
              <a:t>(např. 3)</a:t>
            </a:r>
          </a:p>
          <a:p>
            <a:r>
              <a:rPr lang="pt-BR" sz="2000"/>
              <a:t>Písmeno </a:t>
            </a:r>
            <a:r>
              <a:rPr lang="pt-BR" sz="2000" b="1">
                <a:effectLst/>
              </a:rPr>
              <a:t>A</a:t>
            </a:r>
            <a:r>
              <a:rPr lang="pt-BR" sz="2000"/>
              <a:t> se posune o 3 místa </a:t>
            </a:r>
            <a:r>
              <a:rPr lang="pt-BR" sz="2000" b="1">
                <a:effectLst/>
              </a:rPr>
              <a:t>→</a:t>
            </a:r>
            <a:r>
              <a:rPr lang="pt-BR" sz="2000"/>
              <a:t> </a:t>
            </a:r>
            <a:r>
              <a:rPr lang="pt-BR" sz="2000" b="1">
                <a:effectLst/>
              </a:rPr>
              <a:t>D</a:t>
            </a:r>
            <a:r>
              <a:rPr lang="pt-BR" sz="2000"/>
              <a:t>, </a:t>
            </a:r>
            <a:r>
              <a:rPr lang="pt-BR" sz="2000" b="1">
                <a:effectLst/>
              </a:rPr>
              <a:t>B → E</a:t>
            </a:r>
            <a:r>
              <a:rPr lang="pt-BR" sz="2000"/>
              <a:t>, atd.</a:t>
            </a:r>
            <a:endParaRPr lang="cs-CZ" sz="2000"/>
          </a:p>
          <a:p>
            <a:r>
              <a:rPr lang="cs-CZ" sz="2000"/>
              <a:t>Pro dešifrování stačí posunout zpět</a:t>
            </a:r>
          </a:p>
        </p:txBody>
      </p:sp>
    </p:spTree>
    <p:extLst>
      <p:ext uri="{BB962C8B-B14F-4D97-AF65-F5344CB8AC3E}">
        <p14:creationId xmlns:p14="http://schemas.microsoft.com/office/powerpoint/2010/main" val="26205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E9E01F4-A906-70DF-B737-814C0399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Caesarova šifra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6C2C53-9A32-DB5C-01CC-65C5C7A84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 b="1">
                <a:effectLst/>
              </a:rPr>
              <a:t>Šifrování </a:t>
            </a:r>
            <a:r>
              <a:rPr lang="cs-CZ" sz="2000"/>
              <a:t>slova </a:t>
            </a:r>
            <a:r>
              <a:rPr lang="cs-CZ" sz="2000" b="1">
                <a:effectLst/>
              </a:rPr>
              <a:t>“AHOJ”</a:t>
            </a:r>
            <a:r>
              <a:rPr lang="cs-CZ" sz="2000"/>
              <a:t> s klíčem 3 → </a:t>
            </a:r>
            <a:r>
              <a:rPr lang="cs-CZ" sz="2000" b="1">
                <a:effectLst/>
              </a:rPr>
              <a:t>“DKRM”</a:t>
            </a:r>
          </a:p>
          <a:p>
            <a:r>
              <a:rPr lang="cs-CZ" sz="2000" b="1">
                <a:effectLst/>
              </a:rPr>
              <a:t>Dešifrování “DKRM”</a:t>
            </a:r>
            <a:r>
              <a:rPr lang="cs-CZ" sz="2000"/>
              <a:t> zpět s posunem -3 </a:t>
            </a:r>
            <a:r>
              <a:rPr lang="cs-CZ" sz="2000" b="1">
                <a:effectLst/>
              </a:rPr>
              <a:t>→ “AHOJ”</a:t>
            </a:r>
            <a:endParaRPr lang="cs-CZ" sz="2000" b="1"/>
          </a:p>
          <a:p>
            <a:endParaRPr lang="cs-CZ" sz="2000" b="1"/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Nevýhody:</a:t>
            </a:r>
            <a:r>
              <a:rPr lang="cs-CZ" sz="200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Existuje pouze </a:t>
            </a:r>
            <a:r>
              <a:rPr lang="cs-CZ" sz="2000" b="1"/>
              <a:t>25 možných klíčů</a:t>
            </a:r>
            <a:r>
              <a:rPr lang="cs-CZ" sz="2000"/>
              <a:t>, což umožňuje prolomení </a:t>
            </a:r>
            <a:r>
              <a:rPr lang="cs-CZ" sz="2000" b="1"/>
              <a:t>brute-force útokem</a:t>
            </a:r>
            <a:endParaRPr lang="cs-CZ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Statistická analýza frekvence písmen může pomoci rychle odhalit použitý posun</a:t>
            </a:r>
          </a:p>
        </p:txBody>
      </p:sp>
    </p:spTree>
    <p:extLst>
      <p:ext uri="{BB962C8B-B14F-4D97-AF65-F5344CB8AC3E}">
        <p14:creationId xmlns:p14="http://schemas.microsoft.com/office/powerpoint/2010/main" val="414383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233EDB-FC53-3126-841D-643EEB0B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Afinní šifra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BB2BAF0-B9CB-ED76-578A-CBC5F3760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cs-CZ" sz="2000"/>
              <a:t>Písmena v textu jsou nahrazována podle matematického pravidla využívajícího aritmetické operace na pozicích písmen v abecedě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E(x) = (a ⋅ x + b) mod 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E(x) </a:t>
            </a:r>
            <a:r>
              <a:rPr lang="cs-CZ" sz="2000"/>
              <a:t>- zašifrovaný znak </a:t>
            </a:r>
            <a:r>
              <a:rPr lang="cs-CZ" sz="2000" i="1"/>
              <a:t>(šifrování)</a:t>
            </a:r>
            <a:endParaRPr lang="cs-CZ" sz="2000"/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a</a:t>
            </a:r>
            <a:r>
              <a:rPr lang="cs-CZ" sz="2000"/>
              <a:t> a </a:t>
            </a:r>
            <a:r>
              <a:rPr lang="cs-CZ" sz="2000" b="1"/>
              <a:t>b</a:t>
            </a:r>
            <a:r>
              <a:rPr lang="cs-CZ" sz="2000"/>
              <a:t> - klíče šifry </a:t>
            </a:r>
            <a:r>
              <a:rPr lang="cs-CZ" sz="2000" i="1"/>
              <a:t>(může být libovolné celé číslo)</a:t>
            </a:r>
            <a:endParaRPr lang="cs-CZ" sz="2000"/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x</a:t>
            </a:r>
            <a:r>
              <a:rPr lang="cs-CZ" sz="2000"/>
              <a:t> - pozice písmene v abecedě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m</a:t>
            </a:r>
            <a:r>
              <a:rPr lang="cs-CZ" sz="2000"/>
              <a:t> - velikost abecedy </a:t>
            </a:r>
            <a:r>
              <a:rPr lang="cs-CZ" sz="2000" i="1"/>
              <a:t>(pro anglickou abecedu $m = 26$)</a:t>
            </a:r>
            <a:endParaRPr lang="cs-CZ" sz="2000"/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354321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F01208-681C-6E7B-542C-D20F9D17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Afinní šifra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7ABE34-7023-4743-29CD-55679A4A8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/>
              <a:t>Pro dešifrování se používá inverzní funkce: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D(y) = a^-1 ⋅ (y−b) mod 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/>
              <a:t>a^-1</a:t>
            </a:r>
            <a:r>
              <a:rPr lang="cs-CZ" sz="2000"/>
              <a:t> - multiplikativní inverzní číslo k </a:t>
            </a:r>
            <a:r>
              <a:rPr lang="cs-CZ" sz="2000" b="1"/>
              <a:t>a</a:t>
            </a:r>
            <a:r>
              <a:rPr lang="cs-CZ" sz="2000"/>
              <a:t>, což znamená, že platí </a:t>
            </a:r>
            <a:br>
              <a:rPr lang="cs-CZ" sz="2000"/>
            </a:br>
            <a:r>
              <a:rPr lang="cs-CZ" sz="2000" b="1"/>
              <a:t>a ⋅ a^-1 ≡ 1 mod m</a:t>
            </a:r>
          </a:p>
          <a:p>
            <a:r>
              <a:rPr lang="cs-CZ" sz="2000" b="1"/>
              <a:t>a</a:t>
            </a:r>
            <a:r>
              <a:rPr lang="cs-CZ" sz="2000"/>
              <a:t> a </a:t>
            </a:r>
            <a:r>
              <a:rPr lang="cs-CZ" sz="2000" b="1"/>
              <a:t>m</a:t>
            </a:r>
            <a:r>
              <a:rPr lang="cs-CZ" sz="2000"/>
              <a:t> musí být vzájemně prvočísla</a:t>
            </a:r>
          </a:p>
          <a:p>
            <a:pPr>
              <a:buFont typeface="Arial" panose="020B0604020202020204" pitchFamily="34" charset="0"/>
              <a:buChar char="•"/>
            </a:pPr>
            <a:endParaRPr lang="cs-CZ" sz="2000" b="1"/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09311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208AA3C-A715-0C8C-F1AF-4DAC24E0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Afinní šifra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F9889C-A1BA-8E53-7E23-EC39D956D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cs-CZ" sz="2000"/>
              <a:t>Pro šifrování textu použijeme klíče </a:t>
            </a:r>
            <a:r>
              <a:rPr lang="cs-CZ" sz="2000" b="1"/>
              <a:t>a = 5</a:t>
            </a:r>
            <a:r>
              <a:rPr lang="cs-CZ" sz="2000"/>
              <a:t> a </a:t>
            </a:r>
            <a:r>
              <a:rPr lang="cs-CZ" sz="2000" b="1"/>
              <a:t>b = 8</a:t>
            </a:r>
            <a:endParaRPr lang="cs-CZ" sz="2000"/>
          </a:p>
          <a:p>
            <a:pPr>
              <a:buFont typeface="Arial" panose="020B0604020202020204" pitchFamily="34" charset="0"/>
              <a:buChar char="•"/>
            </a:pPr>
            <a:r>
              <a:rPr lang="cs-CZ" sz="2000"/>
              <a:t>Zašifrujeme písmeno </a:t>
            </a:r>
            <a:r>
              <a:rPr lang="cs-CZ" sz="2000" b="1"/>
              <a:t>A</a:t>
            </a:r>
            <a:r>
              <a:rPr lang="cs-CZ" sz="200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Pozice A = 0 (v abecedě)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1"/>
              <a:t>E(0) = (5⋅0+8) mod 26 = 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8 v abecedě je písmeno </a:t>
            </a:r>
            <a:r>
              <a:rPr lang="cs-CZ" sz="2000" b="1"/>
              <a:t>I</a:t>
            </a:r>
            <a:endParaRPr lang="cs-CZ" sz="2000"/>
          </a:p>
          <a:p>
            <a:pPr>
              <a:buFont typeface="Arial" panose="020B0604020202020204" pitchFamily="34" charset="0"/>
              <a:buChar char="•"/>
            </a:pPr>
            <a:r>
              <a:rPr lang="cs-CZ" sz="2000"/>
              <a:t>Zašifrujeme písmeno </a:t>
            </a:r>
            <a:r>
              <a:rPr lang="cs-CZ" sz="2000" b="1"/>
              <a:t>B</a:t>
            </a:r>
            <a:r>
              <a:rPr lang="cs-CZ" sz="200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Pozice B =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1"/>
              <a:t>E(1) = (5⋅1+8) mod 26 =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/>
              <a:t>13 v abecedě je písmeno </a:t>
            </a:r>
            <a:r>
              <a:rPr lang="cs-CZ" sz="2000" b="1"/>
              <a:t>N</a:t>
            </a:r>
            <a:r>
              <a:rPr lang="cs-CZ" sz="2000"/>
              <a:t>.</a:t>
            </a:r>
          </a:p>
          <a:p>
            <a:r>
              <a:rPr lang="cs-CZ" sz="2000"/>
              <a:t>Zašifrované slovo </a:t>
            </a:r>
            <a:r>
              <a:rPr lang="cs-CZ" sz="2000" b="1"/>
              <a:t>"AB"</a:t>
            </a:r>
            <a:r>
              <a:rPr lang="cs-CZ" sz="2000"/>
              <a:t> s klíčem </a:t>
            </a:r>
            <a:r>
              <a:rPr lang="cs-CZ" sz="2000" b="1"/>
              <a:t>a = 5 </a:t>
            </a:r>
            <a:r>
              <a:rPr lang="cs-CZ" sz="2000"/>
              <a:t>a </a:t>
            </a:r>
            <a:r>
              <a:rPr lang="cs-CZ" sz="2000" b="1"/>
              <a:t>b = 8 </a:t>
            </a:r>
            <a:r>
              <a:rPr lang="cs-CZ" sz="2000"/>
              <a:t>bude tedy </a:t>
            </a:r>
            <a:r>
              <a:rPr lang="cs-CZ" sz="2000" b="1"/>
              <a:t>"IN"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281304832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453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SFMono-Regular</vt:lpstr>
      <vt:lpstr>Motiv Office</vt:lpstr>
      <vt:lpstr>19. Algoritmy pro převod (Morseova abeceda + Šifrování)</vt:lpstr>
      <vt:lpstr>Šifrování</vt:lpstr>
      <vt:lpstr>Morseova abeceda</vt:lpstr>
      <vt:lpstr>Morseova abeceda</vt:lpstr>
      <vt:lpstr>Caesarova šifra</vt:lpstr>
      <vt:lpstr>Caesarova šifra</vt:lpstr>
      <vt:lpstr>Afinní šifra</vt:lpstr>
      <vt:lpstr>Afinní šifra</vt:lpstr>
      <vt:lpstr>Afinní šifra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Chalupa Tomáš</dc:creator>
  <cp:lastModifiedBy>ylxzfa</cp:lastModifiedBy>
  <cp:revision>6</cp:revision>
  <dcterms:created xsi:type="dcterms:W3CDTF">2025-03-10T21:12:41Z</dcterms:created>
  <dcterms:modified xsi:type="dcterms:W3CDTF">2025-04-01T06:13:05Z</dcterms:modified>
</cp:coreProperties>
</file>