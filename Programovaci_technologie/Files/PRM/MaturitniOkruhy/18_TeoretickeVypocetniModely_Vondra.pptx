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241909-7445-449E-8062-B7E2984A7D1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F9028F-7FD7-4E61-BFFB-C05DEC81DA06}">
      <dgm:prSet custT="1"/>
      <dgm:spPr/>
      <dgm:t>
        <a:bodyPr/>
        <a:lstStyle/>
        <a:p>
          <a:r>
            <a:rPr lang="en-GB" sz="2400" dirty="0" err="1"/>
            <a:t>Výstup</a:t>
          </a:r>
          <a:r>
            <a:rPr lang="en-GB" sz="2400" dirty="0"/>
            <a:t> </a:t>
          </a:r>
          <a:r>
            <a:rPr lang="en-GB" sz="2400" dirty="0" err="1"/>
            <a:t>závisí</a:t>
          </a:r>
          <a:r>
            <a:rPr lang="en-GB" sz="2400" dirty="0"/>
            <a:t> </a:t>
          </a:r>
          <a:r>
            <a:rPr lang="en-GB" sz="2400" dirty="0" err="1"/>
            <a:t>pouze</a:t>
          </a:r>
          <a:r>
            <a:rPr lang="en-GB" sz="2400" dirty="0"/>
            <a:t> </a:t>
          </a:r>
          <a:r>
            <a:rPr lang="en-GB" sz="2400" dirty="0" err="1"/>
            <a:t>na</a:t>
          </a:r>
          <a:r>
            <a:rPr lang="en-GB" sz="2400" dirty="0"/>
            <a:t> </a:t>
          </a:r>
          <a:r>
            <a:rPr lang="en-GB" sz="2400" dirty="0" err="1"/>
            <a:t>stavu</a:t>
          </a:r>
          <a:r>
            <a:rPr lang="en-GB" sz="2400" dirty="0"/>
            <a:t>, </a:t>
          </a:r>
          <a:r>
            <a:rPr lang="en-GB" sz="2400" dirty="0" err="1"/>
            <a:t>stabilní</a:t>
          </a:r>
          <a:r>
            <a:rPr lang="en-GB" sz="2400" dirty="0"/>
            <a:t> </a:t>
          </a:r>
          <a:r>
            <a:rPr lang="en-GB" sz="2400" dirty="0" err="1"/>
            <a:t>výstup</a:t>
          </a:r>
          <a:r>
            <a:rPr lang="en-GB" sz="2400" dirty="0"/>
            <a:t>.</a:t>
          </a:r>
          <a:endParaRPr lang="en-US" sz="2400" dirty="0"/>
        </a:p>
      </dgm:t>
    </dgm:pt>
    <dgm:pt modelId="{CD3A528F-C9CF-44AB-80EB-BD13A19AA5A1}" type="parTrans" cxnId="{3EE27C24-7C79-40DD-B6C4-B55B6912C5DE}">
      <dgm:prSet/>
      <dgm:spPr/>
      <dgm:t>
        <a:bodyPr/>
        <a:lstStyle/>
        <a:p>
          <a:endParaRPr lang="en-US"/>
        </a:p>
      </dgm:t>
    </dgm:pt>
    <dgm:pt modelId="{8A90D205-D55F-4BF0-81D2-17B110171D3E}" type="sibTrans" cxnId="{3EE27C24-7C79-40DD-B6C4-B55B6912C5DE}">
      <dgm:prSet/>
      <dgm:spPr/>
      <dgm:t>
        <a:bodyPr/>
        <a:lstStyle/>
        <a:p>
          <a:endParaRPr lang="en-US"/>
        </a:p>
      </dgm:t>
    </dgm:pt>
    <dgm:pt modelId="{6512CFA1-B735-464F-9CB3-91ABC70166D0}">
      <dgm:prSet custT="1"/>
      <dgm:spPr/>
      <dgm:t>
        <a:bodyPr/>
        <a:lstStyle/>
        <a:p>
          <a:r>
            <a:rPr lang="en-GB" sz="2400" dirty="0" err="1"/>
            <a:t>Výstup</a:t>
          </a:r>
          <a:r>
            <a:rPr lang="en-GB" sz="2400" dirty="0"/>
            <a:t> </a:t>
          </a:r>
          <a:r>
            <a:rPr lang="en-GB" sz="2400" dirty="0" err="1"/>
            <a:t>závisí</a:t>
          </a:r>
          <a:r>
            <a:rPr lang="en-GB" sz="2400" dirty="0"/>
            <a:t> </a:t>
          </a:r>
          <a:r>
            <a:rPr lang="en-GB" sz="2400" dirty="0" err="1"/>
            <a:t>na</a:t>
          </a:r>
          <a:r>
            <a:rPr lang="en-GB" sz="2400" dirty="0"/>
            <a:t> </a:t>
          </a:r>
          <a:r>
            <a:rPr lang="en-GB" sz="2400" dirty="0" err="1"/>
            <a:t>stavu</a:t>
          </a:r>
          <a:r>
            <a:rPr lang="en-GB" sz="2400" dirty="0"/>
            <a:t> </a:t>
          </a:r>
          <a:r>
            <a:rPr lang="en-GB" sz="2400" dirty="0" err="1"/>
            <a:t>i</a:t>
          </a:r>
          <a:r>
            <a:rPr lang="en-GB" sz="2400" dirty="0"/>
            <a:t> </a:t>
          </a:r>
          <a:r>
            <a:rPr lang="en-GB" sz="2400" dirty="0" err="1"/>
            <a:t>vstupu</a:t>
          </a:r>
          <a:r>
            <a:rPr lang="en-GB" sz="2400" dirty="0"/>
            <a:t>, </a:t>
          </a:r>
          <a:r>
            <a:rPr lang="en-GB" sz="2400" dirty="0" err="1"/>
            <a:t>rychlejší</a:t>
          </a:r>
          <a:r>
            <a:rPr lang="en-GB" sz="2400" dirty="0"/>
            <a:t> </a:t>
          </a:r>
          <a:r>
            <a:rPr lang="en-GB" sz="2400" dirty="0" err="1"/>
            <a:t>reakce</a:t>
          </a:r>
          <a:r>
            <a:rPr lang="en-GB" sz="2400" dirty="0"/>
            <a:t>.</a:t>
          </a:r>
          <a:endParaRPr lang="en-US" sz="2400" dirty="0"/>
        </a:p>
      </dgm:t>
    </dgm:pt>
    <dgm:pt modelId="{DDD12ABC-06AB-4A37-94B1-C6F55D9597EF}" type="parTrans" cxnId="{CDF17BE9-9EFE-4994-A47F-904AA65D5E4D}">
      <dgm:prSet/>
      <dgm:spPr/>
      <dgm:t>
        <a:bodyPr/>
        <a:lstStyle/>
        <a:p>
          <a:endParaRPr lang="en-US"/>
        </a:p>
      </dgm:t>
    </dgm:pt>
    <dgm:pt modelId="{0979C2EB-40A1-46DD-AA99-48974835BAC3}" type="sibTrans" cxnId="{CDF17BE9-9EFE-4994-A47F-904AA65D5E4D}">
      <dgm:prSet/>
      <dgm:spPr/>
      <dgm:t>
        <a:bodyPr/>
        <a:lstStyle/>
        <a:p>
          <a:endParaRPr lang="en-US"/>
        </a:p>
      </dgm:t>
    </dgm:pt>
    <dgm:pt modelId="{65A5744B-1185-4ADD-A6D2-373C8BDF0C69}" type="pres">
      <dgm:prSet presAssocID="{80241909-7445-449E-8062-B7E2984A7D1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7850A38-91AB-4917-BD45-B9E4D20579B9}" type="pres">
      <dgm:prSet presAssocID="{A9F9028F-7FD7-4E61-BFFB-C05DEC81DA06}" presName="hierRoot1" presStyleCnt="0"/>
      <dgm:spPr/>
    </dgm:pt>
    <dgm:pt modelId="{0D03572E-877B-4387-8926-CBC09D52D869}" type="pres">
      <dgm:prSet presAssocID="{A9F9028F-7FD7-4E61-BFFB-C05DEC81DA06}" presName="composite" presStyleCnt="0"/>
      <dgm:spPr/>
    </dgm:pt>
    <dgm:pt modelId="{46C7C5AD-D85C-45B8-B33F-8141C36DB2B6}" type="pres">
      <dgm:prSet presAssocID="{A9F9028F-7FD7-4E61-BFFB-C05DEC81DA06}" presName="background" presStyleLbl="node0" presStyleIdx="0" presStyleCnt="2"/>
      <dgm:spPr/>
    </dgm:pt>
    <dgm:pt modelId="{501522EC-AB6A-4A3F-90F6-1A9E2DEC17F5}" type="pres">
      <dgm:prSet presAssocID="{A9F9028F-7FD7-4E61-BFFB-C05DEC81DA06}" presName="text" presStyleLbl="fgAcc0" presStyleIdx="0" presStyleCnt="2" custScaleX="60939" custScaleY="57228" custLinFactNeighborX="-894" custLinFactNeighborY="845">
        <dgm:presLayoutVars>
          <dgm:chPref val="3"/>
        </dgm:presLayoutVars>
      </dgm:prSet>
      <dgm:spPr/>
    </dgm:pt>
    <dgm:pt modelId="{2A66658B-0926-4AEC-95E0-FF06B36D33B0}" type="pres">
      <dgm:prSet presAssocID="{A9F9028F-7FD7-4E61-BFFB-C05DEC81DA06}" presName="hierChild2" presStyleCnt="0"/>
      <dgm:spPr/>
    </dgm:pt>
    <dgm:pt modelId="{E5EDB6BE-C7FA-4C3E-8B89-FF7498D8CABA}" type="pres">
      <dgm:prSet presAssocID="{6512CFA1-B735-464F-9CB3-91ABC70166D0}" presName="hierRoot1" presStyleCnt="0"/>
      <dgm:spPr/>
    </dgm:pt>
    <dgm:pt modelId="{6A75F7FF-F85B-43B3-B793-538411A03C8F}" type="pres">
      <dgm:prSet presAssocID="{6512CFA1-B735-464F-9CB3-91ABC70166D0}" presName="composite" presStyleCnt="0"/>
      <dgm:spPr/>
    </dgm:pt>
    <dgm:pt modelId="{C26016AE-A084-481C-9B70-656CA90880F5}" type="pres">
      <dgm:prSet presAssocID="{6512CFA1-B735-464F-9CB3-91ABC70166D0}" presName="background" presStyleLbl="node0" presStyleIdx="1" presStyleCnt="2"/>
      <dgm:spPr/>
    </dgm:pt>
    <dgm:pt modelId="{B0B6D510-94C5-471E-8AA9-E78D41A065BB}" type="pres">
      <dgm:prSet presAssocID="{6512CFA1-B735-464F-9CB3-91ABC70166D0}" presName="text" presStyleLbl="fgAcc0" presStyleIdx="1" presStyleCnt="2" custScaleX="63826" custScaleY="59891">
        <dgm:presLayoutVars>
          <dgm:chPref val="3"/>
        </dgm:presLayoutVars>
      </dgm:prSet>
      <dgm:spPr/>
    </dgm:pt>
    <dgm:pt modelId="{DCFCB6B1-337B-4A19-8E8B-DE96F89D056C}" type="pres">
      <dgm:prSet presAssocID="{6512CFA1-B735-464F-9CB3-91ABC70166D0}" presName="hierChild2" presStyleCnt="0"/>
      <dgm:spPr/>
    </dgm:pt>
  </dgm:ptLst>
  <dgm:cxnLst>
    <dgm:cxn modelId="{3EE27C24-7C79-40DD-B6C4-B55B6912C5DE}" srcId="{80241909-7445-449E-8062-B7E2984A7D1A}" destId="{A9F9028F-7FD7-4E61-BFFB-C05DEC81DA06}" srcOrd="0" destOrd="0" parTransId="{CD3A528F-C9CF-44AB-80EB-BD13A19AA5A1}" sibTransId="{8A90D205-D55F-4BF0-81D2-17B110171D3E}"/>
    <dgm:cxn modelId="{6F7CCD4C-4C83-4DFF-8517-2190BD063AB8}" type="presOf" srcId="{A9F9028F-7FD7-4E61-BFFB-C05DEC81DA06}" destId="{501522EC-AB6A-4A3F-90F6-1A9E2DEC17F5}" srcOrd="0" destOrd="0" presId="urn:microsoft.com/office/officeart/2005/8/layout/hierarchy1"/>
    <dgm:cxn modelId="{ED488D5A-024A-4593-93A0-C7A15C9778F1}" type="presOf" srcId="{6512CFA1-B735-464F-9CB3-91ABC70166D0}" destId="{B0B6D510-94C5-471E-8AA9-E78D41A065BB}" srcOrd="0" destOrd="0" presId="urn:microsoft.com/office/officeart/2005/8/layout/hierarchy1"/>
    <dgm:cxn modelId="{CDF17BE9-9EFE-4994-A47F-904AA65D5E4D}" srcId="{80241909-7445-449E-8062-B7E2984A7D1A}" destId="{6512CFA1-B735-464F-9CB3-91ABC70166D0}" srcOrd="1" destOrd="0" parTransId="{DDD12ABC-06AB-4A37-94B1-C6F55D9597EF}" sibTransId="{0979C2EB-40A1-46DD-AA99-48974835BAC3}"/>
    <dgm:cxn modelId="{C49AA0F1-F6F8-4314-94EE-11E0CC043E1D}" type="presOf" srcId="{80241909-7445-449E-8062-B7E2984A7D1A}" destId="{65A5744B-1185-4ADD-A6D2-373C8BDF0C69}" srcOrd="0" destOrd="0" presId="urn:microsoft.com/office/officeart/2005/8/layout/hierarchy1"/>
    <dgm:cxn modelId="{F445B696-5FCC-4ECD-9069-708A92C07DA9}" type="presParOf" srcId="{65A5744B-1185-4ADD-A6D2-373C8BDF0C69}" destId="{E7850A38-91AB-4917-BD45-B9E4D20579B9}" srcOrd="0" destOrd="0" presId="urn:microsoft.com/office/officeart/2005/8/layout/hierarchy1"/>
    <dgm:cxn modelId="{EB5EBBBA-0527-431F-A31B-867EA010FCE9}" type="presParOf" srcId="{E7850A38-91AB-4917-BD45-B9E4D20579B9}" destId="{0D03572E-877B-4387-8926-CBC09D52D869}" srcOrd="0" destOrd="0" presId="urn:microsoft.com/office/officeart/2005/8/layout/hierarchy1"/>
    <dgm:cxn modelId="{9BA30009-BC01-4309-831D-AE3442EBF87D}" type="presParOf" srcId="{0D03572E-877B-4387-8926-CBC09D52D869}" destId="{46C7C5AD-D85C-45B8-B33F-8141C36DB2B6}" srcOrd="0" destOrd="0" presId="urn:microsoft.com/office/officeart/2005/8/layout/hierarchy1"/>
    <dgm:cxn modelId="{0D79FB8E-3D30-4EF8-9DDB-E4CCE2A5F335}" type="presParOf" srcId="{0D03572E-877B-4387-8926-CBC09D52D869}" destId="{501522EC-AB6A-4A3F-90F6-1A9E2DEC17F5}" srcOrd="1" destOrd="0" presId="urn:microsoft.com/office/officeart/2005/8/layout/hierarchy1"/>
    <dgm:cxn modelId="{7B6BF6D4-98F7-4DFD-A468-96FBBC3849E0}" type="presParOf" srcId="{E7850A38-91AB-4917-BD45-B9E4D20579B9}" destId="{2A66658B-0926-4AEC-95E0-FF06B36D33B0}" srcOrd="1" destOrd="0" presId="urn:microsoft.com/office/officeart/2005/8/layout/hierarchy1"/>
    <dgm:cxn modelId="{757F5D06-0C24-47C0-A0ED-CA8825D98BCE}" type="presParOf" srcId="{65A5744B-1185-4ADD-A6D2-373C8BDF0C69}" destId="{E5EDB6BE-C7FA-4C3E-8B89-FF7498D8CABA}" srcOrd="1" destOrd="0" presId="urn:microsoft.com/office/officeart/2005/8/layout/hierarchy1"/>
    <dgm:cxn modelId="{DBE29C11-4FE6-4129-9EF1-AC2CAB1EBE48}" type="presParOf" srcId="{E5EDB6BE-C7FA-4C3E-8B89-FF7498D8CABA}" destId="{6A75F7FF-F85B-43B3-B793-538411A03C8F}" srcOrd="0" destOrd="0" presId="urn:microsoft.com/office/officeart/2005/8/layout/hierarchy1"/>
    <dgm:cxn modelId="{31EF5039-F592-4722-B804-F1B5F772EE1C}" type="presParOf" srcId="{6A75F7FF-F85B-43B3-B793-538411A03C8F}" destId="{C26016AE-A084-481C-9B70-656CA90880F5}" srcOrd="0" destOrd="0" presId="urn:microsoft.com/office/officeart/2005/8/layout/hierarchy1"/>
    <dgm:cxn modelId="{1DDB8CE7-29F7-4FF0-A94C-53943A040A9E}" type="presParOf" srcId="{6A75F7FF-F85B-43B3-B793-538411A03C8F}" destId="{B0B6D510-94C5-471E-8AA9-E78D41A065BB}" srcOrd="1" destOrd="0" presId="urn:microsoft.com/office/officeart/2005/8/layout/hierarchy1"/>
    <dgm:cxn modelId="{11E55669-0BF2-4313-A094-5D128F45436B}" type="presParOf" srcId="{E5EDB6BE-C7FA-4C3E-8B89-FF7498D8CABA}" destId="{DCFCB6B1-337B-4A19-8E8B-DE96F89D056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C7C5AD-D85C-45B8-B33F-8141C36DB2B6}">
      <dsp:nvSpPr>
        <dsp:cNvPr id="0" name=""/>
        <dsp:cNvSpPr/>
      </dsp:nvSpPr>
      <dsp:spPr>
        <a:xfrm>
          <a:off x="-43322" y="426474"/>
          <a:ext cx="3215880" cy="19177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522EC-AB6A-4A3F-90F6-1A9E2DEC17F5}">
      <dsp:nvSpPr>
        <dsp:cNvPr id="0" name=""/>
        <dsp:cNvSpPr/>
      </dsp:nvSpPr>
      <dsp:spPr>
        <a:xfrm>
          <a:off x="543034" y="983513"/>
          <a:ext cx="3215880" cy="1917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 err="1"/>
            <a:t>Výstup</a:t>
          </a:r>
          <a:r>
            <a:rPr lang="en-GB" sz="2400" kern="1200" dirty="0"/>
            <a:t> </a:t>
          </a:r>
          <a:r>
            <a:rPr lang="en-GB" sz="2400" kern="1200" dirty="0" err="1"/>
            <a:t>závisí</a:t>
          </a:r>
          <a:r>
            <a:rPr lang="en-GB" sz="2400" kern="1200" dirty="0"/>
            <a:t> </a:t>
          </a:r>
          <a:r>
            <a:rPr lang="en-GB" sz="2400" kern="1200" dirty="0" err="1"/>
            <a:t>pouze</a:t>
          </a:r>
          <a:r>
            <a:rPr lang="en-GB" sz="2400" kern="1200" dirty="0"/>
            <a:t> </a:t>
          </a:r>
          <a:r>
            <a:rPr lang="en-GB" sz="2400" kern="1200" dirty="0" err="1"/>
            <a:t>na</a:t>
          </a:r>
          <a:r>
            <a:rPr lang="en-GB" sz="2400" kern="1200" dirty="0"/>
            <a:t> </a:t>
          </a:r>
          <a:r>
            <a:rPr lang="en-GB" sz="2400" kern="1200" dirty="0" err="1"/>
            <a:t>stavu</a:t>
          </a:r>
          <a:r>
            <a:rPr lang="en-GB" sz="2400" kern="1200" dirty="0"/>
            <a:t>, </a:t>
          </a:r>
          <a:r>
            <a:rPr lang="en-GB" sz="2400" kern="1200" dirty="0" err="1"/>
            <a:t>stabilní</a:t>
          </a:r>
          <a:r>
            <a:rPr lang="en-GB" sz="2400" kern="1200" dirty="0"/>
            <a:t> </a:t>
          </a:r>
          <a:r>
            <a:rPr lang="en-GB" sz="2400" kern="1200" dirty="0" err="1"/>
            <a:t>výstup</a:t>
          </a:r>
          <a:r>
            <a:rPr lang="en-GB" sz="2400" kern="1200" dirty="0"/>
            <a:t>.</a:t>
          </a:r>
          <a:endParaRPr lang="en-US" sz="2400" kern="1200" dirty="0"/>
        </a:p>
      </dsp:txBody>
      <dsp:txXfrm>
        <a:off x="599202" y="1039681"/>
        <a:ext cx="3103544" cy="1805391"/>
      </dsp:txXfrm>
    </dsp:sp>
    <dsp:sp modelId="{C26016AE-A084-481C-9B70-656CA90880F5}">
      <dsp:nvSpPr>
        <dsp:cNvPr id="0" name=""/>
        <dsp:cNvSpPr/>
      </dsp:nvSpPr>
      <dsp:spPr>
        <a:xfrm>
          <a:off x="4392450" y="398158"/>
          <a:ext cx="3368233" cy="20069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6D510-94C5-471E-8AA9-E78D41A065BB}">
      <dsp:nvSpPr>
        <dsp:cNvPr id="0" name=""/>
        <dsp:cNvSpPr/>
      </dsp:nvSpPr>
      <dsp:spPr>
        <a:xfrm>
          <a:off x="4978807" y="955197"/>
          <a:ext cx="3368233" cy="20069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 err="1"/>
            <a:t>Výstup</a:t>
          </a:r>
          <a:r>
            <a:rPr lang="en-GB" sz="2400" kern="1200" dirty="0"/>
            <a:t> </a:t>
          </a:r>
          <a:r>
            <a:rPr lang="en-GB" sz="2400" kern="1200" dirty="0" err="1"/>
            <a:t>závisí</a:t>
          </a:r>
          <a:r>
            <a:rPr lang="en-GB" sz="2400" kern="1200" dirty="0"/>
            <a:t> </a:t>
          </a:r>
          <a:r>
            <a:rPr lang="en-GB" sz="2400" kern="1200" dirty="0" err="1"/>
            <a:t>na</a:t>
          </a:r>
          <a:r>
            <a:rPr lang="en-GB" sz="2400" kern="1200" dirty="0"/>
            <a:t> </a:t>
          </a:r>
          <a:r>
            <a:rPr lang="en-GB" sz="2400" kern="1200" dirty="0" err="1"/>
            <a:t>stavu</a:t>
          </a:r>
          <a:r>
            <a:rPr lang="en-GB" sz="2400" kern="1200" dirty="0"/>
            <a:t> </a:t>
          </a:r>
          <a:r>
            <a:rPr lang="en-GB" sz="2400" kern="1200" dirty="0" err="1"/>
            <a:t>i</a:t>
          </a:r>
          <a:r>
            <a:rPr lang="en-GB" sz="2400" kern="1200" dirty="0"/>
            <a:t> </a:t>
          </a:r>
          <a:r>
            <a:rPr lang="en-GB" sz="2400" kern="1200" dirty="0" err="1"/>
            <a:t>vstupu</a:t>
          </a:r>
          <a:r>
            <a:rPr lang="en-GB" sz="2400" kern="1200" dirty="0"/>
            <a:t>, </a:t>
          </a:r>
          <a:r>
            <a:rPr lang="en-GB" sz="2400" kern="1200" dirty="0" err="1"/>
            <a:t>rychlejší</a:t>
          </a:r>
          <a:r>
            <a:rPr lang="en-GB" sz="2400" kern="1200" dirty="0"/>
            <a:t> </a:t>
          </a:r>
          <a:r>
            <a:rPr lang="en-GB" sz="2400" kern="1200" dirty="0" err="1"/>
            <a:t>reakce</a:t>
          </a:r>
          <a:r>
            <a:rPr lang="en-GB" sz="2400" kern="1200" dirty="0"/>
            <a:t>.</a:t>
          </a:r>
          <a:endParaRPr lang="en-US" sz="2400" kern="1200" dirty="0"/>
        </a:p>
      </dsp:txBody>
      <dsp:txXfrm>
        <a:off x="5037589" y="1013979"/>
        <a:ext cx="3250669" cy="1889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7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72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3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71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3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45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23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75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8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86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34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9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lorful dots in a white background&#10;&#10;AI-generated content may be incorrect.">
            <a:extLst>
              <a:ext uri="{FF2B5EF4-FFF2-40B4-BE49-F238E27FC236}">
                <a16:creationId xmlns:a16="http://schemas.microsoft.com/office/drawing/2014/main" id="{AAFC8C61-0D56-F5B5-B173-97FCB4C997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25"/>
          <a:stretch/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89F15A-1BB6-9E98-BD16-5D0E91A00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cs-CZ" sz="4400"/>
              <a:t>Teoretické výpočetní modely</a:t>
            </a:r>
            <a:endParaRPr lang="en-GB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0C7B3-A1E5-E65E-9B4F-19E55242E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r>
              <a:rPr lang="cs-CZ"/>
              <a:t>Ondřej Vondra 4ITA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28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C4F31-A641-743E-4801-818EBD242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029" y="603504"/>
            <a:ext cx="10347863" cy="1527048"/>
          </a:xfrm>
        </p:spPr>
        <p:txBody>
          <a:bodyPr anchor="b">
            <a:normAutofit/>
          </a:bodyPr>
          <a:lstStyle/>
          <a:p>
            <a:r>
              <a:rPr lang="cs-CZ" dirty="0"/>
              <a:t>Moo</a:t>
            </a:r>
            <a:r>
              <a:rPr lang="en-GB" dirty="0"/>
              <a:t>re</a:t>
            </a:r>
            <a:r>
              <a:rPr lang="cs-CZ" dirty="0" err="1"/>
              <a:t>ův</a:t>
            </a:r>
            <a:r>
              <a:rPr lang="cs-CZ" dirty="0"/>
              <a:t> automat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2E4FB6-2535-B0A7-0145-A25274C69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441273"/>
            <a:ext cx="5385816" cy="3817942"/>
          </a:xfrm>
        </p:spPr>
        <p:txBody>
          <a:bodyPr anchor="t">
            <a:normAutofit/>
          </a:bodyPr>
          <a:lstStyle/>
          <a:p>
            <a:r>
              <a:rPr lang="en-GB" sz="1800" dirty="0" err="1"/>
              <a:t>Mooreův</a:t>
            </a:r>
            <a:r>
              <a:rPr lang="en-GB" sz="1800" dirty="0"/>
              <a:t> automat je </a:t>
            </a:r>
            <a:r>
              <a:rPr lang="en-GB" sz="1800" dirty="0" err="1"/>
              <a:t>typ</a:t>
            </a:r>
            <a:r>
              <a:rPr lang="en-GB" sz="1800" dirty="0"/>
              <a:t> </a:t>
            </a:r>
            <a:r>
              <a:rPr lang="en-GB" sz="1800" dirty="0" err="1"/>
              <a:t>konečného</a:t>
            </a:r>
            <a:r>
              <a:rPr lang="en-GB" sz="1800" dirty="0"/>
              <a:t> </a:t>
            </a:r>
            <a:r>
              <a:rPr lang="en-GB" sz="1800" dirty="0" err="1"/>
              <a:t>automatu</a:t>
            </a:r>
            <a:r>
              <a:rPr lang="en-GB" sz="1800" dirty="0"/>
              <a:t>, </a:t>
            </a:r>
            <a:r>
              <a:rPr lang="en-GB" sz="1800" dirty="0" err="1"/>
              <a:t>kde</a:t>
            </a:r>
            <a:r>
              <a:rPr lang="en-GB" sz="1800" dirty="0"/>
              <a:t> </a:t>
            </a:r>
            <a:r>
              <a:rPr lang="en-GB" sz="1800" dirty="0" err="1"/>
              <a:t>výstup</a:t>
            </a:r>
            <a:r>
              <a:rPr lang="en-GB" sz="1800" dirty="0"/>
              <a:t> </a:t>
            </a:r>
            <a:r>
              <a:rPr lang="en-GB" sz="1800" dirty="0" err="1"/>
              <a:t>závisí</a:t>
            </a:r>
            <a:r>
              <a:rPr lang="en-GB" sz="1800" dirty="0"/>
              <a:t> </a:t>
            </a:r>
            <a:r>
              <a:rPr lang="en-GB" sz="1800" dirty="0" err="1"/>
              <a:t>pouze</a:t>
            </a:r>
            <a:r>
              <a:rPr lang="en-GB" sz="1800" dirty="0"/>
              <a:t> </a:t>
            </a:r>
            <a:r>
              <a:rPr lang="en-GB" sz="1800" dirty="0" err="1"/>
              <a:t>na</a:t>
            </a:r>
            <a:r>
              <a:rPr lang="en-GB" sz="1800" dirty="0"/>
              <a:t> </a:t>
            </a:r>
            <a:r>
              <a:rPr lang="en-GB" sz="1800" dirty="0" err="1"/>
              <a:t>aktuálním</a:t>
            </a:r>
            <a:r>
              <a:rPr lang="en-GB" sz="1800" dirty="0"/>
              <a:t> </a:t>
            </a:r>
            <a:r>
              <a:rPr lang="en-GB" sz="1800" dirty="0" err="1"/>
              <a:t>stavu</a:t>
            </a:r>
            <a:r>
              <a:rPr lang="en-GB" sz="1800" dirty="0"/>
              <a:t>.</a:t>
            </a:r>
            <a:endParaRPr lang="cs-CZ" sz="1800" dirty="0"/>
          </a:p>
          <a:p>
            <a:r>
              <a:rPr lang="pl-PL" sz="1800" dirty="0"/>
              <a:t>Výstupní symbol se generuje po přechodu do nového stavu.</a:t>
            </a:r>
            <a:endParaRPr lang="en-GB" sz="1800" dirty="0"/>
          </a:p>
          <a:p>
            <a:r>
              <a:rPr lang="en-GB" sz="1800" dirty="0" err="1"/>
              <a:t>Skládá</a:t>
            </a:r>
            <a:r>
              <a:rPr lang="en-GB" sz="1800" dirty="0"/>
              <a:t> se z </a:t>
            </a:r>
            <a:r>
              <a:rPr lang="cs-CZ" sz="1800" dirty="0"/>
              <a:t>6</a:t>
            </a:r>
            <a:r>
              <a:rPr lang="en-GB" sz="1800" dirty="0"/>
              <a:t>-tice: (Q, </a:t>
            </a:r>
            <a:r>
              <a:rPr lang="el-GR" sz="1800" dirty="0"/>
              <a:t>Σ, Δ, δ</a:t>
            </a:r>
            <a:r>
              <a:rPr lang="cs-CZ" sz="1800" dirty="0"/>
              <a:t>, </a:t>
            </a:r>
            <a:r>
              <a:rPr lang="el-GR" sz="1800" dirty="0"/>
              <a:t>λ, </a:t>
            </a:r>
            <a:r>
              <a:rPr lang="en-GB" sz="1800" dirty="0"/>
              <a:t>q0), </a:t>
            </a:r>
            <a:r>
              <a:rPr lang="en-GB" sz="1800" dirty="0" err="1"/>
              <a:t>kde</a:t>
            </a:r>
            <a:r>
              <a:rPr lang="en-GB" sz="1800" dirty="0"/>
              <a:t> </a:t>
            </a:r>
            <a:r>
              <a:rPr lang="en-GB" sz="1800" dirty="0" err="1"/>
              <a:t>každá</a:t>
            </a:r>
            <a:r>
              <a:rPr lang="en-GB" sz="1800" dirty="0"/>
              <a:t> </a:t>
            </a:r>
            <a:r>
              <a:rPr lang="en-GB" sz="1800" dirty="0" err="1"/>
              <a:t>komponenta</a:t>
            </a:r>
            <a:r>
              <a:rPr lang="en-GB" sz="1800" dirty="0"/>
              <a:t> </a:t>
            </a:r>
            <a:r>
              <a:rPr lang="en-GB" sz="1800" dirty="0" err="1"/>
              <a:t>má</a:t>
            </a:r>
            <a:r>
              <a:rPr lang="en-GB" sz="1800" dirty="0"/>
              <a:t> </a:t>
            </a:r>
            <a:r>
              <a:rPr lang="en-GB" sz="1800" dirty="0" err="1"/>
              <a:t>specifickou</a:t>
            </a:r>
            <a:r>
              <a:rPr lang="en-GB" sz="1800" dirty="0"/>
              <a:t> </a:t>
            </a:r>
            <a:r>
              <a:rPr lang="en-GB" sz="1800" dirty="0" err="1"/>
              <a:t>roli</a:t>
            </a:r>
            <a:r>
              <a:rPr lang="en-GB" sz="1800" dirty="0"/>
              <a:t>.</a:t>
            </a:r>
          </a:p>
        </p:txBody>
      </p:sp>
      <p:pic>
        <p:nvPicPr>
          <p:cNvPr id="12" name="Graphic 11" descr="Checkmark">
            <a:extLst>
              <a:ext uri="{FF2B5EF4-FFF2-40B4-BE49-F238E27FC236}">
                <a16:creationId xmlns:a16="http://schemas.microsoft.com/office/drawing/2014/main" id="{2083931E-6234-F284-25FA-407C9C720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030" y="2436555"/>
            <a:ext cx="3817941" cy="381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512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29AD3-4F7A-123C-E3E8-AFA98B862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GB" dirty="0" err="1"/>
              <a:t>Vlastnosti</a:t>
            </a:r>
            <a:r>
              <a:rPr lang="en-GB" dirty="0"/>
              <a:t> </a:t>
            </a:r>
            <a:r>
              <a:rPr lang="en-GB" dirty="0" err="1"/>
              <a:t>Mooreova</a:t>
            </a:r>
            <a:r>
              <a:rPr lang="en-GB" dirty="0"/>
              <a:t> </a:t>
            </a:r>
            <a:r>
              <a:rPr lang="en-GB" dirty="0" err="1"/>
              <a:t>automatu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B4DB8-B255-D7EC-2C60-21C86045F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en-GB" sz="1800" dirty="0"/>
              <a:t>Q </a:t>
            </a:r>
            <a:r>
              <a:rPr lang="cs-CZ" sz="1800" dirty="0"/>
              <a:t>je </a:t>
            </a:r>
            <a:r>
              <a:rPr lang="cs-CZ" sz="1800" dirty="0" err="1"/>
              <a:t>ko</a:t>
            </a:r>
            <a:r>
              <a:rPr lang="en-GB" sz="1800" dirty="0"/>
              <a:t>ne</a:t>
            </a:r>
            <a:r>
              <a:rPr lang="cs-CZ" sz="1800" dirty="0" err="1"/>
              <a:t>čná</a:t>
            </a:r>
            <a:r>
              <a:rPr lang="cs-CZ" sz="1800" dirty="0"/>
              <a:t> množina stavů.</a:t>
            </a:r>
          </a:p>
          <a:p>
            <a:r>
              <a:rPr lang="el-GR" sz="1800" dirty="0"/>
              <a:t>Σ </a:t>
            </a:r>
            <a:r>
              <a:rPr lang="en-GB" sz="1800" dirty="0"/>
              <a:t>je </a:t>
            </a:r>
            <a:r>
              <a:rPr lang="en-GB" sz="1800" dirty="0" err="1"/>
              <a:t>konečná</a:t>
            </a:r>
            <a:r>
              <a:rPr lang="en-GB" sz="1800" dirty="0"/>
              <a:t> </a:t>
            </a:r>
            <a:r>
              <a:rPr lang="en-GB" sz="1800" dirty="0" err="1"/>
              <a:t>množina</a:t>
            </a:r>
            <a:r>
              <a:rPr lang="en-GB" sz="1800" dirty="0"/>
              <a:t> </a:t>
            </a:r>
            <a:r>
              <a:rPr lang="en-GB" sz="1800" dirty="0" err="1"/>
              <a:t>vstupních</a:t>
            </a:r>
            <a:r>
              <a:rPr lang="en-GB" sz="1800" dirty="0"/>
              <a:t> symbol</a:t>
            </a:r>
            <a:r>
              <a:rPr lang="cs-CZ" sz="1800" dirty="0"/>
              <a:t>.</a:t>
            </a:r>
          </a:p>
          <a:p>
            <a:r>
              <a:rPr lang="el-GR" sz="1800" dirty="0"/>
              <a:t>Δ </a:t>
            </a:r>
            <a:r>
              <a:rPr lang="en-GB" sz="1800" dirty="0"/>
              <a:t>je </a:t>
            </a:r>
            <a:r>
              <a:rPr lang="en-GB" sz="1800" dirty="0" err="1"/>
              <a:t>konečná</a:t>
            </a:r>
            <a:r>
              <a:rPr lang="en-GB" sz="1800" dirty="0"/>
              <a:t> </a:t>
            </a:r>
            <a:r>
              <a:rPr lang="en-GB" sz="1800" dirty="0" err="1"/>
              <a:t>množina</a:t>
            </a:r>
            <a:r>
              <a:rPr lang="en-GB" sz="1800" dirty="0"/>
              <a:t> </a:t>
            </a:r>
            <a:r>
              <a:rPr lang="en-GB" sz="1800" dirty="0" err="1"/>
              <a:t>výstupních</a:t>
            </a:r>
            <a:r>
              <a:rPr lang="en-GB" sz="1800" dirty="0"/>
              <a:t> </a:t>
            </a:r>
            <a:r>
              <a:rPr lang="en-GB" sz="1800" dirty="0" err="1"/>
              <a:t>symbolů</a:t>
            </a:r>
            <a:r>
              <a:rPr lang="en-GB" sz="1800" dirty="0"/>
              <a:t>.</a:t>
            </a:r>
            <a:endParaRPr lang="cs-CZ" sz="1800" dirty="0"/>
          </a:p>
          <a:p>
            <a:r>
              <a:rPr lang="el-GR" sz="1800" dirty="0"/>
              <a:t>δ</a:t>
            </a:r>
            <a:r>
              <a:rPr lang="en-GB" sz="1800" dirty="0"/>
              <a:t>:</a:t>
            </a:r>
            <a:r>
              <a:rPr lang="el-GR" sz="1800" dirty="0"/>
              <a:t> </a:t>
            </a:r>
            <a:r>
              <a:rPr lang="en-GB" sz="1800" dirty="0"/>
              <a:t>Q</a:t>
            </a:r>
            <a:r>
              <a:rPr lang="cs-CZ" sz="1800" dirty="0"/>
              <a:t> </a:t>
            </a:r>
            <a:r>
              <a:rPr lang="en-GB" sz="1800" dirty="0"/>
              <a:t>×</a:t>
            </a:r>
            <a:r>
              <a:rPr lang="el-GR" sz="1800" dirty="0"/>
              <a:t> Σ</a:t>
            </a:r>
            <a:r>
              <a:rPr lang="en-GB" sz="1800" dirty="0"/>
              <a:t> → Q je p</a:t>
            </a:r>
            <a:r>
              <a:rPr lang="cs-CZ" sz="1800" dirty="0" err="1"/>
              <a:t>řechodová</a:t>
            </a:r>
            <a:r>
              <a:rPr lang="cs-CZ" sz="1800" dirty="0"/>
              <a:t> funkce.</a:t>
            </a:r>
            <a:endParaRPr lang="en-GB" sz="1800" dirty="0"/>
          </a:p>
          <a:p>
            <a:r>
              <a:rPr lang="el-GR" sz="1800" dirty="0"/>
              <a:t>λ</a:t>
            </a:r>
            <a:r>
              <a:rPr lang="en-GB" sz="1800" dirty="0"/>
              <a:t>: Q → </a:t>
            </a:r>
            <a:r>
              <a:rPr lang="el-GR" sz="1800" dirty="0"/>
              <a:t>Δ</a:t>
            </a:r>
            <a:r>
              <a:rPr lang="en-GB" sz="1800" dirty="0"/>
              <a:t> je v</a:t>
            </a:r>
            <a:r>
              <a:rPr lang="cs-CZ" sz="1800" dirty="0" err="1"/>
              <a:t>ýstupní</a:t>
            </a:r>
            <a:r>
              <a:rPr lang="cs-CZ" sz="1800" dirty="0"/>
              <a:t> funkce.</a:t>
            </a:r>
            <a:endParaRPr lang="en-GB" sz="1800" dirty="0"/>
          </a:p>
          <a:p>
            <a:r>
              <a:rPr lang="en-GB" sz="1800" dirty="0"/>
              <a:t>q</a:t>
            </a:r>
            <a:r>
              <a:rPr lang="en-GB" sz="1800" baseline="-25000" dirty="0"/>
              <a:t>0</a:t>
            </a:r>
            <a:r>
              <a:rPr lang="en-GB" sz="1800" dirty="0"/>
              <a:t> ∈ Q je po</a:t>
            </a:r>
            <a:r>
              <a:rPr lang="cs-CZ" sz="1800" dirty="0" err="1"/>
              <a:t>čáteční</a:t>
            </a:r>
            <a:r>
              <a:rPr lang="cs-CZ" sz="1800" dirty="0"/>
              <a:t> stav.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EB1537F7-825F-B80A-A9BF-C13D7BB49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53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7BE37-161E-C691-B0DB-8C37512C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GB" dirty="0" err="1"/>
              <a:t>Mealyho</a:t>
            </a:r>
            <a:r>
              <a:rPr lang="en-GB" dirty="0"/>
              <a:t> automat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D38B7-B1BB-91CE-1C76-172954F2C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GB" sz="1800" dirty="0" err="1"/>
              <a:t>Mealyho</a:t>
            </a:r>
            <a:r>
              <a:rPr lang="en-GB" sz="1800" dirty="0"/>
              <a:t> automat je </a:t>
            </a:r>
            <a:r>
              <a:rPr lang="en-GB" sz="1800" dirty="0" err="1"/>
              <a:t>konečný</a:t>
            </a:r>
            <a:r>
              <a:rPr lang="en-GB" sz="1800" dirty="0"/>
              <a:t> automat, </a:t>
            </a:r>
            <a:r>
              <a:rPr lang="en-GB" sz="1800" dirty="0" err="1"/>
              <a:t>kde</a:t>
            </a:r>
            <a:r>
              <a:rPr lang="en-GB" sz="1800" dirty="0"/>
              <a:t> </a:t>
            </a:r>
            <a:r>
              <a:rPr lang="en-GB" sz="1800" dirty="0" err="1"/>
              <a:t>výstupy</a:t>
            </a:r>
            <a:r>
              <a:rPr lang="en-GB" sz="1800" dirty="0"/>
              <a:t> </a:t>
            </a:r>
            <a:r>
              <a:rPr lang="en-GB" sz="1800" dirty="0" err="1"/>
              <a:t>závisí</a:t>
            </a:r>
            <a:r>
              <a:rPr lang="en-GB" sz="1800" dirty="0"/>
              <a:t> </a:t>
            </a:r>
            <a:r>
              <a:rPr lang="en-GB" sz="1800" dirty="0" err="1"/>
              <a:t>na</a:t>
            </a:r>
            <a:r>
              <a:rPr lang="en-GB" sz="1800" dirty="0"/>
              <a:t> </a:t>
            </a:r>
            <a:r>
              <a:rPr lang="en-GB" sz="1800" dirty="0" err="1"/>
              <a:t>stavu</a:t>
            </a:r>
            <a:r>
              <a:rPr lang="en-GB" sz="1800" dirty="0"/>
              <a:t> a </a:t>
            </a:r>
            <a:r>
              <a:rPr lang="en-GB" sz="1800" dirty="0" err="1"/>
              <a:t>vstupním</a:t>
            </a:r>
            <a:r>
              <a:rPr lang="en-GB" sz="1800" dirty="0"/>
              <a:t> </a:t>
            </a:r>
            <a:r>
              <a:rPr lang="en-GB" sz="1800" dirty="0" err="1"/>
              <a:t>symbolu</a:t>
            </a:r>
            <a:r>
              <a:rPr lang="en-GB" sz="1800" dirty="0"/>
              <a:t>.</a:t>
            </a:r>
            <a:endParaRPr lang="cs-CZ" sz="1800" dirty="0"/>
          </a:p>
          <a:p>
            <a:r>
              <a:rPr lang="en-GB" sz="1800" dirty="0" err="1"/>
              <a:t>Výstupní</a:t>
            </a:r>
            <a:r>
              <a:rPr lang="en-GB" sz="1800" dirty="0"/>
              <a:t> symbol se </a:t>
            </a:r>
            <a:r>
              <a:rPr lang="en-GB" sz="1800" dirty="0" err="1"/>
              <a:t>generuje</a:t>
            </a:r>
            <a:r>
              <a:rPr lang="en-GB" sz="1800" dirty="0"/>
              <a:t> </a:t>
            </a:r>
            <a:r>
              <a:rPr lang="en-GB" sz="1800" dirty="0" err="1"/>
              <a:t>při</a:t>
            </a:r>
            <a:r>
              <a:rPr lang="en-GB" sz="1800" dirty="0"/>
              <a:t> </a:t>
            </a:r>
            <a:r>
              <a:rPr lang="en-GB" sz="1800" dirty="0" err="1"/>
              <a:t>každém</a:t>
            </a:r>
            <a:r>
              <a:rPr lang="en-GB" sz="1800" dirty="0"/>
              <a:t> </a:t>
            </a:r>
            <a:r>
              <a:rPr lang="en-GB" sz="1800" dirty="0" err="1"/>
              <a:t>přechodu</a:t>
            </a:r>
            <a:r>
              <a:rPr lang="en-GB" sz="1800" dirty="0"/>
              <a:t> do </a:t>
            </a:r>
            <a:r>
              <a:rPr lang="en-GB" sz="1800" dirty="0" err="1"/>
              <a:t>nového</a:t>
            </a:r>
            <a:r>
              <a:rPr lang="en-GB" sz="1800" dirty="0"/>
              <a:t> </a:t>
            </a:r>
            <a:r>
              <a:rPr lang="en-GB" sz="1800" dirty="0" err="1"/>
              <a:t>stavu</a:t>
            </a:r>
            <a:r>
              <a:rPr lang="en-GB" sz="1800" dirty="0"/>
              <a:t>.</a:t>
            </a:r>
          </a:p>
          <a:p>
            <a:r>
              <a:rPr lang="en-GB" sz="1800" dirty="0" err="1"/>
              <a:t>Skládá</a:t>
            </a:r>
            <a:r>
              <a:rPr lang="en-GB" sz="1800" dirty="0"/>
              <a:t> se z 6-tice: (Q, </a:t>
            </a:r>
            <a:r>
              <a:rPr lang="el-GR" sz="1800" dirty="0"/>
              <a:t>Σ, Δ, δ</a:t>
            </a:r>
            <a:r>
              <a:rPr lang="en-GB" sz="1800" dirty="0"/>
              <a:t>,</a:t>
            </a:r>
            <a:r>
              <a:rPr lang="el-GR" sz="1800" dirty="0"/>
              <a:t> λ, </a:t>
            </a:r>
            <a:r>
              <a:rPr lang="en-GB" sz="1800" dirty="0"/>
              <a:t>q</a:t>
            </a:r>
            <a:r>
              <a:rPr lang="en-GB" sz="1800" baseline="-25000" dirty="0"/>
              <a:t>0</a:t>
            </a:r>
            <a:r>
              <a:rPr lang="el-GR" sz="1800" dirty="0"/>
              <a:t>)</a:t>
            </a:r>
            <a:endParaRPr lang="en-GB" sz="1800" dirty="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2083931E-6234-F284-25FA-407C9C720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5F1C2-DE57-8090-AE14-1124ABE5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0B369-9B30-DAF2-BAF3-A078FB417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805418"/>
          </a:xfrm>
        </p:spPr>
        <p:txBody>
          <a:bodyPr anchor="b">
            <a:normAutofit/>
          </a:bodyPr>
          <a:lstStyle/>
          <a:p>
            <a:r>
              <a:rPr lang="en-GB" dirty="0" err="1"/>
              <a:t>Vlastnosti</a:t>
            </a:r>
            <a:r>
              <a:rPr lang="en-GB" dirty="0"/>
              <a:t> </a:t>
            </a:r>
            <a:r>
              <a:rPr lang="en-GB" dirty="0" err="1"/>
              <a:t>Mealyho</a:t>
            </a:r>
            <a:r>
              <a:rPr lang="en-GB" dirty="0"/>
              <a:t> </a:t>
            </a:r>
            <a:r>
              <a:rPr lang="en-GB" dirty="0" err="1"/>
              <a:t>automatu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76885-E51C-E89B-843D-D62A90B08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077" y="1769469"/>
            <a:ext cx="5385816" cy="4771290"/>
          </a:xfrm>
        </p:spPr>
        <p:txBody>
          <a:bodyPr anchor="t">
            <a:noAutofit/>
          </a:bodyPr>
          <a:lstStyle/>
          <a:p>
            <a:r>
              <a:rPr lang="en-GB" sz="1800" dirty="0"/>
              <a:t>Q </a:t>
            </a:r>
            <a:r>
              <a:rPr lang="cs-CZ" sz="1800" dirty="0"/>
              <a:t>je </a:t>
            </a:r>
            <a:r>
              <a:rPr lang="cs-CZ" sz="1800" dirty="0" err="1"/>
              <a:t>ko</a:t>
            </a:r>
            <a:r>
              <a:rPr lang="en-GB" sz="1800" dirty="0"/>
              <a:t>ne</a:t>
            </a:r>
            <a:r>
              <a:rPr lang="cs-CZ" sz="1800" dirty="0" err="1"/>
              <a:t>čná</a:t>
            </a:r>
            <a:r>
              <a:rPr lang="cs-CZ" sz="1800" dirty="0"/>
              <a:t> množina stavů.</a:t>
            </a:r>
          </a:p>
          <a:p>
            <a:r>
              <a:rPr lang="el-GR" sz="1800" dirty="0"/>
              <a:t>Σ </a:t>
            </a:r>
            <a:r>
              <a:rPr lang="en-GB" sz="1800" dirty="0"/>
              <a:t>je </a:t>
            </a:r>
            <a:r>
              <a:rPr lang="en-GB" sz="1800" dirty="0" err="1"/>
              <a:t>konečná</a:t>
            </a:r>
            <a:r>
              <a:rPr lang="en-GB" sz="1800" dirty="0"/>
              <a:t> </a:t>
            </a:r>
            <a:r>
              <a:rPr lang="en-GB" sz="1800" dirty="0" err="1"/>
              <a:t>množina</a:t>
            </a:r>
            <a:r>
              <a:rPr lang="en-GB" sz="1800" dirty="0"/>
              <a:t> </a:t>
            </a:r>
            <a:r>
              <a:rPr lang="en-GB" sz="1800" dirty="0" err="1"/>
              <a:t>vstupních</a:t>
            </a:r>
            <a:r>
              <a:rPr lang="en-GB" sz="1800" dirty="0"/>
              <a:t> symbol</a:t>
            </a:r>
            <a:r>
              <a:rPr lang="cs-CZ" sz="1800" dirty="0"/>
              <a:t>.</a:t>
            </a:r>
          </a:p>
          <a:p>
            <a:r>
              <a:rPr lang="el-GR" sz="1800" dirty="0"/>
              <a:t>Δ </a:t>
            </a:r>
            <a:r>
              <a:rPr lang="en-GB" sz="1800" dirty="0"/>
              <a:t>je </a:t>
            </a:r>
            <a:r>
              <a:rPr lang="en-GB" sz="1800" dirty="0" err="1"/>
              <a:t>konečná</a:t>
            </a:r>
            <a:r>
              <a:rPr lang="en-GB" sz="1800" dirty="0"/>
              <a:t> </a:t>
            </a:r>
            <a:r>
              <a:rPr lang="en-GB" sz="1800" dirty="0" err="1"/>
              <a:t>množina</a:t>
            </a:r>
            <a:r>
              <a:rPr lang="en-GB" sz="1800" dirty="0"/>
              <a:t> </a:t>
            </a:r>
            <a:r>
              <a:rPr lang="en-GB" sz="1800" dirty="0" err="1"/>
              <a:t>výstupních</a:t>
            </a:r>
            <a:r>
              <a:rPr lang="en-GB" sz="1800" dirty="0"/>
              <a:t> </a:t>
            </a:r>
            <a:r>
              <a:rPr lang="en-GB" sz="1800" dirty="0" err="1"/>
              <a:t>symbolů</a:t>
            </a:r>
            <a:r>
              <a:rPr lang="en-GB" sz="1800" dirty="0"/>
              <a:t>.</a:t>
            </a:r>
            <a:endParaRPr lang="cs-CZ" sz="1800" dirty="0"/>
          </a:p>
          <a:p>
            <a:r>
              <a:rPr lang="el-GR" sz="1800" dirty="0"/>
              <a:t>δ</a:t>
            </a:r>
            <a:r>
              <a:rPr lang="en-GB" sz="1800" dirty="0"/>
              <a:t>:</a:t>
            </a:r>
            <a:r>
              <a:rPr lang="el-GR" sz="1800" dirty="0"/>
              <a:t> </a:t>
            </a:r>
            <a:r>
              <a:rPr lang="en-GB" sz="1800" dirty="0"/>
              <a:t>Q</a:t>
            </a:r>
            <a:r>
              <a:rPr lang="cs-CZ" sz="1800" dirty="0"/>
              <a:t> </a:t>
            </a:r>
            <a:r>
              <a:rPr lang="en-GB" sz="1800" dirty="0"/>
              <a:t>×</a:t>
            </a:r>
            <a:r>
              <a:rPr lang="el-GR" sz="1800" dirty="0"/>
              <a:t> Σ</a:t>
            </a:r>
            <a:r>
              <a:rPr lang="en-GB" sz="1800" dirty="0"/>
              <a:t> → Q je p</a:t>
            </a:r>
            <a:r>
              <a:rPr lang="cs-CZ" sz="1800" dirty="0" err="1"/>
              <a:t>řechodová</a:t>
            </a:r>
            <a:r>
              <a:rPr lang="cs-CZ" sz="1800" dirty="0"/>
              <a:t> funkce.</a:t>
            </a:r>
            <a:endParaRPr lang="en-GB" sz="1800" dirty="0"/>
          </a:p>
          <a:p>
            <a:r>
              <a:rPr lang="el-GR" sz="1800" dirty="0"/>
              <a:t>λ</a:t>
            </a:r>
            <a:r>
              <a:rPr lang="en-GB" sz="1800" dirty="0"/>
              <a:t>: Q ×</a:t>
            </a:r>
            <a:r>
              <a:rPr lang="el-GR" sz="1800" dirty="0"/>
              <a:t> Σ </a:t>
            </a:r>
            <a:r>
              <a:rPr lang="en-GB" sz="1800" dirty="0"/>
              <a:t>→ </a:t>
            </a:r>
            <a:r>
              <a:rPr lang="el-GR" sz="1800" dirty="0"/>
              <a:t>Δ</a:t>
            </a:r>
            <a:r>
              <a:rPr lang="en-GB" sz="1800" dirty="0"/>
              <a:t> je v</a:t>
            </a:r>
            <a:r>
              <a:rPr lang="cs-CZ" sz="1800" dirty="0" err="1"/>
              <a:t>ýstupní</a:t>
            </a:r>
            <a:r>
              <a:rPr lang="cs-CZ" sz="1800" dirty="0"/>
              <a:t> funkce.</a:t>
            </a:r>
            <a:endParaRPr lang="en-GB" sz="1800" dirty="0"/>
          </a:p>
          <a:p>
            <a:r>
              <a:rPr lang="en-GB" sz="1800" dirty="0"/>
              <a:t>q</a:t>
            </a:r>
            <a:r>
              <a:rPr lang="en-GB" sz="1800" baseline="-25000" dirty="0"/>
              <a:t>0</a:t>
            </a:r>
            <a:r>
              <a:rPr lang="en-GB" sz="1800" dirty="0"/>
              <a:t> ∈ Q je po</a:t>
            </a:r>
            <a:r>
              <a:rPr lang="cs-CZ" sz="1800" dirty="0" err="1"/>
              <a:t>čáteční</a:t>
            </a:r>
            <a:r>
              <a:rPr lang="cs-CZ" sz="1800" dirty="0"/>
              <a:t> stav.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DB559B4F-258D-7E23-1438-C4953772B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77" y="2133364"/>
            <a:ext cx="3817941" cy="381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836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2DCBA-B40C-031F-6121-B343B92B2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Mooreův automat vs Mealyho automat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41F63D-C792-134A-8189-EC14769006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006688"/>
              </p:ext>
            </p:extLst>
          </p:nvPr>
        </p:nvGraphicFramePr>
        <p:xfrm>
          <a:off x="1763988" y="2481806"/>
          <a:ext cx="8350898" cy="3360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E17B2C2-27E5-62CD-0FFE-F7CBE953B461}"/>
              </a:ext>
            </a:extLst>
          </p:cNvPr>
          <p:cNvSpPr txBox="1"/>
          <p:nvPr/>
        </p:nvSpPr>
        <p:spPr>
          <a:xfrm>
            <a:off x="2324161" y="2250973"/>
            <a:ext cx="2702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Moo</a:t>
            </a:r>
            <a:r>
              <a:rPr lang="en-GB" sz="2400" dirty="0"/>
              <a:t>re</a:t>
            </a:r>
            <a:r>
              <a:rPr lang="cs-CZ" sz="2400" dirty="0" err="1"/>
              <a:t>ův</a:t>
            </a:r>
            <a:r>
              <a:rPr lang="cs-CZ" sz="2400" dirty="0"/>
              <a:t> automat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49F12-6915-16E5-03FA-30D590C33040}"/>
              </a:ext>
            </a:extLst>
          </p:cNvPr>
          <p:cNvSpPr txBox="1"/>
          <p:nvPr/>
        </p:nvSpPr>
        <p:spPr>
          <a:xfrm>
            <a:off x="6981645" y="2180394"/>
            <a:ext cx="2658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 err="1"/>
              <a:t>Mealyho</a:t>
            </a:r>
            <a:r>
              <a:rPr lang="cs-CZ" sz="2400" dirty="0"/>
              <a:t> automat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72922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1A03C-DD1A-6B3D-2A5C-BB6ECAB7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GB" dirty="0" err="1"/>
              <a:t>Turingův</a:t>
            </a:r>
            <a:r>
              <a:rPr lang="en-GB" dirty="0"/>
              <a:t> </a:t>
            </a:r>
            <a:r>
              <a:rPr lang="en-GB" dirty="0" err="1"/>
              <a:t>stroj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75AF4-0592-9797-EED8-993F1D186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GB" sz="1800" dirty="0" err="1"/>
              <a:t>Turingův</a:t>
            </a:r>
            <a:r>
              <a:rPr lang="en-GB" sz="1800" dirty="0"/>
              <a:t> </a:t>
            </a:r>
            <a:r>
              <a:rPr lang="en-GB" sz="1800" dirty="0" err="1"/>
              <a:t>stroj</a:t>
            </a:r>
            <a:r>
              <a:rPr lang="en-GB" sz="1800" dirty="0"/>
              <a:t> je </a:t>
            </a:r>
            <a:r>
              <a:rPr lang="en-GB" sz="1800" dirty="0" err="1"/>
              <a:t>teoretický</a:t>
            </a:r>
            <a:r>
              <a:rPr lang="en-GB" sz="1800" dirty="0"/>
              <a:t> model </a:t>
            </a:r>
            <a:r>
              <a:rPr lang="en-GB" sz="1800" dirty="0" err="1"/>
              <a:t>výpočtu</a:t>
            </a:r>
            <a:r>
              <a:rPr lang="en-GB" sz="1800" dirty="0"/>
              <a:t>, </a:t>
            </a:r>
            <a:r>
              <a:rPr lang="en-GB" sz="1800" dirty="0" err="1"/>
              <a:t>který</a:t>
            </a:r>
            <a:r>
              <a:rPr lang="en-GB" sz="1800" dirty="0"/>
              <a:t> </a:t>
            </a:r>
            <a:r>
              <a:rPr lang="en-GB" sz="1800" dirty="0" err="1"/>
              <a:t>simuluje</a:t>
            </a:r>
            <a:r>
              <a:rPr lang="en-GB" sz="1800" dirty="0"/>
              <a:t> </a:t>
            </a:r>
            <a:r>
              <a:rPr lang="en-GB" sz="1800" dirty="0" err="1"/>
              <a:t>logiku</a:t>
            </a:r>
            <a:r>
              <a:rPr lang="en-GB" sz="1800" dirty="0"/>
              <a:t> </a:t>
            </a:r>
            <a:r>
              <a:rPr lang="en-GB" sz="1800" dirty="0" err="1"/>
              <a:t>jakéhokoli</a:t>
            </a:r>
            <a:r>
              <a:rPr lang="en-GB" sz="1800" dirty="0"/>
              <a:t> </a:t>
            </a:r>
            <a:r>
              <a:rPr lang="en-GB" sz="1800" dirty="0" err="1"/>
              <a:t>algoritmu</a:t>
            </a:r>
            <a:r>
              <a:rPr lang="en-GB" sz="1800" dirty="0"/>
              <a:t>.</a:t>
            </a:r>
          </a:p>
          <a:p>
            <a:r>
              <a:rPr lang="en-GB" sz="1800" dirty="0" err="1"/>
              <a:t>Skládá</a:t>
            </a:r>
            <a:r>
              <a:rPr lang="en-GB" sz="1800" dirty="0"/>
              <a:t> z </a:t>
            </a:r>
            <a:r>
              <a:rPr lang="en-GB" sz="1800" dirty="0" err="1"/>
              <a:t>nekonečné</a:t>
            </a:r>
            <a:r>
              <a:rPr lang="en-GB" sz="1800" dirty="0"/>
              <a:t> </a:t>
            </a:r>
            <a:r>
              <a:rPr lang="en-GB" sz="1800" dirty="0" err="1"/>
              <a:t>pásky</a:t>
            </a:r>
            <a:r>
              <a:rPr lang="en-GB" sz="1800" dirty="0"/>
              <a:t> a </a:t>
            </a:r>
            <a:r>
              <a:rPr lang="en-GB" sz="1800" dirty="0" err="1"/>
              <a:t>hlavy</a:t>
            </a:r>
            <a:r>
              <a:rPr lang="en-GB" sz="1800" dirty="0"/>
              <a:t>, </a:t>
            </a:r>
            <a:r>
              <a:rPr lang="en-GB" sz="1800" dirty="0" err="1"/>
              <a:t>která</a:t>
            </a:r>
            <a:r>
              <a:rPr lang="en-GB" sz="1800" dirty="0"/>
              <a:t> </a:t>
            </a:r>
            <a:r>
              <a:rPr lang="en-GB" sz="1800" dirty="0" err="1"/>
              <a:t>čte</a:t>
            </a:r>
            <a:r>
              <a:rPr lang="en-GB" sz="1800" dirty="0"/>
              <a:t> a </a:t>
            </a:r>
            <a:r>
              <a:rPr lang="en-GB" sz="1800" dirty="0" err="1"/>
              <a:t>zapisuje</a:t>
            </a:r>
            <a:r>
              <a:rPr lang="en-GB" sz="1800" dirty="0"/>
              <a:t> </a:t>
            </a:r>
            <a:r>
              <a:rPr lang="en-GB" sz="1800" dirty="0" err="1"/>
              <a:t>symboly</a:t>
            </a:r>
            <a:r>
              <a:rPr lang="en-GB" sz="1800" dirty="0"/>
              <a:t> </a:t>
            </a:r>
            <a:r>
              <a:rPr lang="en-GB" sz="1800" dirty="0" err="1"/>
              <a:t>na</a:t>
            </a:r>
            <a:r>
              <a:rPr lang="en-GB" sz="1800" dirty="0"/>
              <a:t> </a:t>
            </a:r>
            <a:r>
              <a:rPr lang="en-GB" sz="1800" dirty="0" err="1"/>
              <a:t>pásce</a:t>
            </a:r>
            <a:r>
              <a:rPr lang="en-GB" sz="1800" dirty="0"/>
              <a:t>.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A164BFAD-9052-4884-B895-93B98BAB3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61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DE0F59-6A97-B43E-5E1B-4654C4126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GB" dirty="0" err="1"/>
              <a:t>Vlastnosti</a:t>
            </a:r>
            <a:r>
              <a:rPr lang="en-GB" dirty="0"/>
              <a:t> </a:t>
            </a:r>
            <a:r>
              <a:rPr lang="en-GB" dirty="0" err="1"/>
              <a:t>Turingova</a:t>
            </a:r>
            <a:r>
              <a:rPr lang="en-GB" dirty="0"/>
              <a:t> </a:t>
            </a:r>
            <a:r>
              <a:rPr lang="en-GB" dirty="0" err="1"/>
              <a:t>stroje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CB46FA-1A18-BC37-FC2F-EEBBA923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441273"/>
            <a:ext cx="5385816" cy="3817942"/>
          </a:xfrm>
        </p:spPr>
        <p:txBody>
          <a:bodyPr anchor="t">
            <a:normAutofit/>
          </a:bodyPr>
          <a:lstStyle/>
          <a:p>
            <a:r>
              <a:rPr lang="en-GB" sz="1800"/>
              <a:t>Schopnost simulovat jakýkoli algoritmus, který může být vykonán na počítači.</a:t>
            </a:r>
          </a:p>
          <a:p>
            <a:r>
              <a:rPr lang="en-GB" sz="1800"/>
              <a:t>Základní model pro pochopení pojmu algoritmické řešitelnosti a složitosti.</a:t>
            </a:r>
          </a:p>
        </p:txBody>
      </p:sp>
      <p:pic>
        <p:nvPicPr>
          <p:cNvPr id="14" name="Graphic 13" descr="Checkmark">
            <a:extLst>
              <a:ext uri="{FF2B5EF4-FFF2-40B4-BE49-F238E27FC236}">
                <a16:creationId xmlns:a16="http://schemas.microsoft.com/office/drawing/2014/main" id="{EAE8D268-431C-9812-C178-9B5952761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78" y="2441274"/>
            <a:ext cx="3817941" cy="381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52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356FF9-A692-687F-0C62-98F25D38C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GB" dirty="0" err="1"/>
              <a:t>Časová</a:t>
            </a:r>
            <a:r>
              <a:rPr lang="en-GB" dirty="0"/>
              <a:t> </a:t>
            </a:r>
            <a:r>
              <a:rPr lang="en-GB" dirty="0" err="1"/>
              <a:t>složitost</a:t>
            </a:r>
            <a:r>
              <a:rPr lang="en-GB" dirty="0"/>
              <a:t> </a:t>
            </a:r>
            <a:r>
              <a:rPr lang="en-GB" dirty="0" err="1"/>
              <a:t>algoritmů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06710-2BEC-7019-147F-98E17F372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GB" sz="1800" dirty="0" err="1"/>
              <a:t>Časová</a:t>
            </a:r>
            <a:r>
              <a:rPr lang="en-GB" sz="1800" dirty="0"/>
              <a:t> </a:t>
            </a:r>
            <a:r>
              <a:rPr lang="en-GB" sz="1800" dirty="0" err="1"/>
              <a:t>složitost</a:t>
            </a:r>
            <a:r>
              <a:rPr lang="en-GB" sz="1800" dirty="0"/>
              <a:t> </a:t>
            </a:r>
            <a:r>
              <a:rPr lang="en-GB" sz="1800" dirty="0" err="1"/>
              <a:t>určuje</a:t>
            </a:r>
            <a:r>
              <a:rPr lang="en-GB" sz="1800" dirty="0"/>
              <a:t>, jak se </a:t>
            </a:r>
            <a:r>
              <a:rPr lang="en-GB" sz="1800" dirty="0" err="1"/>
              <a:t>doba</a:t>
            </a:r>
            <a:r>
              <a:rPr lang="en-GB" sz="1800" dirty="0"/>
              <a:t> </a:t>
            </a:r>
            <a:r>
              <a:rPr lang="en-GB" sz="1800" dirty="0" err="1"/>
              <a:t>běhu</a:t>
            </a:r>
            <a:r>
              <a:rPr lang="en-GB" sz="1800" dirty="0"/>
              <a:t> </a:t>
            </a:r>
            <a:r>
              <a:rPr lang="en-GB" sz="1800" dirty="0" err="1"/>
              <a:t>algoritmu</a:t>
            </a:r>
            <a:r>
              <a:rPr lang="en-GB" sz="1800" dirty="0"/>
              <a:t> </a:t>
            </a:r>
            <a:r>
              <a:rPr lang="en-GB" sz="1800" dirty="0" err="1"/>
              <a:t>mění</a:t>
            </a:r>
            <a:r>
              <a:rPr lang="en-GB" sz="1800" dirty="0"/>
              <a:t> s </a:t>
            </a:r>
            <a:r>
              <a:rPr lang="en-GB" sz="1800" dirty="0" err="1"/>
              <a:t>velikostí</a:t>
            </a:r>
            <a:r>
              <a:rPr lang="en-GB" sz="1800" dirty="0"/>
              <a:t> </a:t>
            </a:r>
            <a:r>
              <a:rPr lang="en-GB" sz="1800" dirty="0" err="1"/>
              <a:t>vstupu</a:t>
            </a:r>
            <a:r>
              <a:rPr lang="en-GB" sz="1800" dirty="0"/>
              <a:t>.</a:t>
            </a:r>
          </a:p>
          <a:p>
            <a:r>
              <a:rPr lang="en-GB" sz="1800" dirty="0" err="1"/>
              <a:t>Základní</a:t>
            </a:r>
            <a:r>
              <a:rPr lang="en-GB" sz="1800" dirty="0"/>
              <a:t> </a:t>
            </a:r>
            <a:r>
              <a:rPr lang="en-GB" sz="1800" dirty="0" err="1"/>
              <a:t>třídy</a:t>
            </a:r>
            <a:r>
              <a:rPr lang="en-GB" sz="1800" dirty="0"/>
              <a:t>: O(1), O(n), O(n^2), </a:t>
            </a:r>
            <a:r>
              <a:rPr lang="cs-CZ" sz="1800" dirty="0"/>
              <a:t>  </a:t>
            </a:r>
            <a:r>
              <a:rPr lang="en-GB" sz="1800" dirty="0"/>
              <a:t>O(log n) </a:t>
            </a:r>
            <a:r>
              <a:rPr lang="en-GB" sz="1800" dirty="0" err="1"/>
              <a:t>atd</a:t>
            </a:r>
            <a:r>
              <a:rPr lang="en-GB" sz="1800" dirty="0"/>
              <a:t>.</a:t>
            </a:r>
          </a:p>
        </p:txBody>
      </p:sp>
      <p:pic>
        <p:nvPicPr>
          <p:cNvPr id="8" name="Picture 7" descr="A graph with colored lines&#10;&#10;AI-generated content may be incorrect.">
            <a:extLst>
              <a:ext uri="{FF2B5EF4-FFF2-40B4-BE49-F238E27FC236}">
                <a16:creationId xmlns:a16="http://schemas.microsoft.com/office/drawing/2014/main" id="{7A814ED1-3B76-F8CB-F4A2-B69C9E101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575" y="752475"/>
            <a:ext cx="5353050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23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2CD8D-4561-43E0-ACA4-622B9DDD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Druhy</a:t>
            </a:r>
            <a:r>
              <a:rPr lang="en-GB" dirty="0"/>
              <a:t> </a:t>
            </a:r>
            <a:r>
              <a:rPr lang="en-GB" dirty="0" err="1"/>
              <a:t>algoritmů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8AE57-89EA-36E3-4FE1-25F9EB684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 err="1"/>
              <a:t>Rozděl</a:t>
            </a:r>
            <a:r>
              <a:rPr lang="en-GB" b="1" dirty="0"/>
              <a:t> a </a:t>
            </a:r>
            <a:r>
              <a:rPr lang="en-GB" b="1" dirty="0" err="1"/>
              <a:t>panuj</a:t>
            </a:r>
            <a:r>
              <a:rPr lang="en-GB" b="1" dirty="0"/>
              <a:t> (Divide and Conquer)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Problém</a:t>
            </a:r>
            <a:r>
              <a:rPr lang="en-GB" dirty="0"/>
              <a:t> je </a:t>
            </a:r>
            <a:r>
              <a:rPr lang="en-GB" dirty="0" err="1"/>
              <a:t>rozdělen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menší</a:t>
            </a:r>
            <a:r>
              <a:rPr lang="en-GB" dirty="0"/>
              <a:t> </a:t>
            </a:r>
            <a:r>
              <a:rPr lang="en-GB" dirty="0" err="1"/>
              <a:t>podproblémy</a:t>
            </a:r>
            <a:r>
              <a:rPr lang="en-GB" dirty="0"/>
              <a:t>, </a:t>
            </a:r>
            <a:r>
              <a:rPr lang="en-GB" dirty="0" err="1"/>
              <a:t>které</a:t>
            </a:r>
            <a:r>
              <a:rPr lang="en-GB" dirty="0"/>
              <a:t> se </a:t>
            </a:r>
            <a:r>
              <a:rPr lang="en-GB" dirty="0" err="1"/>
              <a:t>řeší</a:t>
            </a:r>
            <a:r>
              <a:rPr lang="en-GB" dirty="0"/>
              <a:t> </a:t>
            </a:r>
            <a:r>
              <a:rPr lang="en-GB" dirty="0" err="1"/>
              <a:t>samostatně</a:t>
            </a:r>
            <a:r>
              <a:rPr lang="en-GB" dirty="0"/>
              <a:t>, a </a:t>
            </a:r>
            <a:r>
              <a:rPr lang="en-GB" dirty="0" err="1"/>
              <a:t>výsledky</a:t>
            </a:r>
            <a:r>
              <a:rPr lang="en-GB" dirty="0"/>
              <a:t> </a:t>
            </a:r>
            <a:r>
              <a:rPr lang="en-GB" dirty="0" err="1"/>
              <a:t>těchto</a:t>
            </a:r>
            <a:r>
              <a:rPr lang="en-GB" dirty="0"/>
              <a:t> </a:t>
            </a:r>
            <a:r>
              <a:rPr lang="en-GB" dirty="0" err="1"/>
              <a:t>podproblémů</a:t>
            </a:r>
            <a:r>
              <a:rPr lang="en-GB" dirty="0"/>
              <a:t> se </a:t>
            </a:r>
            <a:r>
              <a:rPr lang="en-GB" dirty="0" err="1"/>
              <a:t>kombinují</a:t>
            </a:r>
            <a:r>
              <a:rPr lang="en-GB" dirty="0"/>
              <a:t> do </a:t>
            </a:r>
            <a:r>
              <a:rPr lang="en-GB" dirty="0" err="1"/>
              <a:t>finálního</a:t>
            </a:r>
            <a:r>
              <a:rPr lang="en-GB" dirty="0"/>
              <a:t> </a:t>
            </a:r>
            <a:r>
              <a:rPr lang="en-GB" dirty="0" err="1"/>
              <a:t>řešení</a:t>
            </a:r>
            <a:r>
              <a:rPr lang="en-GB" dirty="0"/>
              <a:t>.</a:t>
            </a:r>
          </a:p>
          <a:p>
            <a:pPr>
              <a:buNone/>
            </a:pPr>
            <a:r>
              <a:rPr lang="en-GB" b="1" dirty="0" err="1"/>
              <a:t>Hladový</a:t>
            </a:r>
            <a:r>
              <a:rPr lang="en-GB" b="1" dirty="0"/>
              <a:t> </a:t>
            </a:r>
            <a:r>
              <a:rPr lang="en-GB" b="1" dirty="0" err="1"/>
              <a:t>algoritmus</a:t>
            </a:r>
            <a:r>
              <a:rPr lang="en-GB" b="1" dirty="0"/>
              <a:t> (Greedy Algorithm)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 </a:t>
            </a:r>
            <a:r>
              <a:rPr lang="en-GB" dirty="0" err="1"/>
              <a:t>každém</a:t>
            </a:r>
            <a:r>
              <a:rPr lang="en-GB" dirty="0"/>
              <a:t> </a:t>
            </a:r>
            <a:r>
              <a:rPr lang="en-GB" dirty="0" err="1"/>
              <a:t>kroku</a:t>
            </a:r>
            <a:r>
              <a:rPr lang="en-GB" dirty="0"/>
              <a:t> se </a:t>
            </a:r>
            <a:r>
              <a:rPr lang="en-GB" dirty="0" err="1"/>
              <a:t>vybírá</a:t>
            </a:r>
            <a:r>
              <a:rPr lang="en-GB" dirty="0"/>
              <a:t> </a:t>
            </a:r>
            <a:r>
              <a:rPr lang="en-GB" dirty="0" err="1"/>
              <a:t>nejlepší</a:t>
            </a:r>
            <a:r>
              <a:rPr lang="en-GB" dirty="0"/>
              <a:t> </a:t>
            </a:r>
            <a:r>
              <a:rPr lang="en-GB" dirty="0" err="1"/>
              <a:t>možná</a:t>
            </a:r>
            <a:r>
              <a:rPr lang="en-GB" dirty="0"/>
              <a:t> </a:t>
            </a:r>
            <a:r>
              <a:rPr lang="en-GB" dirty="0" err="1"/>
              <a:t>volba</a:t>
            </a:r>
            <a:r>
              <a:rPr lang="en-GB" dirty="0"/>
              <a:t> bez </a:t>
            </a:r>
            <a:r>
              <a:rPr lang="en-GB" dirty="0" err="1"/>
              <a:t>ohledu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celkový</a:t>
            </a:r>
            <a:r>
              <a:rPr lang="en-GB" dirty="0"/>
              <a:t> </a:t>
            </a:r>
            <a:r>
              <a:rPr lang="en-GB" dirty="0" err="1"/>
              <a:t>kontext</a:t>
            </a:r>
            <a:r>
              <a:rPr lang="en-GB" dirty="0"/>
              <a:t>, s </a:t>
            </a:r>
            <a:r>
              <a:rPr lang="en-GB" dirty="0" err="1"/>
              <a:t>cílem</a:t>
            </a:r>
            <a:r>
              <a:rPr lang="en-GB" dirty="0"/>
              <a:t> </a:t>
            </a:r>
            <a:r>
              <a:rPr lang="en-GB" dirty="0" err="1"/>
              <a:t>dosáhnout</a:t>
            </a:r>
            <a:r>
              <a:rPr lang="en-GB" dirty="0"/>
              <a:t> </a:t>
            </a:r>
            <a:r>
              <a:rPr lang="en-GB" dirty="0" err="1"/>
              <a:t>optimálního</a:t>
            </a:r>
            <a:r>
              <a:rPr lang="en-GB" dirty="0"/>
              <a:t> </a:t>
            </a:r>
            <a:r>
              <a:rPr lang="en-GB" dirty="0" err="1"/>
              <a:t>řešení</a:t>
            </a:r>
            <a:r>
              <a:rPr lang="en-GB" dirty="0"/>
              <a:t>.</a:t>
            </a:r>
          </a:p>
          <a:p>
            <a:pPr>
              <a:buNone/>
            </a:pPr>
            <a:r>
              <a:rPr lang="en-GB" b="1" dirty="0" err="1"/>
              <a:t>Dynamické</a:t>
            </a:r>
            <a:r>
              <a:rPr lang="en-GB" b="1" dirty="0"/>
              <a:t> </a:t>
            </a:r>
            <a:r>
              <a:rPr lang="en-GB" b="1" dirty="0" err="1"/>
              <a:t>programování</a:t>
            </a:r>
            <a:r>
              <a:rPr lang="en-GB" b="1" dirty="0"/>
              <a:t> (Dynamic Programming)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Rozděluje</a:t>
            </a:r>
            <a:r>
              <a:rPr lang="en-GB" dirty="0"/>
              <a:t> </a:t>
            </a:r>
            <a:r>
              <a:rPr lang="en-GB" dirty="0" err="1"/>
              <a:t>problém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menší</a:t>
            </a:r>
            <a:r>
              <a:rPr lang="en-GB" dirty="0"/>
              <a:t> </a:t>
            </a:r>
            <a:r>
              <a:rPr lang="en-GB" dirty="0" err="1"/>
              <a:t>podproblémy</a:t>
            </a:r>
            <a:r>
              <a:rPr lang="en-GB" dirty="0"/>
              <a:t>, </a:t>
            </a:r>
            <a:r>
              <a:rPr lang="en-GB" dirty="0" err="1"/>
              <a:t>jejichž</a:t>
            </a:r>
            <a:r>
              <a:rPr lang="en-GB" dirty="0"/>
              <a:t> </a:t>
            </a:r>
            <a:r>
              <a:rPr lang="en-GB" dirty="0" err="1"/>
              <a:t>výsledky</a:t>
            </a:r>
            <a:r>
              <a:rPr lang="en-GB" dirty="0"/>
              <a:t> se </a:t>
            </a:r>
            <a:r>
              <a:rPr lang="en-GB" dirty="0" err="1"/>
              <a:t>ukládají</a:t>
            </a:r>
            <a:r>
              <a:rPr lang="en-GB" dirty="0"/>
              <a:t>, aby se </a:t>
            </a:r>
            <a:r>
              <a:rPr lang="en-GB" dirty="0" err="1"/>
              <a:t>předešlo</a:t>
            </a:r>
            <a:r>
              <a:rPr lang="en-GB" dirty="0"/>
              <a:t> </a:t>
            </a:r>
            <a:r>
              <a:rPr lang="en-GB" dirty="0" err="1"/>
              <a:t>jejich</a:t>
            </a:r>
            <a:r>
              <a:rPr lang="en-GB" dirty="0"/>
              <a:t> </a:t>
            </a:r>
            <a:r>
              <a:rPr lang="en-GB" dirty="0" err="1"/>
              <a:t>opětovnému</a:t>
            </a:r>
            <a:r>
              <a:rPr lang="en-GB" dirty="0"/>
              <a:t> </a:t>
            </a:r>
            <a:r>
              <a:rPr lang="en-GB" dirty="0" err="1"/>
              <a:t>výpočtu</a:t>
            </a:r>
            <a:r>
              <a:rPr lang="en-GB" dirty="0"/>
              <a:t>. </a:t>
            </a:r>
            <a:r>
              <a:rPr lang="en-GB" dirty="0" err="1"/>
              <a:t>Používá</a:t>
            </a:r>
            <a:r>
              <a:rPr lang="en-GB" dirty="0"/>
              <a:t> se pro </a:t>
            </a:r>
            <a:r>
              <a:rPr lang="en-GB" dirty="0" err="1"/>
              <a:t>optimalizační</a:t>
            </a:r>
            <a:r>
              <a:rPr lang="en-GB" dirty="0"/>
              <a:t> </a:t>
            </a:r>
            <a:r>
              <a:rPr lang="en-GB" dirty="0" err="1"/>
              <a:t>problémy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8953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F093-F7EE-7833-96DB-5A6393F9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Druhy</a:t>
            </a:r>
            <a:r>
              <a:rPr lang="en-GB" dirty="0"/>
              <a:t> </a:t>
            </a:r>
            <a:r>
              <a:rPr lang="en-GB" dirty="0" err="1"/>
              <a:t>algoritm</a:t>
            </a:r>
            <a:r>
              <a:rPr lang="cs-CZ" dirty="0"/>
              <a:t>ů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08D15-C453-3C25-0396-32061EB92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 err="1"/>
              <a:t>Použití</a:t>
            </a:r>
            <a:r>
              <a:rPr lang="en-GB" b="1" dirty="0"/>
              <a:t> </a:t>
            </a:r>
            <a:r>
              <a:rPr lang="en-GB" b="1" dirty="0" err="1"/>
              <a:t>hrubé</a:t>
            </a:r>
            <a:r>
              <a:rPr lang="en-GB" b="1" dirty="0"/>
              <a:t> </a:t>
            </a:r>
            <a:r>
              <a:rPr lang="en-GB" b="1" dirty="0" err="1"/>
              <a:t>síly</a:t>
            </a:r>
            <a:r>
              <a:rPr lang="en-GB" b="1" dirty="0"/>
              <a:t> (Brute Force)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Tento</a:t>
            </a:r>
            <a:r>
              <a:rPr lang="en-GB" dirty="0"/>
              <a:t> </a:t>
            </a:r>
            <a:r>
              <a:rPr lang="en-GB" dirty="0" err="1"/>
              <a:t>algoritmus</a:t>
            </a:r>
            <a:r>
              <a:rPr lang="en-GB" dirty="0"/>
              <a:t> </a:t>
            </a:r>
            <a:r>
              <a:rPr lang="en-GB" dirty="0" err="1"/>
              <a:t>prozkoumává</a:t>
            </a:r>
            <a:r>
              <a:rPr lang="en-GB" dirty="0"/>
              <a:t> </a:t>
            </a:r>
            <a:r>
              <a:rPr lang="en-GB" dirty="0" err="1"/>
              <a:t>všechny</a:t>
            </a:r>
            <a:r>
              <a:rPr lang="en-GB" dirty="0"/>
              <a:t> </a:t>
            </a:r>
            <a:r>
              <a:rPr lang="en-GB" dirty="0" err="1"/>
              <a:t>možné</a:t>
            </a:r>
            <a:r>
              <a:rPr lang="en-GB" dirty="0"/>
              <a:t> </a:t>
            </a:r>
            <a:r>
              <a:rPr lang="en-GB" dirty="0" err="1"/>
              <a:t>možnosti</a:t>
            </a:r>
            <a:r>
              <a:rPr lang="en-GB" dirty="0"/>
              <a:t> a </a:t>
            </a:r>
            <a:r>
              <a:rPr lang="en-GB" dirty="0" err="1"/>
              <a:t>hledá</a:t>
            </a:r>
            <a:r>
              <a:rPr lang="en-GB" dirty="0"/>
              <a:t> </a:t>
            </a:r>
            <a:r>
              <a:rPr lang="en-GB" dirty="0" err="1"/>
              <a:t>řešení</a:t>
            </a:r>
            <a:r>
              <a:rPr lang="en-GB" dirty="0"/>
              <a:t> </a:t>
            </a:r>
            <a:r>
              <a:rPr lang="en-GB" dirty="0" err="1"/>
              <a:t>tím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vyzkouší</a:t>
            </a:r>
            <a:r>
              <a:rPr lang="en-GB" dirty="0"/>
              <a:t> </a:t>
            </a:r>
            <a:r>
              <a:rPr lang="en-GB" dirty="0" err="1"/>
              <a:t>všechny</a:t>
            </a:r>
            <a:r>
              <a:rPr lang="en-GB" dirty="0"/>
              <a:t> </a:t>
            </a:r>
            <a:r>
              <a:rPr lang="en-GB" dirty="0" err="1"/>
              <a:t>kombinace</a:t>
            </a:r>
            <a:r>
              <a:rPr lang="en-GB" dirty="0"/>
              <a:t>.</a:t>
            </a:r>
          </a:p>
          <a:p>
            <a:pPr>
              <a:buNone/>
            </a:pPr>
            <a:r>
              <a:rPr lang="en-GB" b="1" dirty="0" err="1"/>
              <a:t>Hledání</a:t>
            </a:r>
            <a:r>
              <a:rPr lang="en-GB" b="1" dirty="0"/>
              <a:t> s </a:t>
            </a:r>
            <a:r>
              <a:rPr lang="en-GB" b="1" dirty="0" err="1"/>
              <a:t>návratem</a:t>
            </a:r>
            <a:r>
              <a:rPr lang="en-GB" b="1" dirty="0"/>
              <a:t> (Backtracking)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Algoritmus</a:t>
            </a:r>
            <a:r>
              <a:rPr lang="en-GB" dirty="0"/>
              <a:t> </a:t>
            </a:r>
            <a:r>
              <a:rPr lang="en-GB" dirty="0" err="1"/>
              <a:t>zkouší</a:t>
            </a:r>
            <a:r>
              <a:rPr lang="en-GB" dirty="0"/>
              <a:t> </a:t>
            </a:r>
            <a:r>
              <a:rPr lang="en-GB" dirty="0" err="1"/>
              <a:t>různé</a:t>
            </a:r>
            <a:r>
              <a:rPr lang="en-GB" dirty="0"/>
              <a:t> </a:t>
            </a:r>
            <a:r>
              <a:rPr lang="en-GB" dirty="0" err="1"/>
              <a:t>možnosti</a:t>
            </a:r>
            <a:r>
              <a:rPr lang="en-GB" dirty="0"/>
              <a:t> a </a:t>
            </a:r>
            <a:r>
              <a:rPr lang="en-GB" dirty="0" err="1"/>
              <a:t>vrací</a:t>
            </a:r>
            <a:r>
              <a:rPr lang="en-GB" dirty="0"/>
              <a:t> se </a:t>
            </a:r>
            <a:r>
              <a:rPr lang="en-GB" dirty="0" err="1"/>
              <a:t>zpět</a:t>
            </a:r>
            <a:r>
              <a:rPr lang="en-GB" dirty="0"/>
              <a:t>, </a:t>
            </a:r>
            <a:r>
              <a:rPr lang="en-GB" dirty="0" err="1"/>
              <a:t>pokud</a:t>
            </a:r>
            <a:r>
              <a:rPr lang="en-GB" dirty="0"/>
              <a:t> </a:t>
            </a:r>
            <a:r>
              <a:rPr lang="en-GB" dirty="0" err="1"/>
              <a:t>zjistí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daná</a:t>
            </a:r>
            <a:r>
              <a:rPr lang="en-GB" dirty="0"/>
              <a:t> </a:t>
            </a:r>
            <a:r>
              <a:rPr lang="en-GB" dirty="0" err="1"/>
              <a:t>možnost</a:t>
            </a:r>
            <a:r>
              <a:rPr lang="en-GB" dirty="0"/>
              <a:t> </a:t>
            </a:r>
            <a:r>
              <a:rPr lang="en-GB" dirty="0" err="1"/>
              <a:t>nevede</a:t>
            </a:r>
            <a:r>
              <a:rPr lang="en-GB" dirty="0"/>
              <a:t> k </a:t>
            </a:r>
            <a:r>
              <a:rPr lang="en-GB" dirty="0" err="1"/>
              <a:t>řešení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96776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66FEEE5F48AD4681024082CD4E6082" ma:contentTypeVersion="11" ma:contentTypeDescription="Create a new document." ma:contentTypeScope="" ma:versionID="d1457a4a11af90c20ca2e3e4fa4a06d8">
  <xsd:schema xmlns:xsd="http://www.w3.org/2001/XMLSchema" xmlns:xs="http://www.w3.org/2001/XMLSchema" xmlns:p="http://schemas.microsoft.com/office/2006/metadata/properties" xmlns:ns2="56f66b51-0c61-4da8-9d6e-b8db00b12de2" xmlns:ns3="084efd27-671c-4a3e-a1f9-193c3664239c" targetNamespace="http://schemas.microsoft.com/office/2006/metadata/properties" ma:root="true" ma:fieldsID="9fd7494b5b9ea1ffa9852dd1e2045478" ns2:_="" ns3:_="">
    <xsd:import namespace="56f66b51-0c61-4da8-9d6e-b8db00b12de2"/>
    <xsd:import namespace="084efd27-671c-4a3e-a1f9-193c366423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66b51-0c61-4da8-9d6e-b8db00b12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efd27-671c-4a3e-a1f9-193c3664239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9bef40-6bc0-44a3-b004-108519b05bb9}" ma:internalName="TaxCatchAll" ma:showField="CatchAllData" ma:web="084efd27-671c-4a3e-a1f9-193c366423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f66b51-0c61-4da8-9d6e-b8db00b12de2">
      <Terms xmlns="http://schemas.microsoft.com/office/infopath/2007/PartnerControls"/>
    </lcf76f155ced4ddcb4097134ff3c332f>
    <TaxCatchAll xmlns="084efd27-671c-4a3e-a1f9-193c3664239c" xsi:nil="true"/>
  </documentManagement>
</p:properties>
</file>

<file path=customXml/itemProps1.xml><?xml version="1.0" encoding="utf-8"?>
<ds:datastoreItem xmlns:ds="http://schemas.openxmlformats.org/officeDocument/2006/customXml" ds:itemID="{FC6FCB12-2B71-4BB0-A425-B3C558CCF2C1}"/>
</file>

<file path=customXml/itemProps2.xml><?xml version="1.0" encoding="utf-8"?>
<ds:datastoreItem xmlns:ds="http://schemas.openxmlformats.org/officeDocument/2006/customXml" ds:itemID="{76C6AC17-C2F3-44E9-A912-5BA1879202D1}"/>
</file>

<file path=customXml/itemProps3.xml><?xml version="1.0" encoding="utf-8"?>
<ds:datastoreItem xmlns:ds="http://schemas.openxmlformats.org/officeDocument/2006/customXml" ds:itemID="{C6767FAC-F1A4-412A-933C-8CC0F743AD6D}"/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484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VanillaVTI</vt:lpstr>
      <vt:lpstr>Teoretické výpočetní modely</vt:lpstr>
      <vt:lpstr>Mooreův automat</vt:lpstr>
      <vt:lpstr>Vlastnosti Mooreova automatu</vt:lpstr>
      <vt:lpstr>Mealyho automat</vt:lpstr>
      <vt:lpstr>Vlastnosti Mealyho automatu</vt:lpstr>
      <vt:lpstr>Mooreův automat vs Mealyho automat</vt:lpstr>
      <vt:lpstr>Turingův stroj</vt:lpstr>
      <vt:lpstr>Vlastnosti Turingova stroje</vt:lpstr>
      <vt:lpstr>Časová složitost algoritmů</vt:lpstr>
      <vt:lpstr>Druhy algoritmů</vt:lpstr>
      <vt:lpstr>Druhy algoritmů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ylxzfa</dc:creator>
  <cp:lastModifiedBy>ylxzfa</cp:lastModifiedBy>
  <cp:revision>3</cp:revision>
  <dcterms:created xsi:type="dcterms:W3CDTF">2025-03-10T22:17:34Z</dcterms:created>
  <dcterms:modified xsi:type="dcterms:W3CDTF">2025-03-10T23:07:50Z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0x0101001066FEEE5F48AD4681024082CD4E6082</vt:lpwstr>
  </property>
</Properties>
</file>