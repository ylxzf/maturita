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5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512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60E10-6B16-5807-A723-7E5FBA767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0EF9DD-6CCE-F0EF-A165-A35227020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FC0116-4DE9-6511-415C-2446B83B4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ED33D-C7A9-DE1E-6B62-10D4D8613E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481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138720"/>
            <a:ext cx="67140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Objekty, Atributy, Metody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3187658"/>
            <a:ext cx="8610938" cy="4807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Java je objektově orientovaný jazyk. Umožňuje sice "strukturované"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programován</a:t>
            </a:r>
            <a:r>
              <a:rPr lang="cs-CZ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í,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ale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kód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musí</a:t>
            </a:r>
            <a:r>
              <a:rPr lang="cs-CZ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být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"obalen" nějakou třídou. </a:t>
            </a:r>
            <a:endParaRPr lang="cs-CZ" sz="1750" kern="0" spc="-36" dirty="0">
              <a:solidFill>
                <a:srgbClr val="E5E0DF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Základním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stavebním kamenem je: </a:t>
            </a:r>
            <a:r>
              <a:rPr lang="en-US" sz="1750" b="1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objekt</a:t>
            </a:r>
            <a:endParaRPr lang="cs-CZ" sz="1750" kern="0" spc="-36" dirty="0">
              <a:solidFill>
                <a:srgbClr val="E5E0DF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Objekty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jsou prvky modelované reality. Objekty si pamatují svůj stav a navenek poskytují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operace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cs-CZ" sz="1750" kern="0" spc="-36" dirty="0">
              <a:solidFill>
                <a:srgbClr val="E5E0DF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Objekt vytvoříme z: </a:t>
            </a:r>
            <a:r>
              <a:rPr lang="en-US" sz="1750" b="1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třídy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endParaRPr lang="cs-CZ" sz="1750" kern="0" spc="-36" dirty="0">
              <a:solidFill>
                <a:srgbClr val="E5E0DF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Třída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je šablona / předpis jak bude objekt vypadat (tedy jaká si ponese data) a co bude umět (tedy jaké bude mít metody). </a:t>
            </a:r>
            <a:endParaRPr lang="cs-CZ" sz="1750" kern="0" spc="-36" dirty="0">
              <a:solidFill>
                <a:srgbClr val="E5E0DF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Konkrétní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pojmenovaná realizace nějakého objektu se nazývá: </a:t>
            </a:r>
            <a:r>
              <a:rPr lang="en-US" sz="1750" b="1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instance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cs-CZ" sz="1750" kern="0" spc="-36" dirty="0">
              <a:solidFill>
                <a:srgbClr val="E5E0DF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Instance má své jméno, svá data a mohou na ní být volány její metody.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80AA6F0F-DC1D-2727-CC39-195882193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4729" y="4081364"/>
            <a:ext cx="4286848" cy="2124371"/>
          </a:xfrm>
          <a:prstGeom prst="rect">
            <a:avLst/>
          </a:prstGeom>
        </p:spPr>
      </p:pic>
      <p:sp>
        <p:nvSpPr>
          <p:cNvPr id="7" name="Obdélník 6">
            <a:extLst>
              <a:ext uri="{FF2B5EF4-FFF2-40B4-BE49-F238E27FC236}">
                <a16:creationId xmlns:a16="http://schemas.microsoft.com/office/drawing/2014/main" id="{D650CDEB-6892-3A83-1DB3-7543EF8719CD}"/>
              </a:ext>
            </a:extLst>
          </p:cNvPr>
          <p:cNvSpPr/>
          <p:nvPr/>
        </p:nvSpPr>
        <p:spPr>
          <a:xfrm>
            <a:off x="12811874" y="7654247"/>
            <a:ext cx="1818526" cy="57535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Filip Hájek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32704"/>
            <a:ext cx="69286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Instance, vytváření, rušení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9084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Vytváření instancí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489603"/>
            <a:ext cx="6342990" cy="1585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Instance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vytváříme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z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tříd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pomocí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tzv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 </a:t>
            </a:r>
            <a:r>
              <a:rPr lang="en-US" sz="1750" b="1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konstruktoru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cs-CZ" sz="1750" kern="0" spc="-36" dirty="0">
              <a:solidFill>
                <a:srgbClr val="E5E0DF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Konstruktor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je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metoda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která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se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jmenuje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stejně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jako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třída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 po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jeho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doběhnutí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vznikne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nová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instance. </a:t>
            </a:r>
            <a:endParaRPr lang="cs-CZ" sz="1750" kern="0" spc="-36" dirty="0">
              <a:solidFill>
                <a:srgbClr val="E5E0DF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Konstruktor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zavoláme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pomocí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operátoru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</a:t>
            </a:r>
            <a:r>
              <a:rPr lang="en-US" sz="1750" b="1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new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 </a:t>
            </a:r>
            <a:endParaRPr lang="cs-CZ" sz="1750" kern="0" spc="-36" dirty="0">
              <a:solidFill>
                <a:srgbClr val="E5E0DF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</p:txBody>
      </p:sp>
      <p:pic>
        <p:nvPicPr>
          <p:cNvPr id="15" name="Obrázek 14">
            <a:extLst>
              <a:ext uri="{FF2B5EF4-FFF2-40B4-BE49-F238E27FC236}">
                <a16:creationId xmlns:a16="http://schemas.microsoft.com/office/drawing/2014/main" id="{2FD791F1-FAD0-7971-1577-D9BB70435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6316" y="2319087"/>
            <a:ext cx="3334215" cy="3591426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D8991D3D-7397-2C14-4F12-A878A2DCE9E3}"/>
              </a:ext>
            </a:extLst>
          </p:cNvPr>
          <p:cNvSpPr/>
          <p:nvPr/>
        </p:nvSpPr>
        <p:spPr>
          <a:xfrm>
            <a:off x="12811874" y="7654247"/>
            <a:ext cx="1818526" cy="57535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Filip Hájek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24D8-4AB4-32F7-8FE0-242E5F99B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FF10ED5-E2AE-0E49-DCB6-BF751F1B5EEE}"/>
              </a:ext>
            </a:extLst>
          </p:cNvPr>
          <p:cNvSpPr/>
          <p:nvPr/>
        </p:nvSpPr>
        <p:spPr>
          <a:xfrm>
            <a:off x="793790" y="1632704"/>
            <a:ext cx="69286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Instance, vytváření, rušení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BAC0007-D451-31AB-67A1-59706C7E610D}"/>
              </a:ext>
            </a:extLst>
          </p:cNvPr>
          <p:cNvSpPr/>
          <p:nvPr/>
        </p:nvSpPr>
        <p:spPr>
          <a:xfrm>
            <a:off x="931593" y="29959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Rušení instancí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F6A670A-2454-A7DE-A6A5-03C2D6FDFA86}"/>
              </a:ext>
            </a:extLst>
          </p:cNvPr>
          <p:cNvSpPr/>
          <p:nvPr/>
        </p:nvSpPr>
        <p:spPr>
          <a:xfrm>
            <a:off x="931593" y="3777280"/>
            <a:ext cx="6244709" cy="3281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 Javě se o uvolnění paměti po nepotřebných instancích stará rutina nazývaná: </a:t>
            </a:r>
            <a:r>
              <a:rPr lang="en-US" sz="1750" b="1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garbage collector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 </a:t>
            </a:r>
            <a:endParaRPr lang="cs-CZ" sz="1750" kern="0" spc="-36" dirty="0">
              <a:solidFill>
                <a:srgbClr val="E5E0DF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Je to program který si virtuální stroj spouští sám a který vyhledává nepotřebné instance a vrací paměť která pro ně použita zpět k dalšímu využití (uvolňuje ji). </a:t>
            </a:r>
            <a:endParaRPr lang="cs-CZ" sz="1750" kern="0" spc="-36" dirty="0">
              <a:solidFill>
                <a:srgbClr val="E5E0DF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E32689E9-3F44-53C3-8911-9AFBBF6B8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496" y="2341483"/>
            <a:ext cx="5830114" cy="4286848"/>
          </a:xfrm>
          <a:prstGeom prst="rect">
            <a:avLst/>
          </a:prstGeom>
        </p:spPr>
      </p:pic>
      <p:sp>
        <p:nvSpPr>
          <p:cNvPr id="3" name="Obdélník 2">
            <a:extLst>
              <a:ext uri="{FF2B5EF4-FFF2-40B4-BE49-F238E27FC236}">
                <a16:creationId xmlns:a16="http://schemas.microsoft.com/office/drawing/2014/main" id="{4D952928-2D65-A78E-C21B-97C448155E7F}"/>
              </a:ext>
            </a:extLst>
          </p:cNvPr>
          <p:cNvSpPr/>
          <p:nvPr/>
        </p:nvSpPr>
        <p:spPr>
          <a:xfrm>
            <a:off x="12811874" y="7654247"/>
            <a:ext cx="1818526" cy="57535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Filip Hájek</a:t>
            </a:r>
          </a:p>
        </p:txBody>
      </p:sp>
    </p:spTree>
    <p:extLst>
      <p:ext uri="{BB962C8B-B14F-4D97-AF65-F5344CB8AC3E}">
        <p14:creationId xmlns:p14="http://schemas.microsoft.com/office/powerpoint/2010/main" val="3450182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26339" y="534408"/>
            <a:ext cx="5577721" cy="697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50"/>
              </a:lnSpc>
              <a:buNone/>
            </a:pPr>
            <a:r>
              <a:rPr lang="en-US" sz="4350" b="1" kern="0" spc="-132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Atributy</a:t>
            </a:r>
            <a:endParaRPr lang="en-US" sz="4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33739" y="2454074"/>
            <a:ext cx="501968" cy="501968"/>
          </a:xfrm>
          <a:prstGeom prst="roundRect">
            <a:avLst>
              <a:gd name="adj" fmla="val 1866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2"/>
          <p:cNvSpPr/>
          <p:nvPr/>
        </p:nvSpPr>
        <p:spPr>
          <a:xfrm>
            <a:off x="817571" y="2537656"/>
            <a:ext cx="134303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kern="0" spc="-79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358710" y="2454074"/>
            <a:ext cx="278880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b="1" kern="0" spc="-66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Definice atributů</a:t>
            </a:r>
            <a:endParaRPr lang="en-US" sz="2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358709" y="2936397"/>
            <a:ext cx="3079475" cy="1427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kern="0" spc="-35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Atributy jsou </a:t>
            </a:r>
            <a:r>
              <a:rPr lang="en-US" sz="1750" kern="0" spc="-35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vnitřní</a:t>
            </a:r>
            <a:r>
              <a:rPr lang="en-US" sz="1750" kern="0" spc="-35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cs-CZ" sz="1750" kern="0" spc="-35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proměné</a:t>
            </a:r>
            <a:r>
              <a:rPr lang="cs-CZ" sz="1750" kern="0" spc="-35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5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objektu</a:t>
            </a:r>
            <a:r>
              <a:rPr lang="en-US" sz="1750" kern="0" spc="-35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které mu umožňují pamatovat si svůj stav.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194847" y="5105448"/>
            <a:ext cx="501968" cy="501968"/>
          </a:xfrm>
          <a:prstGeom prst="roundRect">
            <a:avLst>
              <a:gd name="adj" fmla="val 1866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6"/>
          <p:cNvSpPr/>
          <p:nvPr/>
        </p:nvSpPr>
        <p:spPr>
          <a:xfrm>
            <a:off x="4345461" y="5189030"/>
            <a:ext cx="200620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kern="0" spc="-79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919818" y="5105448"/>
            <a:ext cx="278880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b="1" kern="0" spc="-66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Zapouzdření</a:t>
            </a:r>
            <a:endParaRPr lang="en-US" sz="2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919817" y="5587771"/>
            <a:ext cx="5796505" cy="186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kern="0" spc="-35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Jednou z výhod OOP je že data (atributy) jsou pěvně svázány s objektem a je možné k nim zakázat přístup z venčí (z jiné třídy). Této vlastnosti se říká </a:t>
            </a:r>
            <a:r>
              <a:rPr lang="en-US" sz="1750" b="1" kern="0" spc="-35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zapouzdření</a:t>
            </a:r>
            <a:r>
              <a:rPr lang="en-US" sz="1750" kern="0" spc="-35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 v Javě se realizuje pomocí </a:t>
            </a:r>
            <a:r>
              <a:rPr lang="en-US" sz="1750" b="1" kern="0" spc="-35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modifikátorů přístupu</a:t>
            </a:r>
            <a:r>
              <a:rPr lang="en-US" sz="1750" kern="0" spc="-35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618322" y="2447937"/>
            <a:ext cx="443196" cy="501968"/>
          </a:xfrm>
          <a:prstGeom prst="roundRect">
            <a:avLst>
              <a:gd name="adj" fmla="val 1866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0"/>
          <p:cNvSpPr/>
          <p:nvPr/>
        </p:nvSpPr>
        <p:spPr>
          <a:xfrm>
            <a:off x="7766317" y="2531519"/>
            <a:ext cx="181861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kern="0" spc="-79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343294" y="2447937"/>
            <a:ext cx="2462280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b="1" kern="0" spc="-66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Modifikátory přístupu</a:t>
            </a:r>
            <a:endParaRPr lang="en-US" sz="2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343293" y="2930259"/>
            <a:ext cx="6200840" cy="186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kern="0" spc="-35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private - přímý přístup k atributu má pouze </a:t>
            </a:r>
            <a:r>
              <a:rPr lang="en-US" sz="1750" kern="0" spc="-35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třída</a:t>
            </a:r>
            <a:r>
              <a:rPr lang="en-US" sz="1750" kern="0" spc="-35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5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sama</a:t>
            </a:r>
            <a:r>
              <a:rPr lang="en-US" sz="1750" kern="0" spc="-35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
protected - přímý přístup k atributu má třída sama a </a:t>
            </a:r>
            <a:r>
              <a:rPr lang="en-US" sz="1750" kern="0" spc="-35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její</a:t>
            </a:r>
            <a:r>
              <a:rPr lang="en-US" sz="1750" kern="0" spc="-35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cs-CZ" sz="1750" kern="0" spc="-35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dědičné třídy</a:t>
            </a:r>
            <a:r>
              <a:rPr lang="en-US" sz="1750" kern="0" spc="-35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
public - přímý přístup k atributu mají </a:t>
            </a:r>
            <a:r>
              <a:rPr lang="en-US" sz="1750" kern="0" spc="-35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všechny</a:t>
            </a:r>
            <a:r>
              <a:rPr lang="en-US" sz="1750" kern="0" spc="-35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5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třídy</a:t>
            </a:r>
            <a:br>
              <a:rPr lang="cs-CZ" sz="1750" kern="0" spc="-35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</a:br>
            <a:r>
              <a:rPr lang="cs-CZ" sz="1750" kern="0" spc="-35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nic - přístupný pouze pro třídy v rámci balíčku</a:t>
            </a:r>
          </a:p>
          <a:p>
            <a:pPr marL="0" indent="0">
              <a:lnSpc>
                <a:spcPts val="2800"/>
              </a:lnSpc>
              <a:buNone/>
            </a:pP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Obdélník 1">
            <a:extLst>
              <a:ext uri="{FF2B5EF4-FFF2-40B4-BE49-F238E27FC236}">
                <a16:creationId xmlns:a16="http://schemas.microsoft.com/office/drawing/2014/main" id="{D8793D84-7B61-F438-5330-91DD0C6D9D2B}"/>
              </a:ext>
            </a:extLst>
          </p:cNvPr>
          <p:cNvSpPr/>
          <p:nvPr/>
        </p:nvSpPr>
        <p:spPr>
          <a:xfrm>
            <a:off x="12811874" y="7654247"/>
            <a:ext cx="1818526" cy="57535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Filip Hájek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72509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Statické a instanční atributy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Statické atributy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Třída může předepisovat tzv. statické atributy. Tyto atributy jsou označeny klíčovým slovem: </a:t>
            </a:r>
            <a:r>
              <a:rPr lang="en-US" sz="1750" b="1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static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jejich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hodnota</a:t>
            </a:r>
            <a:endParaRPr lang="cs-CZ" sz="1750" kern="0" spc="-36" dirty="0">
              <a:solidFill>
                <a:srgbClr val="E5E0DF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je "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sdílená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" pro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všechny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instance této třídy. 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99521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Instanční atributy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99521" y="421540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Nestatické atributy jsou tzv. instační a každá instance má svoje vlastní hodnoty těchto atributů.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C2531961-43B4-770D-4C4E-E6BDD7CB6AC9}"/>
              </a:ext>
            </a:extLst>
          </p:cNvPr>
          <p:cNvSpPr/>
          <p:nvPr/>
        </p:nvSpPr>
        <p:spPr>
          <a:xfrm>
            <a:off x="12811874" y="7654247"/>
            <a:ext cx="1818526" cy="57535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Filip Hájek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5917"/>
            <a:ext cx="62586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Viditelnost proměnných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28324"/>
            <a:ext cx="1134070" cy="16698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68022" y="20551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Nelokální proměnné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268022" y="2545556"/>
            <a:ext cx="1165985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Jsou deklarovány uvnitř třídy, mimo jakoukoliv metodu. Mohou být deklarovány kdekoliv uvnitř třídy (nic méně je dobrý zvyk deklarovat je na začátku třídy) a jsou viditelné v rámci celé třídy. Jsou to vlastně data / atributy třídy.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498175"/>
            <a:ext cx="1134070" cy="16698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68022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Lokální proměnné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268022" y="4215408"/>
            <a:ext cx="1165985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Jsou deklarovány uvnitř třídy, uvnitř nějakého bloku kódu / metody. Jsou viditelné od místa své deklarace do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konce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cs-CZ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bloku ve kterém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jsou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deklarovány. Nejsou to atributy, ale typicky pomocné proměnné.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168027"/>
            <a:ext cx="1134070" cy="23956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68022" y="53948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 err="1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Stínění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2268022" y="5885259"/>
            <a:ext cx="11659851" cy="1049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Javě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je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povoleno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aby se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lokální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nelokální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proměnná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jmenovaly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stejně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Potom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dojde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k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efektu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kdy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lokální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proměnná</a:t>
            </a:r>
            <a:br>
              <a:rPr lang="cs-CZ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</a:b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"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zastíní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"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tu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nelokální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 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endParaRPr lang="cs-CZ" sz="1750" kern="0" spc="-36" dirty="0">
              <a:solidFill>
                <a:srgbClr val="E5E0D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6F9E677F-CCE5-843B-ADB9-FD3552D19E6B}"/>
              </a:ext>
            </a:extLst>
          </p:cNvPr>
          <p:cNvSpPr/>
          <p:nvPr/>
        </p:nvSpPr>
        <p:spPr>
          <a:xfrm>
            <a:off x="12811874" y="7654247"/>
            <a:ext cx="1818526" cy="57535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Filip Hájek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024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Konstanty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4851440"/>
            <a:ext cx="6408063" cy="2410897"/>
          </a:xfrm>
          <a:prstGeom prst="roundRect">
            <a:avLst>
              <a:gd name="adj" fmla="val 3952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2"/>
          <p:cNvSpPr/>
          <p:nvPr/>
        </p:nvSpPr>
        <p:spPr>
          <a:xfrm>
            <a:off x="1028224" y="5085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Definice konstant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28224" y="5576292"/>
            <a:ext cx="59391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Konstanta je pojmenovaný kus paměti, který nemůže měnit svou hodnotu za běhu programu. Takovouto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proměnnou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je</a:t>
            </a:r>
            <a:r>
              <a:rPr lang="cs-CZ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možné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pouze inicializovat, ale ne už přepsat.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428667" y="4851440"/>
            <a:ext cx="6408063" cy="2410897"/>
          </a:xfrm>
          <a:prstGeom prst="roundRect">
            <a:avLst>
              <a:gd name="adj" fmla="val 3952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5"/>
          <p:cNvSpPr/>
          <p:nvPr/>
        </p:nvSpPr>
        <p:spPr>
          <a:xfrm>
            <a:off x="7663101" y="5085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Příklad použití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63101" y="5576292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private final float pi = 3.14f;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E6D06E9B-CAEF-214C-CA1F-A6DE9CFB95A5}"/>
              </a:ext>
            </a:extLst>
          </p:cNvPr>
          <p:cNvSpPr/>
          <p:nvPr/>
        </p:nvSpPr>
        <p:spPr>
          <a:xfrm>
            <a:off x="12811874" y="7654247"/>
            <a:ext cx="1818526" cy="57535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Filip Hájek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Metody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46466" y="26800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Hlavička metody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89" y="3170515"/>
            <a:ext cx="402353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Obsahuje modifikátor přístupu, static (volitelně), návratový typ, jméno metody a seznam formálních parametrů.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39483" y="3161943"/>
            <a:ext cx="11370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937790" y="3042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Tělo metody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7790" y="353341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Obsahuje kód, který se provede při volání metody.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37258" y="3550444"/>
            <a:ext cx="169902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9937790" y="5495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Návratová hodnota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9937790" y="5985986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Metoda může vracet hodnotu pomocí klíčového slova return.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46494" y="5776317"/>
            <a:ext cx="17442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857256" y="5495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Parametry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93790" y="5985986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Metoda může přijímat vstupní data jako parametry.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916216" y="5387816"/>
            <a:ext cx="18323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6BFF8954-6451-6D23-F9B6-C4278817CF31}"/>
              </a:ext>
            </a:extLst>
          </p:cNvPr>
          <p:cNvSpPr/>
          <p:nvPr/>
        </p:nvSpPr>
        <p:spPr>
          <a:xfrm>
            <a:off x="12811874" y="7654247"/>
            <a:ext cx="1818526" cy="57535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Filip Hájek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596" y="413387"/>
            <a:ext cx="84872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Přetěžování a přepisování metod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1596" y="14568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Přetěžování metod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1596" y="2037992"/>
            <a:ext cx="683778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 Javě je dovoleno aby se více metod jmenovalo stejným jménem. Tomu se říká přetežování metod. </a:t>
            </a:r>
            <a:endParaRPr lang="cs-CZ" sz="1750" kern="0" spc="-36" dirty="0">
              <a:solidFill>
                <a:srgbClr val="E5E0DF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Aby překladač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poté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cs-CZ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dokázal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rozlišit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kterou použít musíme je rozlišit, v Javě můžeme přetěžovat: </a:t>
            </a:r>
            <a:endParaRPr lang="cs-CZ" sz="1750" kern="0" spc="-36" dirty="0">
              <a:solidFill>
                <a:srgbClr val="E5E0DF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počtem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parametrů, datovým typem parametrů, </a:t>
            </a: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pořadí</a:t>
            </a:r>
            <a:r>
              <a:rPr lang="cs-CZ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 parametrů.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496BB87C-A51B-22FD-5999-7422A00FC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242" y="1811178"/>
            <a:ext cx="3620005" cy="5363323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3A1429DB-FCC7-A58F-060B-83FC22C8E994}"/>
              </a:ext>
            </a:extLst>
          </p:cNvPr>
          <p:cNvSpPr/>
          <p:nvPr/>
        </p:nvSpPr>
        <p:spPr>
          <a:xfrm>
            <a:off x="711596" y="5357379"/>
            <a:ext cx="683778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Tato vlastnost souvisí s dědičností. V Javě dědí potomci (některé) metody od svých rodičů. </a:t>
            </a:r>
            <a:endParaRPr lang="cs-CZ" sz="1750" kern="0" spc="-36" dirty="0">
              <a:solidFill>
                <a:srgbClr val="E5E0DF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Pokud</a:t>
            </a:r>
            <a:r>
              <a:rPr lang="en-US" sz="1750" kern="0" spc="-36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ale potřebuji aby se metoda chovala jinak než u mého předka musím jí přepsat. To znamená že přesně opíšu hlavičku metody, ale její tělo nahradím svým kódem. </a:t>
            </a:r>
            <a:endParaRPr lang="cs-CZ" sz="1750" kern="0" spc="-36" dirty="0">
              <a:solidFill>
                <a:srgbClr val="E5E0DF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3AD3F2A-1BF7-B797-F178-C2EF66B56611}"/>
              </a:ext>
            </a:extLst>
          </p:cNvPr>
          <p:cNvSpPr/>
          <p:nvPr/>
        </p:nvSpPr>
        <p:spPr>
          <a:xfrm>
            <a:off x="711596" y="47680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Přepisování metod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A086BAD7-934D-2AA0-43A0-42ED22E90CB4}"/>
              </a:ext>
            </a:extLst>
          </p:cNvPr>
          <p:cNvSpPr/>
          <p:nvPr/>
        </p:nvSpPr>
        <p:spPr>
          <a:xfrm>
            <a:off x="12811874" y="7654247"/>
            <a:ext cx="1818526" cy="57535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Filip Hájek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3173" y="929045"/>
            <a:ext cx="5344001" cy="66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250"/>
              </a:lnSpc>
              <a:buNone/>
            </a:pPr>
            <a:r>
              <a:rPr lang="en-US" sz="4200" b="1" kern="0" spc="-126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Rekurze</a:t>
            </a:r>
            <a:endParaRPr lang="en-US" sz="4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3173" y="2794714"/>
            <a:ext cx="2359741" cy="66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kern="0" spc="-63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Definice rekurze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3173" y="3256914"/>
            <a:ext cx="8691147" cy="683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kern="0" spc="-34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Rekurzivní metoda je taková metoda, </a:t>
            </a:r>
            <a:r>
              <a:rPr lang="en-US" sz="1650" kern="0" spc="-34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kter</a:t>
            </a:r>
            <a:r>
              <a:rPr lang="cs-CZ" sz="1650" kern="0" spc="-34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á</a:t>
            </a:r>
            <a:r>
              <a:rPr lang="en-US" sz="1650" kern="0" spc="-34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uvnitř sebe volá sama sebe, obvykle na jednodušší zadání.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6255" y="3797338"/>
            <a:ext cx="9477552" cy="45719"/>
          </a:xfrm>
          <a:prstGeom prst="roundRect">
            <a:avLst>
              <a:gd name="adj" fmla="val 589115"/>
            </a:avLst>
          </a:prstGeom>
          <a:solidFill>
            <a:srgbClr val="2A199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664266" y="4882076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kern="0" spc="-63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Využití rekurze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64266" y="5344277"/>
            <a:ext cx="8542496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kern="0" spc="-34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Tohoto triku se v programování využívá místo cyklu. Tedy platí že: Jakýkoliv rekurzivní algoritmus lze realizovat i bez rekurze.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6255" y="6308102"/>
            <a:ext cx="8542615" cy="15240"/>
          </a:xfrm>
          <a:prstGeom prst="roundRect">
            <a:avLst>
              <a:gd name="adj" fmla="val 589115"/>
            </a:avLst>
          </a:prstGeom>
          <a:solidFill>
            <a:srgbClr val="2A1999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Obdélník 17">
            <a:extLst>
              <a:ext uri="{FF2B5EF4-FFF2-40B4-BE49-F238E27FC236}">
                <a16:creationId xmlns:a16="http://schemas.microsoft.com/office/drawing/2014/main" id="{699C7279-CA8A-19F5-1B1C-6ED79A64FBAE}"/>
              </a:ext>
            </a:extLst>
          </p:cNvPr>
          <p:cNvSpPr/>
          <p:nvPr/>
        </p:nvSpPr>
        <p:spPr>
          <a:xfrm>
            <a:off x="12811874" y="7654247"/>
            <a:ext cx="1818526" cy="57535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Filip Hájek</a:t>
            </a:r>
          </a:p>
        </p:txBody>
      </p:sp>
      <p:pic>
        <p:nvPicPr>
          <p:cNvPr id="19" name="Obrázek 18">
            <a:extLst>
              <a:ext uri="{FF2B5EF4-FFF2-40B4-BE49-F238E27FC236}">
                <a16:creationId xmlns:a16="http://schemas.microsoft.com/office/drawing/2014/main" id="{16207449-F6F2-CBBF-6DD7-0DCBC7F60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1392" y="1640156"/>
            <a:ext cx="3524742" cy="46012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9004"/>
            <a:ext cx="67833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Příklady rekurzivních úloh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21412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5152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Quick-sort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446" y="2721412"/>
            <a:ext cx="566976" cy="5669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39446" y="35152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Bisekce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0997" y="2721412"/>
            <a:ext cx="566976" cy="56697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830997" y="35152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Faktoriál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24" y="2721412"/>
            <a:ext cx="566976" cy="56697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748224" y="3515202"/>
            <a:ext cx="331017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Fibonacciho posloupnost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6A9AD295-8F53-9475-921C-867AE9793CEF}"/>
              </a:ext>
            </a:extLst>
          </p:cNvPr>
          <p:cNvSpPr/>
          <p:nvPr/>
        </p:nvSpPr>
        <p:spPr>
          <a:xfrm>
            <a:off x="12811874" y="7654247"/>
            <a:ext cx="1818526" cy="57535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Filip Hájek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066FEEE5F48AD4681024082CD4E6082" ma:contentTypeVersion="11" ma:contentTypeDescription="Vytvoří nový dokument" ma:contentTypeScope="" ma:versionID="6021c7b32f80356c74d63ee04b326413">
  <xsd:schema xmlns:xsd="http://www.w3.org/2001/XMLSchema" xmlns:xs="http://www.w3.org/2001/XMLSchema" xmlns:p="http://schemas.microsoft.com/office/2006/metadata/properties" xmlns:ns2="56f66b51-0c61-4da8-9d6e-b8db00b12de2" xmlns:ns3="084efd27-671c-4a3e-a1f9-193c3664239c" targetNamespace="http://schemas.microsoft.com/office/2006/metadata/properties" ma:root="true" ma:fieldsID="894ec311cd56890784da74c65925d942" ns2:_="" ns3:_="">
    <xsd:import namespace="56f66b51-0c61-4da8-9d6e-b8db00b12de2"/>
    <xsd:import namespace="084efd27-671c-4a3e-a1f9-193c366423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f66b51-0c61-4da8-9d6e-b8db00b12d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e6bece5-3ec7-48c6-a3a0-b2b5d8be67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4efd27-671c-4a3e-a1f9-193c3664239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9bef40-6bc0-44a3-b004-108519b05bb9}" ma:internalName="TaxCatchAll" ma:showField="CatchAllData" ma:web="084efd27-671c-4a3e-a1f9-193c366423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6f66b51-0c61-4da8-9d6e-b8db00b12de2">
      <Terms xmlns="http://schemas.microsoft.com/office/infopath/2007/PartnerControls"/>
    </lcf76f155ced4ddcb4097134ff3c332f>
    <TaxCatchAll xmlns="084efd27-671c-4a3e-a1f9-193c3664239c" xsi:nil="true"/>
  </documentManagement>
</p:properties>
</file>

<file path=customXml/itemProps1.xml><?xml version="1.0" encoding="utf-8"?>
<ds:datastoreItem xmlns:ds="http://schemas.openxmlformats.org/officeDocument/2006/customXml" ds:itemID="{2731A2E4-A49F-4366-BB04-624BD0C1E70A}"/>
</file>

<file path=customXml/itemProps2.xml><?xml version="1.0" encoding="utf-8"?>
<ds:datastoreItem xmlns:ds="http://schemas.openxmlformats.org/officeDocument/2006/customXml" ds:itemID="{3B5C3BB8-2B9A-4FDB-B52C-7E4433B56FEB}"/>
</file>

<file path=customXml/itemProps3.xml><?xml version="1.0" encoding="utf-8"?>
<ds:datastoreItem xmlns:ds="http://schemas.openxmlformats.org/officeDocument/2006/customXml" ds:itemID="{D12585CC-43F3-4E35-B7AB-5EA0C7F99C31}"/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767</Words>
  <Application>Microsoft Office PowerPoint</Application>
  <PresentationFormat>Vlastní</PresentationFormat>
  <Paragraphs>98</Paragraphs>
  <Slides>11</Slides>
  <Notes>11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5" baseType="lpstr">
      <vt:lpstr>Arial</vt:lpstr>
      <vt:lpstr>Inter</vt:lpstr>
      <vt:lpstr>Inter Bold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Filip Hajek</cp:lastModifiedBy>
  <cp:revision>32</cp:revision>
  <dcterms:created xsi:type="dcterms:W3CDTF">2025-03-04T09:59:33Z</dcterms:created>
  <dcterms:modified xsi:type="dcterms:W3CDTF">2025-04-01T07:02:00Z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0x0101001066FEEE5F48AD4681024082CD4E6082</vt:lpwstr>
  </property>
</Properties>
</file>