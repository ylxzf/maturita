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D7C8F6-F5B6-5420-080F-AC2C87AE8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01C2D74-DA4A-706E-E809-D2DFC4EED1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6C1063C-EC19-3951-1428-5581417E3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F8D3-29B9-48F6-BCAC-CF2B06222FC3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09BFEA7-B6AB-4205-F94F-B2228FCC8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DCED0B5-1DB6-494B-B853-F6229E244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88C7-4E8C-4897-9FC5-7BDDD3EF49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352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9EDCC1-B7CA-DAC9-8D8C-263C4D92C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723975-F701-1D99-FE84-9F84C9E46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2007BD7-EE62-40B2-E06D-BDBCA86A2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F8D3-29B9-48F6-BCAC-CF2B06222FC3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37B0BCB-FCA4-9A98-C7BD-455272E32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D3DA2A9-A323-5B5A-70E0-05C3045F6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88C7-4E8C-4897-9FC5-7BDDD3EF49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1674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5C3E44-827A-306E-13C0-B00F0B3C9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5104DCE-24C2-C5DE-4E47-27D6CE8E6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AB36C49-A014-F156-E681-2915A36B3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F8D3-29B9-48F6-BCAC-CF2B06222FC3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66F18B3-6BAE-23F0-AB22-E26F10FCA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43BF958-E56F-D800-68C8-E03B96280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88C7-4E8C-4897-9FC5-7BDDD3EF49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99330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66854C-A4C4-41F2-61BA-DA9A7EF1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67568E4-9429-B287-6587-CC820D7056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ED1DCFE-3A3B-53E5-EAE9-161407F65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4938C22-209F-C98A-531A-80B15A0B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F8D3-29B9-48F6-BCAC-CF2B06222FC3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E148DD6-9295-40FC-F62E-FB7794E89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1C6C82C-2920-4868-DB67-389C71FE9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88C7-4E8C-4897-9FC5-7BDDD3EF49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50443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2C0C8A-5DB9-20FB-5609-3C273CB50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2848585-AF3B-5543-0DA0-DDDEBED72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3D84888-7EDF-BBB5-A056-77539A1AB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84D45F8-D629-E25B-5265-A20864FD8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F2D3906B-1029-0494-39FB-7DA0B0BCF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DEE828BF-40B8-38B2-47C8-BE03B002E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F8D3-29B9-48F6-BCAC-CF2B06222FC3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17406EC-89A1-F285-FE98-BE74EBB3C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40C3768-0816-FB47-2214-EDDF3D3A3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88C7-4E8C-4897-9FC5-7BDDD3EF49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04694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08BB31-5C1F-B973-245B-5E1572E78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504162FC-2D10-3120-6D7F-1A424FD72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F8D3-29B9-48F6-BCAC-CF2B06222FC3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1F11B06-D49C-7DCC-2AF2-326455144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BF8FB77-47B9-30E4-DC49-EDED3B6B0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88C7-4E8C-4897-9FC5-7BDDD3EF49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3239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A03AC23C-3D6C-5CF9-7EDB-7BD5A2544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F8D3-29B9-48F6-BCAC-CF2B06222FC3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4C2E32D8-41A3-326D-16BD-1FEBC9B7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34B7515-0458-4F6C-3E5A-F250450D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88C7-4E8C-4897-9FC5-7BDDD3EF49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13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715FD5-9D4F-A146-14E6-A1C668F47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E6EB760-33F0-1B0B-BAA6-F677C2E21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893E6EC-D765-5C39-7E9A-EAF1B72F6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AE174CD-2314-A164-1C26-F8B566405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F8D3-29B9-48F6-BCAC-CF2B06222FC3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8F87745-564D-3092-BE30-B4E4ADCE9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41C0405-03F6-A5B6-886D-D6CBE9A81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88C7-4E8C-4897-9FC5-7BDDD3EF49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5972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C5B819-2F8F-099A-5FAC-2441CFB45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30E9B7CE-128C-1ECA-23F1-E7D8DD4BD5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DC6A657-4368-60CE-3A2F-DCC4D00D8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2A83D53-2C30-8768-428C-C7D5D739B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F8D3-29B9-48F6-BCAC-CF2B06222FC3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2A17091-7D22-A08C-050D-758E2168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B170EA8-F89B-9C5D-8AEE-B036D8FB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88C7-4E8C-4897-9FC5-7BDDD3EF49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58053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44E2DD-451D-7A4E-8C38-30518B563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2AEFB94-F61E-10BE-5563-6D7A7DB83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9E7DC30-2EB0-E235-45F0-12E26564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F8D3-29B9-48F6-BCAC-CF2B06222FC3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24684B7-116E-A088-5555-F8306E3D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B8FF078-2ABF-1CD2-58E5-5DE271CB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88C7-4E8C-4897-9FC5-7BDDD3EF49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40102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B79E074-524B-F756-3F03-7CD089A5F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421B2A4-FE50-3CDA-CBB5-AE887ADA1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2095979-9F57-BA33-CABF-B17B31455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BF8D3-29B9-48F6-BCAC-CF2B06222FC3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F536ECC-008C-2D05-2D1C-F344554BA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17962B9-1095-8619-7367-C97A22C5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F88C7-4E8C-4897-9FC5-7BDDD3EF49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7229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6D4080F-C67B-74F4-A8FE-BD99EDC88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FA73E6A-49E5-3847-CF67-8480A2002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FFA8B62-9A20-5A5C-E3B4-D8A1C6B489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BF8D3-29B9-48F6-BCAC-CF2B06222FC3}" type="datetimeFigureOut">
              <a:rPr lang="cs-CZ" smtClean="0"/>
              <a:t>17.03.2023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EB25EDC-020E-04E8-EFB0-B54A49607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365B0A4-4684-83A7-3BA9-59043297F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F88C7-4E8C-4897-9FC5-7BDDD3EF494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11209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iki/Asymptotick%C3%A1_slo%C5%BEitost" TargetMode="External"/><Relationship Id="rId2" Type="http://schemas.openxmlformats.org/officeDocument/2006/relationships/hyperlink" Target="https://cs.wikipedia.org/wiki/V%C3%BDpo%C4%8Detn%C3%AD_model_(teorie_algoritm%C5%AF)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s.wikipedia.org/wiki/Turing%C5%AFv_stroj" TargetMode="External"/><Relationship Id="rId4" Type="http://schemas.openxmlformats.org/officeDocument/2006/relationships/hyperlink" Target="https://cs.wikipedia.org/wiki/Kone%C4%8Dn%C3%BD_automa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BE0E6A-851D-3D2D-483A-5B7232FE93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Teoretické výpočetní modely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DF0768A-2DD7-0A9E-D186-8B2A579348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Lukáš Vostřejž 4ITA</a:t>
            </a:r>
          </a:p>
        </p:txBody>
      </p:sp>
    </p:spTree>
    <p:extLst>
      <p:ext uri="{BB962C8B-B14F-4D97-AF65-F5344CB8AC3E}">
        <p14:creationId xmlns:p14="http://schemas.microsoft.com/office/powerpoint/2010/main" val="1275224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44F58E-0DEB-B41A-77A7-B28E0091A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Výpočetní model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283EB04-BBAD-28BB-4F1E-FC85843DE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cs-CZ" sz="2400" dirty="0"/>
              <a:t>Abstraktní model definující množinu povolených operací používaných při výpočtu</a:t>
            </a:r>
          </a:p>
          <a:p>
            <a:pPr algn="just"/>
            <a:r>
              <a:rPr lang="cs-CZ" sz="2400" dirty="0"/>
              <a:t>Používá se pro určení míry složitosti algoritmů vyjádřené dobou běhu (časová složitost) nebo paměťovým prostorem (paměťová složitost)</a:t>
            </a:r>
          </a:p>
          <a:p>
            <a:pPr algn="just"/>
            <a:r>
              <a:rPr lang="cs-CZ" sz="2400" dirty="0"/>
              <a:t>Např: Turingovy stroje, konečné automaty</a:t>
            </a:r>
          </a:p>
        </p:txBody>
      </p:sp>
    </p:spTree>
    <p:extLst>
      <p:ext uri="{BB962C8B-B14F-4D97-AF65-F5344CB8AC3E}">
        <p14:creationId xmlns:p14="http://schemas.microsoft.com/office/powerpoint/2010/main" val="1502932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C0D70D-0316-22AD-2204-E95E607A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Časová složitost algoritmu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ulka 5">
                <a:extLst>
                  <a:ext uri="{FF2B5EF4-FFF2-40B4-BE49-F238E27FC236}">
                    <a16:creationId xmlns:a16="http://schemas.microsoft.com/office/drawing/2014/main" id="{0535C9E3-4C3A-17AD-9356-A81AB067D3C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02038916"/>
                  </p:ext>
                </p:extLst>
              </p:nvPr>
            </p:nvGraphicFramePr>
            <p:xfrm>
              <a:off x="838200" y="2443142"/>
              <a:ext cx="10515597" cy="3855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3103178354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974436804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10089926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Zápis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Název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Příklad algoritmu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4797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cs-CZ" sz="14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cs-CZ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Konstantní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Skok na prvek v poli podle indexu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2878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cs-CZ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cs-CZ" sz="1400" dirty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func>
                                      <m:funcPr>
                                        <m:ctrlPr>
                                          <a:rPr lang="cs-CZ" sz="14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cs-CZ" sz="1400" i="0" dirty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cs-CZ" sz="1400" i="1" dirty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</m:func>
                                  </m:e>
                                </m:func>
                              </m:oMath>
                            </m:oMathPara>
                          </a14:m>
                          <a:endParaRPr lang="cs-CZ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Dvojitě logaritmická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Interpolační vyhledávání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4579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cs-CZ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cs-CZ" sz="140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cs-CZ" sz="1400" i="1" dirty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cs-CZ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Logaritmická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Binární vyhledávání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97025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cs-CZ" sz="14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cs-CZ" sz="14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cs-CZ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Odmocninová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cs-CZ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99578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cs-CZ" sz="140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cs-CZ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Lineární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Hledání prvku v poli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91231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cs-CZ" sz="14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cs-CZ" sz="14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a:rPr lang="cs-CZ" sz="14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cs-CZ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Kvadratická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Bubble sort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4418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cs-CZ" sz="14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cs-CZ" sz="14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a:rPr lang="cs-CZ" sz="1400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cs-CZ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Kubická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Násobení matic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94842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cs-CZ" sz="14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cs-CZ" sz="1400" i="1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p>
                                    <m:r>
                                      <a:rPr lang="cs-CZ" sz="14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cs-CZ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Exponenciální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Problém obchodního cestujícího pomocí dynamického programování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1404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cs-CZ" sz="140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cs-CZ" sz="1400" i="0"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oMath>
                            </m:oMathPara>
                          </a14:m>
                          <a:endParaRPr lang="cs-CZ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Faktoriálová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Problém obchodního cestujícího hrubou silou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6554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ulka 5">
                <a:extLst>
                  <a:ext uri="{FF2B5EF4-FFF2-40B4-BE49-F238E27FC236}">
                    <a16:creationId xmlns:a16="http://schemas.microsoft.com/office/drawing/2014/main" id="{0535C9E3-4C3A-17AD-9356-A81AB067D3C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02038916"/>
                  </p:ext>
                </p:extLst>
              </p:nvPr>
            </p:nvGraphicFramePr>
            <p:xfrm>
              <a:off x="838200" y="2443142"/>
              <a:ext cx="10515597" cy="3855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3103178354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974436804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10089926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Zápis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Název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Příklad algoritmu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4797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cs-CZ"/>
                        </a:p>
                      </a:txBody>
                      <a:tcPr>
                        <a:blipFill>
                          <a:blip r:embed="rId2"/>
                          <a:stretch>
                            <a:fillRect l="-174" t="-101639" r="-200870" b="-842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Konstantní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Skok na prvek v poli podle indexu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2878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cs-CZ"/>
                        </a:p>
                      </a:txBody>
                      <a:tcPr>
                        <a:blipFill>
                          <a:blip r:embed="rId2"/>
                          <a:stretch>
                            <a:fillRect l="-174" t="-201639" r="-200870" b="-742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Dvojitě logaritmická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Interpolační vyhledávání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4579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cs-CZ"/>
                        </a:p>
                      </a:txBody>
                      <a:tcPr>
                        <a:blipFill>
                          <a:blip r:embed="rId2"/>
                          <a:stretch>
                            <a:fillRect l="-174" t="-301639" r="-200870" b="-642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Logaritmická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Binární vyhledávání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97025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cs-CZ"/>
                        </a:p>
                      </a:txBody>
                      <a:tcPr>
                        <a:blipFill>
                          <a:blip r:embed="rId2"/>
                          <a:stretch>
                            <a:fillRect l="-174" t="-401639" r="-200870" b="-542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Odmocninová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cs-CZ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99578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cs-CZ"/>
                        </a:p>
                      </a:txBody>
                      <a:tcPr>
                        <a:blipFill>
                          <a:blip r:embed="rId2"/>
                          <a:stretch>
                            <a:fillRect l="-174" t="-501639" r="-200870" b="-442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Lineární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Hledání prvku v poli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91231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cs-CZ"/>
                        </a:p>
                      </a:txBody>
                      <a:tcPr>
                        <a:blipFill>
                          <a:blip r:embed="rId2"/>
                          <a:stretch>
                            <a:fillRect l="-174" t="-601639" r="-200870" b="-342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Kvadratická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Bubble sort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4418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cs-CZ"/>
                        </a:p>
                      </a:txBody>
                      <a:tcPr>
                        <a:blipFill>
                          <a:blip r:embed="rId2"/>
                          <a:stretch>
                            <a:fillRect l="-174" t="-701639" r="-200870" b="-242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Kubická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Násobení matic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948425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cs-CZ"/>
                        </a:p>
                      </a:txBody>
                      <a:tcPr>
                        <a:blipFill>
                          <a:blip r:embed="rId2"/>
                          <a:stretch>
                            <a:fillRect l="-174" t="-575294" r="-200870" b="-7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Exponenciální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Problém obchodního cestujícího pomocí dynamického programování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14047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cs-CZ"/>
                        </a:p>
                      </a:txBody>
                      <a:tcPr>
                        <a:blipFill>
                          <a:blip r:embed="rId2"/>
                          <a:stretch>
                            <a:fillRect l="-174" t="-940984" r="-200870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Faktoriálová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cs-CZ" sz="1400" dirty="0"/>
                            <a:t>Problém obchodního cestujícího hrubou silou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865548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2771C280-E769-4E8C-522C-44A3463B3549}"/>
              </a:ext>
            </a:extLst>
          </p:cNvPr>
          <p:cNvSpPr txBox="1">
            <a:spLocks/>
          </p:cNvSpPr>
          <p:nvPr/>
        </p:nvSpPr>
        <p:spPr>
          <a:xfrm>
            <a:off x="838200" y="1371601"/>
            <a:ext cx="10515600" cy="938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400" dirty="0"/>
              <a:t>Neplést si se složitostí problému</a:t>
            </a:r>
          </a:p>
          <a:p>
            <a:r>
              <a:rPr lang="cs-CZ" sz="1400" dirty="0"/>
              <a:t>Složitost algoritmu – počet kroků nebo operací, které musí procesor vykonat pro vyřešení problému</a:t>
            </a:r>
          </a:p>
          <a:p>
            <a:r>
              <a:rPr lang="cs-CZ" sz="1400" dirty="0"/>
              <a:t>Složitost problému – složitost nejlepšího algoritmu, který problém řeší</a:t>
            </a:r>
          </a:p>
          <a:p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1984352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E2DF84-0C3D-E01D-90A8-257B47B28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Konečný automat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AB215C4-B023-A63E-99C3-1687B6806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cs-CZ" sz="2000" dirty="0"/>
              <a:t>Velice jednoduchý počítač, který může být v jednom z několika stavů</a:t>
            </a:r>
          </a:p>
          <a:p>
            <a:pPr algn="just"/>
            <a:r>
              <a:rPr lang="cs-CZ" sz="2000" dirty="0"/>
              <a:t>Stavy musí být minimálně 2 (začátek a konec)</a:t>
            </a:r>
          </a:p>
          <a:p>
            <a:pPr algn="just"/>
            <a:r>
              <a:rPr lang="cs-CZ" sz="2000" dirty="0"/>
              <a:t>Mezi stavy přechází na základě informací, které čte ze vstupu</a:t>
            </a:r>
          </a:p>
          <a:p>
            <a:pPr algn="just"/>
            <a:r>
              <a:rPr lang="cs-CZ" sz="2000" dirty="0"/>
              <a:t>Obsahuje nějakou metodu nebo funkci, podle které se rozhoduje kam půjde na další pozici (přechodová funkce)</a:t>
            </a:r>
          </a:p>
          <a:p>
            <a:pPr algn="just"/>
            <a:r>
              <a:rPr lang="cs-CZ" sz="2000" dirty="0"/>
              <a:t>Nemá žádnou další paměť, kromě informace o aktuálním stavu</a:t>
            </a:r>
          </a:p>
          <a:p>
            <a:pPr algn="just"/>
            <a:r>
              <a:rPr lang="cs-CZ" sz="2000" dirty="0"/>
              <a:t>Např: Mealyho automat, Mooerův stroj</a:t>
            </a:r>
          </a:p>
        </p:txBody>
      </p:sp>
      <p:pic>
        <p:nvPicPr>
          <p:cNvPr id="4" name="obrázek 1">
            <a:extLst>
              <a:ext uri="{FF2B5EF4-FFF2-40B4-BE49-F238E27FC236}">
                <a16:creationId xmlns:a16="http://schemas.microsoft.com/office/drawing/2014/main" id="{7AD2390C-8793-35F6-1534-51B3540D2A4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43325" y="4692795"/>
            <a:ext cx="4705350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34526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4F9ADB-5190-A6C2-5C5F-85E09F747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Turingův stroj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5FDD48A-F220-51B6-4B08-A61F5DEA5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cs-CZ" sz="2000" dirty="0"/>
              <a:t>Teoretický model počítače popsaný Alanem </a:t>
            </a:r>
            <a:r>
              <a:rPr lang="cs-CZ" sz="2000" dirty="0" err="1"/>
              <a:t>Turingem</a:t>
            </a:r>
            <a:endParaRPr lang="cs-CZ" sz="2000" dirty="0"/>
          </a:p>
          <a:p>
            <a:pPr algn="just"/>
            <a:r>
              <a:rPr lang="cs-CZ" sz="2000" dirty="0"/>
              <a:t>Umožňuje studovat meze algoritmických výpočtů a důkazy vyčíslitelnosti výpočetní složitosti algoritmů</a:t>
            </a:r>
          </a:p>
          <a:p>
            <a:pPr algn="just"/>
            <a:r>
              <a:rPr lang="cs-CZ" sz="2000" dirty="0"/>
              <a:t>Podle </a:t>
            </a:r>
            <a:r>
              <a:rPr lang="cs-CZ" sz="2000" dirty="0" err="1"/>
              <a:t>Churchovy</a:t>
            </a:r>
            <a:r>
              <a:rPr lang="cs-CZ" sz="2000" dirty="0"/>
              <a:t>-Turingovy teze má každý algoritmus ekvivalentní Turingův stroj</a:t>
            </a:r>
          </a:p>
          <a:p>
            <a:pPr algn="just"/>
            <a:r>
              <a:rPr lang="cs-CZ" sz="2000" dirty="0"/>
              <a:t>Skládá se z řídicí jednotky (konečný stavový automat), čtecí a zapisovací hlavy a nekonečnou páskou na </a:t>
            </a:r>
            <a:r>
              <a:rPr lang="cs-CZ" sz="2000" dirty="0" err="1"/>
              <a:t>mezivýpočty</a:t>
            </a:r>
            <a:r>
              <a:rPr lang="cs-CZ" sz="2000" dirty="0"/>
              <a:t>, kterou smí šoupat na obě strany.</a:t>
            </a:r>
          </a:p>
          <a:p>
            <a:pPr algn="just"/>
            <a:r>
              <a:rPr lang="cs-CZ" sz="2000" dirty="0"/>
              <a:t>Navrhnut pro řešení problému „Existuje postup, který by rozhodoval, jestli dané matematické tvrzení je pravdivé?“</a:t>
            </a:r>
          </a:p>
        </p:txBody>
      </p:sp>
      <p:pic>
        <p:nvPicPr>
          <p:cNvPr id="5" name="Obrázek 4" descr="Obsah obrázku diagram&#10;&#10;Popis byl vytvořen automaticky">
            <a:extLst>
              <a:ext uri="{FF2B5EF4-FFF2-40B4-BE49-F238E27FC236}">
                <a16:creationId xmlns:a16="http://schemas.microsoft.com/office/drawing/2014/main" id="{6EF7F7E1-A56A-65DB-1E23-F02BBE380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0390" y="4709715"/>
            <a:ext cx="4891220" cy="185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240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22F2C4-6DD2-E37F-5BD9-991A9B3A1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DDDE74A-2777-0D21-6249-E9834FD90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>
                <a:hlinkClick r:id="rId2"/>
              </a:rPr>
              <a:t>https://cs.wikipedia.org/wiki/V%C3%BDpo%C4%8Detn%C3%AD_model_(teorie_algoritm%C5%AF)</a:t>
            </a:r>
            <a:endParaRPr lang="cs-CZ" sz="2400" dirty="0"/>
          </a:p>
          <a:p>
            <a:r>
              <a:rPr lang="cs-CZ" sz="2400" dirty="0">
                <a:hlinkClick r:id="rId3"/>
              </a:rPr>
              <a:t>https://cs.wikipedia.org/wiki/Asymptotick%C3%A1_slo%C5%BEitost</a:t>
            </a:r>
            <a:endParaRPr lang="cs-CZ" sz="2400" dirty="0"/>
          </a:p>
          <a:p>
            <a:r>
              <a:rPr lang="cs-CZ" sz="2400" dirty="0">
                <a:hlinkClick r:id="rId4"/>
              </a:rPr>
              <a:t>https://cs.wikipedia.org/wiki/Kone%C4%8Dn%C3%BD_automat</a:t>
            </a:r>
            <a:endParaRPr lang="cs-CZ" sz="2400" dirty="0"/>
          </a:p>
          <a:p>
            <a:r>
              <a:rPr lang="cs-CZ" sz="2400" dirty="0">
                <a:hlinkClick r:id="rId5"/>
              </a:rPr>
              <a:t>https://cs.wikipedia.org/wiki/Turing%C5%AFv_stroj</a:t>
            </a:r>
            <a:endParaRPr lang="cs-CZ" sz="2400" dirty="0"/>
          </a:p>
          <a:p>
            <a:endParaRPr lang="cs-CZ" sz="2400" dirty="0"/>
          </a:p>
          <a:p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124610140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ECE7161903CE409E3603B539D55C1B" ma:contentTypeVersion="11" ma:contentTypeDescription="Vytvoří nový dokument" ma:contentTypeScope="" ma:versionID="ee8d249772f4f3026b32709b809050ba">
  <xsd:schema xmlns:xsd="http://www.w3.org/2001/XMLSchema" xmlns:xs="http://www.w3.org/2001/XMLSchema" xmlns:p="http://schemas.microsoft.com/office/2006/metadata/properties" xmlns:ns2="3b4a1236-8527-43c9-89e6-2e1ca6a69820" xmlns:ns3="46bffffc-6843-44ee-a691-3b63b640fe68" targetNamespace="http://schemas.microsoft.com/office/2006/metadata/properties" ma:root="true" ma:fieldsID="5e315ebd79be571b22184ed8c56ad571" ns2:_="" ns3:_="">
    <xsd:import namespace="3b4a1236-8527-43c9-89e6-2e1ca6a69820"/>
    <xsd:import namespace="46bffffc-6843-44ee-a691-3b63b640fe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4a1236-8527-43c9-89e6-2e1ca6a698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e6bece5-3ec7-48c6-a3a0-b2b5d8be67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bffffc-6843-44ee-a691-3b63b640fe6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63d1dc3-b231-440a-8d23-da255a6e99d9}" ma:internalName="TaxCatchAll" ma:showField="CatchAllData" ma:web="46bffffc-6843-44ee-a691-3b63b640fe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bffffc-6843-44ee-a691-3b63b640fe68" xsi:nil="true"/>
    <lcf76f155ced4ddcb4097134ff3c332f xmlns="3b4a1236-8527-43c9-89e6-2e1ca6a6982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E3CD61C-23F7-431C-B125-25C1F5019345}"/>
</file>

<file path=customXml/itemProps2.xml><?xml version="1.0" encoding="utf-8"?>
<ds:datastoreItem xmlns:ds="http://schemas.openxmlformats.org/officeDocument/2006/customXml" ds:itemID="{762B5088-57FA-4416-933E-2C7491954148}"/>
</file>

<file path=customXml/itemProps3.xml><?xml version="1.0" encoding="utf-8"?>
<ds:datastoreItem xmlns:ds="http://schemas.openxmlformats.org/officeDocument/2006/customXml" ds:itemID="{013919E2-D0A3-4AC9-B40E-9B2F19CB91E4}"/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367</Words>
  <Application>Microsoft Office PowerPoint</Application>
  <PresentationFormat>Širokoúhlá obrazovka</PresentationFormat>
  <Paragraphs>57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Motiv Office</vt:lpstr>
      <vt:lpstr>Teoretické výpočetní modely</vt:lpstr>
      <vt:lpstr>Výpočetní model</vt:lpstr>
      <vt:lpstr>Časová složitost algoritmu</vt:lpstr>
      <vt:lpstr>Konečný automat</vt:lpstr>
      <vt:lpstr>Turingův stroj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Teoretické výpočetní modely</dc:title>
  <dc:creator>Vostřejž Lukáš</dc:creator>
  <cp:lastModifiedBy>Kašpárek Ladislav</cp:lastModifiedBy>
  <cp:revision>30</cp:revision>
  <dcterms:created xsi:type="dcterms:W3CDTF">2023-03-16T21:47:41Z</dcterms:created>
  <dcterms:modified xsi:type="dcterms:W3CDTF">2023-03-17T10:04:45Z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0x010100DAECE7161903CE409E3603B539D55C1B</vt:lpwstr>
  </property>
</Properties>
</file>