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63" r:id="rId1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69800" autoAdjust="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94C59A-8FF1-412C-B712-8FC65C8DC276}" type="datetimeFigureOut">
              <a:rPr lang="cs-CZ" smtClean="0"/>
              <a:t>8.3.2023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A172B1-1F6C-4F76-847F-E0FE7EF636E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69667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172B1-1F6C-4F76-847F-E0FE7EF636EF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1917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172B1-1F6C-4F76-847F-E0FE7EF636EF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54010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Algoritmy, které lze řešit v polynomiálně omezeném čase na nedeterministickém </a:t>
            </a:r>
            <a:r>
              <a:rPr lang="cs-CZ" dirty="0" err="1"/>
              <a:t>Turingově</a:t>
            </a:r>
            <a:r>
              <a:rPr lang="cs-CZ" dirty="0"/>
              <a:t> stroji - na </a:t>
            </a:r>
            <a:r>
              <a:rPr lang="cs-CZ" i="1" dirty="0"/>
              <a:t>počítači</a:t>
            </a:r>
            <a:r>
              <a:rPr lang="cs-CZ" dirty="0"/>
              <a:t>, který umožňuje v každém kroku rozvětvit výpočet na </a:t>
            </a:r>
            <a:r>
              <a:rPr lang="cs-CZ" i="1" dirty="0"/>
              <a:t>n</a:t>
            </a:r>
            <a:r>
              <a:rPr lang="cs-CZ" dirty="0"/>
              <a:t> větví, v nichž se posléze řešení hledá současně.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dirty="0"/>
              <a:t>Pokud je časová složitost f(N) polynom, hovoříme o polynomiálně omezených algoritmech. Takové problémy, které řeší nějaký polynomiální algoritmus, patří do tzv. </a:t>
            </a:r>
            <a:r>
              <a:rPr lang="cs-CZ" b="1" dirty="0"/>
              <a:t>třídy složitosti P</a:t>
            </a:r>
            <a:r>
              <a:rPr lang="cs-CZ" dirty="0"/>
              <a:t>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172B1-1F6C-4F76-847F-E0FE7EF636EF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37922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172B1-1F6C-4F76-847F-E0FE7EF636EF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52736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172B1-1F6C-4F76-847F-E0FE7EF636EF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11570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Algoritmus se skládá z následujících kroků:</a:t>
            </a:r>
          </a:p>
          <a:p>
            <a:endParaRPr lang="cs-CZ" dirty="0"/>
          </a:p>
          <a:p>
            <a:r>
              <a:rPr lang="cs-CZ" dirty="0"/>
              <a:t>Napíšeme všechna čísla 2 až n (2 je první prvočíslo). A předpokládáme, že všechna jsou prvočísla.</a:t>
            </a:r>
          </a:p>
          <a:p>
            <a:endParaRPr lang="cs-CZ" dirty="0"/>
          </a:p>
          <a:p>
            <a:r>
              <a:rPr lang="cs-CZ" dirty="0"/>
              <a:t>Vezmeme si první prvočíslo a víme, že všechny jeho násobky nemohou být z definice prvočísly, proto je vyškrtneme z našeho seznamu.</a:t>
            </a:r>
          </a:p>
          <a:p>
            <a:endParaRPr lang="cs-CZ" dirty="0"/>
          </a:p>
          <a:p>
            <a:r>
              <a:rPr lang="cs-CZ" dirty="0"/>
              <a:t>Nyní si vezmeme další prvočíslo z proškrtaného seznamu a opět vyházíme všechny jeho násobky.</a:t>
            </a:r>
          </a:p>
          <a:p>
            <a:endParaRPr lang="cs-CZ" dirty="0"/>
          </a:p>
          <a:p>
            <a:r>
              <a:rPr lang="cs-CZ" dirty="0"/>
              <a:t>Opakujeme 3, dokud nedojdou čísla, nebo do druhé odmocniny nejvyššího čísla.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172B1-1F6C-4F76-847F-E0FE7EF636EF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866224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Označován jako test složenosti, protože jednoznačně nerozliší prvočísla od čísel složených (to jsou </a:t>
            </a:r>
            <a:r>
              <a:rPr lang="cs-CZ" dirty="0" err="1"/>
              <a:t>Carmichaelova</a:t>
            </a:r>
            <a:r>
              <a:rPr lang="cs-CZ" dirty="0"/>
              <a:t> čísla)</a:t>
            </a:r>
          </a:p>
          <a:p>
            <a:endParaRPr lang="cs-CZ" dirty="0"/>
          </a:p>
          <a:p>
            <a:r>
              <a:rPr lang="cs-CZ" dirty="0" err="1"/>
              <a:t>Charmichaelova</a:t>
            </a:r>
            <a:r>
              <a:rPr lang="cs-CZ" dirty="0"/>
              <a:t> čísla jsou z hlediska Malé </a:t>
            </a:r>
            <a:r>
              <a:rPr lang="cs-CZ" dirty="0" err="1"/>
              <a:t>Fermatovy</a:t>
            </a:r>
            <a:r>
              <a:rPr lang="cs-CZ" dirty="0"/>
              <a:t> věty podobná prvočíslům, jejich složenost nelze tedy zjistit pomocí </a:t>
            </a:r>
            <a:r>
              <a:rPr lang="cs-CZ" dirty="0" err="1"/>
              <a:t>Fermatova</a:t>
            </a:r>
            <a:r>
              <a:rPr lang="cs-CZ" dirty="0"/>
              <a:t> testu prvočíselnosti. 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172B1-1F6C-4F76-847F-E0FE7EF636EF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91965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2DEA17-98C0-4F51-8878-3BF7BFBAC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7B816F8-EFE0-4C78-8C60-9193C8CD45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C6F0A58-23DB-49BC-8FBF-D36CA9C3C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D3069-F609-40C1-B368-5AB43B7A763C}" type="datetimeFigureOut">
              <a:rPr lang="cs-CZ" smtClean="0"/>
              <a:t>8.3.2023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D8E67C3-353A-4B55-9439-1101681B9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2F86F80-4102-4240-890D-1C5E9D648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8DED-D850-43BC-B90D-8BA7651BFF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40126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68BC44E-15FE-4DB2-A611-5D884A5F5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B059BEF-6B72-479E-AA32-2ED3D3BC9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CC488B6-D945-42AD-BC95-71F6336A9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D3069-F609-40C1-B368-5AB43B7A763C}" type="datetimeFigureOut">
              <a:rPr lang="cs-CZ" smtClean="0"/>
              <a:t>8.3.2023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189E2C5-7274-430C-8C45-0A35E3F0D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A95A2CB-5006-4ADD-933A-D3DD53E6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8DED-D850-43BC-B90D-8BA7651BFF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11109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8B1A89-435E-4A0A-BF44-148B6C49D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3C46812-60EB-48D8-9184-901AA6999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68806C3-0116-4AC4-8E5B-8218EAE59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D3069-F609-40C1-B368-5AB43B7A763C}" type="datetimeFigureOut">
              <a:rPr lang="cs-CZ" smtClean="0"/>
              <a:t>8.3.2023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4570C31-6859-4059-9D0B-4D7A13C9C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130904D-3CBF-49ED-90F3-AEB44DCE5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8DED-D850-43BC-B90D-8BA7651BFF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83742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F9500C2-1B04-4E47-8803-26DD66B60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EFE20A6-67D9-4BA8-80A5-A4C56440F1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C08C497-AD00-4DF5-A628-FBAD1674F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96649A3-BC99-42E5-B180-143D8D27B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D3069-F609-40C1-B368-5AB43B7A763C}" type="datetimeFigureOut">
              <a:rPr lang="cs-CZ" smtClean="0"/>
              <a:t>8.3.2023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0B8B69B-CCD3-4F49-BE02-425DC7D00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4B44AC4-8457-4CD9-A208-417E3675F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8DED-D850-43BC-B90D-8BA7651BFF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28658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E797F5-C0B7-4E31-9E93-3D8847A39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91FF730-F4D7-41C0-95FE-D1C7B8F65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CDCB1598-C2FC-4EE3-AF78-8028DBADD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68C9A7F9-3B1F-4726-A2B4-5ED2723523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874250EF-B27A-4ECB-B79F-FB0B621951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A53B476-BE15-4656-A62D-64FE3942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D3069-F609-40C1-B368-5AB43B7A763C}" type="datetimeFigureOut">
              <a:rPr lang="cs-CZ" smtClean="0"/>
              <a:t>8.3.2023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C3D06999-3C27-40EB-A0D3-50AD89724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91B9D584-51A7-48C5-BD6A-811875248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8DED-D850-43BC-B90D-8BA7651BFF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0104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57074A-9C6B-430E-AB5A-896EF23B0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7E97DE05-A2A4-4046-AE50-611D4B12C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D3069-F609-40C1-B368-5AB43B7A763C}" type="datetimeFigureOut">
              <a:rPr lang="cs-CZ" smtClean="0"/>
              <a:t>8.3.2023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0AA13B8E-57D1-4A69-9B93-81C6107DF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58E7655-CC4B-43E3-8F7C-C8E548847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8DED-D850-43BC-B90D-8BA7651BFF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85709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2B17E1FA-CAF3-4A6B-8D99-A66023F92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D3069-F609-40C1-B368-5AB43B7A763C}" type="datetimeFigureOut">
              <a:rPr lang="cs-CZ" smtClean="0"/>
              <a:t>8.3.2023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9679A82F-2596-4EB0-A0CB-282AA8F3C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CEDAC40-7AEF-477C-B790-2F25BE174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8DED-D850-43BC-B90D-8BA7651BFF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95732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9380F8-A5ED-40B5-BA6D-B5EEE2C21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7780C50-782B-4D77-8E9E-B7402BAB0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295AB3F-A4E7-41BC-9248-0945082FB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77C931E-E90C-4578-B712-DB3BDB0B2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D3069-F609-40C1-B368-5AB43B7A763C}" type="datetimeFigureOut">
              <a:rPr lang="cs-CZ" smtClean="0"/>
              <a:t>8.3.2023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A9DECDC-CF14-4861-9EDD-6FFA36EF4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BE1C85D-505C-4ADA-BF9D-F58ADD7F5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8DED-D850-43BC-B90D-8BA7651BFF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08460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4D33D96-3E00-47C6-8371-FB339E83F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2752556A-ABEF-4B6E-9A79-2D79CD8FC6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608C056-2A16-4B60-9241-4381A82FF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C5B44AB-9B4E-4ED7-ADDB-34CD88EBC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D3069-F609-40C1-B368-5AB43B7A763C}" type="datetimeFigureOut">
              <a:rPr lang="cs-CZ" smtClean="0"/>
              <a:t>8.3.2023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F87398A-989C-46D5-A641-DB4866286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5C8BFDF-EE2E-4751-8345-BB6CCC45F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8DED-D850-43BC-B90D-8BA7651BFF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26949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D6ED215-F7C9-41CA-9784-83A7B8346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9053B61-07D1-4AA9-9EAB-B124BF64D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6ED23DE-E976-4132-AF80-09194A9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D3069-F609-40C1-B368-5AB43B7A763C}" type="datetimeFigureOut">
              <a:rPr lang="cs-CZ" smtClean="0"/>
              <a:t>8.3.2023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AFAE0BD-D9CE-4CF2-B130-FA1120DAD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2C4F276-0F04-42FE-8623-50BC5EC60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8DED-D850-43BC-B90D-8BA7651BFF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03132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73A6905E-ACEE-49E8-BEF5-BAE59457D1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78385EA3-9DCB-49F1-B3AD-A39C32C96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118D2B6-7D31-487D-897E-D89BD8E39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D3069-F609-40C1-B368-5AB43B7A763C}" type="datetimeFigureOut">
              <a:rPr lang="cs-CZ" smtClean="0"/>
              <a:t>8.3.2023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0C76A50-5D07-4DE5-AA0D-7B22E0BBA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C31B1C7-C125-4E71-AAB8-1562543F0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8DED-D850-43BC-B90D-8BA7651BFF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23016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3D5A4C63-3781-43B6-AB62-A83AC2245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3680ABA-08EB-4859-97DD-AE2C1E9CE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7AADC06-4B3C-453B-B13E-D3E5BE30C6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D3069-F609-40C1-B368-5AB43B7A763C}" type="datetimeFigureOut">
              <a:rPr lang="cs-CZ" smtClean="0"/>
              <a:t>8.3.2023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6626FC8-803D-4549-8DC8-A830E81489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037BCB6-3328-4E24-825D-E8879D9F3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28DED-D850-43BC-B90D-8BA7651BFF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78730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RcjxwCHRYfE?feature=oembed" TargetMode="Externa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gi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stackoverflow.com/questions/4027225/implementation-of-fermats-primality-test" TargetMode="External"/><Relationship Id="rId13" Type="http://schemas.openxmlformats.org/officeDocument/2006/relationships/hyperlink" Target="https://stackoverflow.com/questions/43578906/how-do-you-implement-aks-test-in-java-to-determine-whether-a-number-is-prime" TargetMode="External"/><Relationship Id="rId3" Type="http://schemas.openxmlformats.org/officeDocument/2006/relationships/hyperlink" Target="https://cs.wikipedia.org/wiki/Test_prvo%C4%8D%C3%ADselnosti" TargetMode="External"/><Relationship Id="rId7" Type="http://schemas.openxmlformats.org/officeDocument/2006/relationships/hyperlink" Target="https://www.youtube.com/watch?v=RcjxwCHRYfE" TargetMode="External"/><Relationship Id="rId12" Type="http://schemas.openxmlformats.org/officeDocument/2006/relationships/hyperlink" Target="https://cs.wikipedia.org/wiki/Pascal%C5%AFv_troj%C3%BAheln%C3%ADk" TargetMode="External"/><Relationship Id="rId2" Type="http://schemas.openxmlformats.org/officeDocument/2006/relationships/hyperlink" Target="https://cs.wikipedia.org/wiki/Prvo%C4%8D%C3%ADslo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s.wikipedia.org/wiki/Fermat%C5%AFv_test_prvo%C4%8D%C3%ADselnosti" TargetMode="External"/><Relationship Id="rId11" Type="http://schemas.openxmlformats.org/officeDocument/2006/relationships/hyperlink" Target="https://www.youtube.com/watch?v=HvMSRWTE2mI" TargetMode="External"/><Relationship Id="rId5" Type="http://schemas.openxmlformats.org/officeDocument/2006/relationships/hyperlink" Target="https://www.algoritmy.net/article/65/Eratosthenovo-sito" TargetMode="External"/><Relationship Id="rId10" Type="http://schemas.openxmlformats.org/officeDocument/2006/relationships/hyperlink" Target="https://www.youtube.com/watch?v=D7AHbyAlgIA" TargetMode="External"/><Relationship Id="rId4" Type="http://schemas.openxmlformats.org/officeDocument/2006/relationships/hyperlink" Target="https://cs.wikipedia.org/wiki/Eratosthenovo_s%C3%ADto" TargetMode="External"/><Relationship Id="rId9" Type="http://schemas.openxmlformats.org/officeDocument/2006/relationships/hyperlink" Target="https://en.wikipedia.org/wiki/AKS_primality_tes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36815FE-3AF6-4F3C-AE1F-D9AA7F74A8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Prvočíselnost a její testování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9CB6F6A-13C3-4C7C-8547-8A9DEC7AD8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b="1" dirty="0"/>
              <a:t>Matěj Vojna</a:t>
            </a:r>
          </a:p>
        </p:txBody>
      </p:sp>
      <p:sp>
        <p:nvSpPr>
          <p:cNvPr id="4" name="Srdce 3">
            <a:extLst>
              <a:ext uri="{FF2B5EF4-FFF2-40B4-BE49-F238E27FC236}">
                <a16:creationId xmlns:a16="http://schemas.microsoft.com/office/drawing/2014/main" id="{BA5D622C-F71E-4F8D-B430-FD59A4346832}"/>
              </a:ext>
            </a:extLst>
          </p:cNvPr>
          <p:cNvSpPr/>
          <p:nvPr/>
        </p:nvSpPr>
        <p:spPr>
          <a:xfrm>
            <a:off x="5940458" y="4100660"/>
            <a:ext cx="311084" cy="263950"/>
          </a:xfrm>
          <a:prstGeom prst="hear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2193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A03306-D165-4EB6-987B-49B00A240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b="1" u="sng" dirty="0"/>
              <a:t>Co je prvočíslo?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2E85391-F494-4A34-B3EC-54369E4E7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Abychom mohli číslo považovat za prvočíslo, musí splňovat tyto podmínky:</a:t>
            </a:r>
          </a:p>
          <a:p>
            <a:pPr marL="0" indent="0">
              <a:buNone/>
            </a:pPr>
            <a:endParaRPr lang="cs-CZ" dirty="0"/>
          </a:p>
          <a:p>
            <a:r>
              <a:rPr lang="cs-CZ" dirty="0"/>
              <a:t>Je přirozené číslo větší než 1</a:t>
            </a:r>
          </a:p>
          <a:p>
            <a:r>
              <a:rPr lang="cs-CZ" dirty="0"/>
              <a:t>Je dělitelné pouze dvěma děliteli: jedničkou a samo sebou</a:t>
            </a:r>
          </a:p>
          <a:p>
            <a:endParaRPr lang="cs-CZ" dirty="0"/>
          </a:p>
          <a:p>
            <a:endParaRPr lang="cs-CZ" dirty="0"/>
          </a:p>
          <a:p>
            <a:pPr marL="0" indent="0">
              <a:buNone/>
            </a:pPr>
            <a:r>
              <a:rPr lang="cs-CZ" dirty="0"/>
              <a:t>Ostatní přirozená čísla se nazývají čísla </a:t>
            </a:r>
            <a:r>
              <a:rPr lang="cs-CZ" b="1" dirty="0"/>
              <a:t>složená</a:t>
            </a:r>
          </a:p>
        </p:txBody>
      </p:sp>
    </p:spTree>
    <p:extLst>
      <p:ext uri="{BB962C8B-B14F-4D97-AF65-F5344CB8AC3E}">
        <p14:creationId xmlns:p14="http://schemas.microsoft.com/office/powerpoint/2010/main" val="3277051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DDE2E1-FEF5-48FD-B4A6-31B920C08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b="1" u="sng" dirty="0"/>
              <a:t>Test prvočíselnosti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C73B744-9B24-4959-93C9-59BCD38E9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cs-CZ" dirty="0"/>
              <a:t>Je algoritmus z oboru teorie čísel, kterým lze určit, zda je zadané přirozené číslo prvočíslem. </a:t>
            </a:r>
          </a:p>
          <a:p>
            <a:pPr marL="0" indent="0">
              <a:buNone/>
            </a:pPr>
            <a:r>
              <a:rPr lang="cs-CZ" dirty="0"/>
              <a:t>Je obecně možný v polynomiálním čase.</a:t>
            </a:r>
          </a:p>
          <a:p>
            <a:pPr marL="0" indent="0">
              <a:buNone/>
            </a:pPr>
            <a:r>
              <a:rPr lang="cs-CZ" dirty="0"/>
              <a:t>Algoritmus obvykle otázku zodpoví, aniž by našel přímo prvočíselný rozklad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b="1" dirty="0"/>
              <a:t>Dělení algoritmů:</a:t>
            </a:r>
          </a:p>
          <a:p>
            <a:r>
              <a:rPr lang="cs-CZ" dirty="0"/>
              <a:t>Jednoduché algoritmy	</a:t>
            </a:r>
          </a:p>
          <a:p>
            <a:r>
              <a:rPr lang="cs-CZ" dirty="0"/>
              <a:t>obecné pravděpodobnostní algoritmy</a:t>
            </a:r>
          </a:p>
          <a:p>
            <a:r>
              <a:rPr lang="cs-CZ" dirty="0"/>
              <a:t>Specializované algoritmy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36714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1C2C74-97EB-46A3-8FDD-BB5E17C20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u="sng" dirty="0"/>
              <a:t>Jednoduché algoritmy</a:t>
            </a:r>
            <a:br>
              <a:rPr lang="cs-CZ" b="1" u="sng" dirty="0"/>
            </a:br>
            <a:r>
              <a:rPr lang="cs-CZ" b="1" u="sng" dirty="0"/>
              <a:t>- zkusmé dělení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1DC06EC-56AF-4A10-B577-328DD4144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Nejjednodušší algoritmus testující prvočíselnost</a:t>
            </a:r>
          </a:p>
          <a:p>
            <a:r>
              <a:rPr lang="cs-CZ" dirty="0"/>
              <a:t>Zkouší postupně dělit testované číslo možnými děliteli</a:t>
            </a:r>
          </a:p>
          <a:p>
            <a:r>
              <a:rPr lang="cs-CZ" dirty="0"/>
              <a:t>Jedná se o zkusmé dělení všemi přirozenými čísly menšími než číslo samo</a:t>
            </a:r>
          </a:p>
          <a:p>
            <a:endParaRPr lang="cs-CZ" dirty="0"/>
          </a:p>
          <a:p>
            <a:pPr marL="0" indent="0">
              <a:buNone/>
            </a:pPr>
            <a:r>
              <a:rPr lang="cs-CZ" b="1" dirty="0"/>
              <a:t>Optimalizované varianty dělení:</a:t>
            </a:r>
          </a:p>
          <a:p>
            <a:r>
              <a:rPr lang="cs-CZ" dirty="0"/>
              <a:t>Dělení nejdříve dvojkou a pak lichými čísly</a:t>
            </a:r>
          </a:p>
          <a:p>
            <a:r>
              <a:rPr lang="cs-CZ" dirty="0"/>
              <a:t>Dělení pouze prvočísly než odmocnina testovaného čísla</a:t>
            </a:r>
          </a:p>
          <a:p>
            <a:endParaRPr lang="cs-CZ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BA513211-7DC4-473F-A9C4-5DEA9438B85E}"/>
              </a:ext>
            </a:extLst>
          </p:cNvPr>
          <p:cNvSpPr txBox="1"/>
          <p:nvPr/>
        </p:nvSpPr>
        <p:spPr>
          <a:xfrm>
            <a:off x="8031760" y="704740"/>
            <a:ext cx="3322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Složitost:</a:t>
            </a:r>
          </a:p>
          <a:p>
            <a:r>
              <a:rPr lang="cs-CZ" b="1" dirty="0"/>
              <a:t>Asymptoticky exponenciální</a:t>
            </a:r>
          </a:p>
        </p:txBody>
      </p:sp>
    </p:spTree>
    <p:extLst>
      <p:ext uri="{BB962C8B-B14F-4D97-AF65-F5344CB8AC3E}">
        <p14:creationId xmlns:p14="http://schemas.microsoft.com/office/powerpoint/2010/main" val="1563642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0583A2-B0FE-4F28-B8E8-0BE3FFE74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u="sng" dirty="0"/>
              <a:t>Jednoduché algoritmy</a:t>
            </a:r>
            <a:br>
              <a:rPr lang="cs-CZ" b="1" u="sng" dirty="0"/>
            </a:br>
            <a:r>
              <a:rPr lang="cs-CZ" b="1" u="sng" dirty="0"/>
              <a:t>- </a:t>
            </a:r>
            <a:r>
              <a:rPr lang="cs-CZ" b="1" u="sng" dirty="0" err="1"/>
              <a:t>Eratosthenovo</a:t>
            </a:r>
            <a:r>
              <a:rPr lang="cs-CZ" b="1" u="sng" dirty="0"/>
              <a:t> síto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D45E0B2-383E-43E3-8768-1751409E6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000" dirty="0"/>
              <a:t>Jednoduchý algoritmus pro nalezení všech prvočísel menších než zadaná horní mez</a:t>
            </a:r>
          </a:p>
          <a:p>
            <a:r>
              <a:rPr lang="cs-CZ" sz="2000" dirty="0"/>
              <a:t>Funguje na principu </a:t>
            </a:r>
            <a:r>
              <a:rPr lang="cs-CZ" sz="2000" b="1" dirty="0"/>
              <a:t>prosívání seznamu čísel</a:t>
            </a:r>
          </a:p>
          <a:p>
            <a:r>
              <a:rPr lang="cs-CZ" sz="2000" dirty="0"/>
              <a:t>Opakovaně se vyjme první číslo ze seznamu, toto číslo je prvočíslem; jeho násobky jsou čísla složená a ze seznamu se odstraní</a:t>
            </a:r>
          </a:p>
          <a:p>
            <a:r>
              <a:rPr lang="cs-CZ" sz="2000" dirty="0"/>
              <a:t>Pracuje do té doby, než je ze seznamu odstraněno poslední číslo, nebo do druhé odmocniny nejvyššího čísla</a:t>
            </a:r>
          </a:p>
          <a:p>
            <a:endParaRPr lang="cs-CZ" sz="2000" dirty="0"/>
          </a:p>
          <a:p>
            <a:pPr marL="0" indent="0">
              <a:buNone/>
            </a:pPr>
            <a:r>
              <a:rPr lang="cs-CZ" sz="2000" b="1" dirty="0"/>
              <a:t>Příklad </a:t>
            </a:r>
            <a:r>
              <a:rPr lang="cs-CZ" sz="2000" dirty="0"/>
              <a:t>pro nalezení prvočísel mezi prvními 30 čísly:</a:t>
            </a:r>
            <a:endParaRPr lang="cs-CZ" sz="2000" b="1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E5EC151A-2548-4232-904B-1A8FE94F9718}"/>
              </a:ext>
            </a:extLst>
          </p:cNvPr>
          <p:cNvSpPr txBox="1"/>
          <p:nvPr/>
        </p:nvSpPr>
        <p:spPr>
          <a:xfrm>
            <a:off x="9415943" y="704740"/>
            <a:ext cx="1937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Složitost:</a:t>
            </a:r>
          </a:p>
          <a:p>
            <a:r>
              <a:rPr lang="cs-CZ" b="1" dirty="0"/>
              <a:t>O(N*log(log N))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80736FAC-1EA5-4E6D-A543-831769CC9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24" y="4775610"/>
            <a:ext cx="1402476" cy="1682971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18D9C50D-4831-4862-9E52-A585FF8C9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5901" y="4776135"/>
            <a:ext cx="1379054" cy="1682446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932B104D-AC09-4CE6-BACC-8F4E7876B8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4537" y="4767364"/>
            <a:ext cx="1353271" cy="1682446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38A69C1B-BB46-49A2-88F9-2F0D4B120E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8709" y="4769511"/>
            <a:ext cx="1353271" cy="1684685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21309647-7820-4EAF-AEB8-E4E868B75A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2865" y="4773896"/>
            <a:ext cx="1355073" cy="1684685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42F94C7C-2949-4E47-9C6B-0749B8DB92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7938" y="4773897"/>
            <a:ext cx="2753464" cy="1684685"/>
          </a:xfrm>
          <a:prstGeom prst="rect">
            <a:avLst/>
          </a:prstGeom>
        </p:spPr>
      </p:pic>
      <p:pic>
        <p:nvPicPr>
          <p:cNvPr id="11" name="Obrázek 10">
            <a:extLst>
              <a:ext uri="{FF2B5EF4-FFF2-40B4-BE49-F238E27FC236}">
                <a16:creationId xmlns:a16="http://schemas.microsoft.com/office/drawing/2014/main" id="{B6094AE1-7922-4A2F-8D88-41A4F0AF04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81402" y="4776136"/>
            <a:ext cx="1377339" cy="168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941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7BD6D-DA5F-4AE3-A891-99848BA25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b="1" u="sng" dirty="0" err="1"/>
              <a:t>Eratosthenovo</a:t>
            </a:r>
            <a:r>
              <a:rPr lang="cs-CZ" b="1" u="sng" dirty="0"/>
              <a:t> síto v grafickém znázornění</a:t>
            </a:r>
          </a:p>
        </p:txBody>
      </p:sp>
      <p:pic>
        <p:nvPicPr>
          <p:cNvPr id="8" name="Zástupný obsah 7" descr="Obsah obrázku stůl&#10;&#10;Popis byl vytvořen automaticky">
            <a:extLst>
              <a:ext uri="{FF2B5EF4-FFF2-40B4-BE49-F238E27FC236}">
                <a16:creationId xmlns:a16="http://schemas.microsoft.com/office/drawing/2014/main" id="{089D7084-2093-4428-9E33-BF10EDAA27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422" y="1602874"/>
            <a:ext cx="5897156" cy="4890001"/>
          </a:xfrm>
        </p:spPr>
      </p:pic>
    </p:spTree>
    <p:extLst>
      <p:ext uri="{BB962C8B-B14F-4D97-AF65-F5344CB8AC3E}">
        <p14:creationId xmlns:p14="http://schemas.microsoft.com/office/powerpoint/2010/main" val="3481857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02683E-73BF-41AF-859F-E36B3086A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b="1" u="sng" dirty="0" err="1"/>
              <a:t>Eratosthenovo</a:t>
            </a:r>
            <a:r>
              <a:rPr lang="cs-CZ" b="1" u="sng" dirty="0"/>
              <a:t> síto v Javě</a:t>
            </a:r>
          </a:p>
        </p:txBody>
      </p:sp>
      <p:pic>
        <p:nvPicPr>
          <p:cNvPr id="4" name="Zástupný obsah 3">
            <a:extLst>
              <a:ext uri="{FF2B5EF4-FFF2-40B4-BE49-F238E27FC236}">
                <a16:creationId xmlns:a16="http://schemas.microsoft.com/office/drawing/2014/main" id="{68F2FDCF-DA16-4987-8137-EAAEEEF953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0411" y="1783680"/>
            <a:ext cx="891117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786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1A6F65C-A054-4640-A499-E2270E88F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u="sng" dirty="0"/>
              <a:t>Obecné pravděpodobnostní algoritmy</a:t>
            </a:r>
            <a:br>
              <a:rPr lang="cs-CZ" b="1" u="sng" dirty="0"/>
            </a:br>
            <a:r>
              <a:rPr lang="cs-CZ" b="1" u="sng" dirty="0"/>
              <a:t>- </a:t>
            </a:r>
            <a:r>
              <a:rPr lang="cs-CZ" b="1" u="sng" dirty="0" err="1"/>
              <a:t>Fermatův</a:t>
            </a:r>
            <a:r>
              <a:rPr lang="cs-CZ" b="1" u="sng" dirty="0"/>
              <a:t> test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430B96AC-7C9E-44FD-BD9C-342164ED9B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1922"/>
                <a:ext cx="10515600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cs-CZ" dirty="0"/>
                  <a:t>Často</a:t>
                </a:r>
                <a:r>
                  <a:rPr lang="cs-CZ" b="1" dirty="0"/>
                  <a:t> </a:t>
                </a:r>
                <a:r>
                  <a:rPr lang="cs-CZ" dirty="0"/>
                  <a:t>používaný algoritmus</a:t>
                </a:r>
              </a:p>
              <a:p>
                <a:r>
                  <a:rPr lang="cs-CZ" dirty="0"/>
                  <a:t>Je spíše označován jako test složenosti</a:t>
                </a:r>
              </a:p>
              <a:p>
                <a:r>
                  <a:rPr lang="cs-CZ" dirty="0"/>
                  <a:t>Funguje na principu </a:t>
                </a:r>
                <a:r>
                  <a:rPr lang="cs-CZ" dirty="0" err="1"/>
                  <a:t>Fermatovy</a:t>
                </a:r>
                <a:r>
                  <a:rPr lang="cs-CZ" dirty="0"/>
                  <a:t> věty: 	</a:t>
                </a:r>
              </a:p>
              <a:p>
                <a:pPr marL="0" indent="0">
                  <a:buNone/>
                </a:pPr>
                <a:r>
                  <a:rPr lang="cs-CZ" sz="2400" b="1" dirty="0"/>
                  <a:t>	Je </a:t>
                </a:r>
                <a14:m>
                  <m:oMath xmlns:m="http://schemas.openxmlformats.org/officeDocument/2006/math">
                    <m:r>
                      <a:rPr lang="cs-CZ" sz="2400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cs-CZ" sz="2400" b="1" dirty="0"/>
                  <a:t> prvočíslo?</a:t>
                </a:r>
              </a:p>
              <a:p>
                <a:pPr marL="0" indent="0">
                  <a:buNone/>
                </a:pPr>
                <a:r>
                  <a:rPr lang="cs-CZ" b="1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cs-CZ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cs-CZ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cs-CZ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sup>
                    </m:sSup>
                    <m:r>
                      <a:rPr lang="cs-CZ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cs-CZ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cs-CZ" b="1" dirty="0">
                    <a:ea typeface="Cambria Math" panose="02040503050406030204" pitchFamily="18" charset="0"/>
                  </a:rPr>
                  <a:t>	</a:t>
                </a:r>
              </a:p>
              <a:p>
                <a:pPr marL="0" indent="0">
                  <a:buNone/>
                </a:pPr>
                <a:r>
                  <a:rPr lang="cs-CZ" sz="2400" dirty="0">
                    <a:ea typeface="Cambria Math" panose="02040503050406030204" pitchFamily="18" charset="0"/>
                  </a:rPr>
                  <a:t>	pokud je </a:t>
                </a:r>
                <a14:m>
                  <m:oMath xmlns:m="http://schemas.openxmlformats.org/officeDocument/2006/math">
                    <m:r>
                      <a:rPr lang="cs-CZ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cs-CZ" sz="2400" dirty="0">
                    <a:ea typeface="Cambria Math" panose="02040503050406030204" pitchFamily="18" charset="0"/>
                  </a:rPr>
                  <a:t> prvočíslo, </a:t>
                </a:r>
                <a:r>
                  <a:rPr lang="cs-CZ" sz="2400" b="1" dirty="0">
                    <a:ea typeface="Cambria Math" panose="02040503050406030204" pitchFamily="18" charset="0"/>
                  </a:rPr>
                  <a:t>výsledné </a:t>
                </a:r>
                <a14:m>
                  <m:oMath xmlns:m="http://schemas.openxmlformats.org/officeDocument/2006/math">
                    <m:r>
                      <a:rPr lang="cs-CZ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cs-CZ" sz="2400" b="1" dirty="0">
                    <a:ea typeface="Cambria Math" panose="02040503050406030204" pitchFamily="18" charset="0"/>
                  </a:rPr>
                  <a:t> budou jeho násobky</a:t>
                </a:r>
              </a:p>
              <a:p>
                <a:pPr marL="0" indent="0">
                  <a:buNone/>
                </a:pPr>
                <a:endParaRPr lang="cs-CZ" b="1" dirty="0"/>
              </a:p>
              <a:p>
                <a:pPr marL="0" indent="0">
                  <a:buNone/>
                </a:pPr>
                <a:r>
                  <a:rPr lang="cs-CZ" dirty="0"/>
                  <a:t>Pokud se podaří nalézt </a:t>
                </a:r>
                <a14:m>
                  <m:oMath xmlns:m="http://schemas.openxmlformats.org/officeDocument/2006/math">
                    <m:r>
                      <a:rPr lang="cs-CZ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cs-CZ" dirty="0"/>
                  <a:t>, pro které rovnost neplatí, </a:t>
                </a:r>
                <a:r>
                  <a:rPr lang="cs-CZ" b="1" dirty="0"/>
                  <a:t>pak </a:t>
                </a:r>
                <a14:m>
                  <m:oMath xmlns:m="http://schemas.openxmlformats.org/officeDocument/2006/math">
                    <m:r>
                      <a:rPr lang="cs-CZ" b="1" i="1" dirty="0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cs-CZ" b="1" dirty="0"/>
                  <a:t> nemůže být prvočíslo.</a:t>
                </a:r>
              </a:p>
              <a:p>
                <a:r>
                  <a:rPr lang="cs-CZ" dirty="0"/>
                  <a:t>Nevýhoda je, že test se musí provést </a:t>
                </a:r>
                <a:r>
                  <a:rPr lang="cs-CZ" b="1" dirty="0"/>
                  <a:t>pro všechna </a:t>
                </a:r>
                <a14:m>
                  <m:oMath xmlns:m="http://schemas.openxmlformats.org/officeDocument/2006/math">
                    <m:r>
                      <a:rPr lang="cs-CZ" b="1">
                        <a:latin typeface="Cambria Math" panose="02040503050406030204" pitchFamily="18" charset="0"/>
                      </a:rPr>
                      <m:t>{</m:t>
                    </m:r>
                    <m:r>
                      <a:rPr lang="cs-CZ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cs-CZ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cs-CZ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  <m:r>
                      <a:rPr lang="cs-CZ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cs-CZ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</m:t>
                    </m:r>
                    <m:r>
                      <a:rPr lang="cs-CZ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cs-CZ" b="1" dirty="0"/>
              </a:p>
              <a:p>
                <a:pPr marL="0" indent="0">
                  <a:buNone/>
                </a:pPr>
                <a:endParaRPr lang="cs-CZ" dirty="0"/>
              </a:p>
            </p:txBody>
          </p:sp>
        </mc:Choice>
        <mc:Fallback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430B96AC-7C9E-44FD-BD9C-342164ED9B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1922"/>
                <a:ext cx="10515600" cy="4351338"/>
              </a:xfrm>
              <a:blipFill>
                <a:blip r:embed="rId3"/>
                <a:stretch>
                  <a:fillRect l="-1043" t="-2945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ovéPole 3">
            <a:extLst>
              <a:ext uri="{FF2B5EF4-FFF2-40B4-BE49-F238E27FC236}">
                <a16:creationId xmlns:a16="http://schemas.microsoft.com/office/drawing/2014/main" id="{EF73BF37-5CFD-4CC2-A606-85EEBCB66588}"/>
              </a:ext>
            </a:extLst>
          </p:cNvPr>
          <p:cNvSpPr txBox="1"/>
          <p:nvPr/>
        </p:nvSpPr>
        <p:spPr>
          <a:xfrm>
            <a:off x="10351316" y="704740"/>
            <a:ext cx="2004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Složitost:</a:t>
            </a:r>
          </a:p>
          <a:p>
            <a:r>
              <a:rPr lang="cs-CZ" b="1" dirty="0"/>
              <a:t>O(log(n)3)</a:t>
            </a:r>
          </a:p>
        </p:txBody>
      </p:sp>
    </p:spTree>
    <p:extLst>
      <p:ext uri="{BB962C8B-B14F-4D97-AF65-F5344CB8AC3E}">
        <p14:creationId xmlns:p14="http://schemas.microsoft.com/office/powerpoint/2010/main" val="3958697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2195E75-67F3-4363-81BA-72199DA15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b="1" u="sng" dirty="0" err="1"/>
              <a:t>Fermatův</a:t>
            </a:r>
            <a:r>
              <a:rPr lang="cs-CZ" b="1" u="sng" dirty="0"/>
              <a:t> test - příklad</a:t>
            </a:r>
          </a:p>
        </p:txBody>
      </p:sp>
      <p:pic>
        <p:nvPicPr>
          <p:cNvPr id="22" name="Online médium 21" title="Primality (1 of 2: Fermat's Test)">
            <a:hlinkClick r:id="" action="ppaction://media"/>
            <a:extLst>
              <a:ext uri="{FF2B5EF4-FFF2-40B4-BE49-F238E27FC236}">
                <a16:creationId xmlns:a16="http://schemas.microsoft.com/office/drawing/2014/main" id="{C8AF8F31-D182-45A4-BDF9-987760921BC4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747711" y="1831178"/>
            <a:ext cx="5223380" cy="295141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ovéPole 22">
                <a:extLst>
                  <a:ext uri="{FF2B5EF4-FFF2-40B4-BE49-F238E27FC236}">
                    <a16:creationId xmlns:a16="http://schemas.microsoft.com/office/drawing/2014/main" id="{1F1E6218-6550-40D6-8AB0-AA4E121F6331}"/>
                  </a:ext>
                </a:extLst>
              </p:cNvPr>
              <p:cNvSpPr txBox="1"/>
              <p:nvPr/>
            </p:nvSpPr>
            <p:spPr>
              <a:xfrm>
                <a:off x="838200" y="1630956"/>
                <a:ext cx="5159229" cy="315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cs-CZ" dirty="0"/>
                  <a:t>Počítáme podle vzorce: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cs-CZ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cs-CZ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cs-CZ" b="1" i="1">
                            <a:latin typeface="Cambria Math" panose="02040503050406030204" pitchFamily="18" charset="0"/>
                          </a:rPr>
                          <m:t>𝒑</m:t>
                        </m:r>
                      </m:sup>
                    </m:sSup>
                    <m:r>
                      <a:rPr lang="cs-CZ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cs-CZ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endParaRPr lang="cs-CZ" dirty="0"/>
              </a:p>
              <a:p>
                <a:pPr/>
                <a:endParaRPr lang="cs-CZ" dirty="0"/>
              </a:p>
              <a:p>
                <a:pPr/>
                <a:r>
                  <a:rPr lang="cs-CZ" dirty="0"/>
                  <a:t>Pro </a:t>
                </a:r>
                <a14:m>
                  <m:oMath xmlns:m="http://schemas.openxmlformats.org/officeDocument/2006/math">
                    <m:r>
                      <a:rPr lang="cs-CZ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cs-CZ" dirty="0"/>
                  <a:t> zvolíme například číslo </a:t>
                </a:r>
                <a:r>
                  <a:rPr lang="cs-CZ" b="1" dirty="0"/>
                  <a:t>5</a:t>
                </a:r>
              </a:p>
              <a:p>
                <a:pPr/>
                <a:endParaRPr lang="cs-CZ" i="1" dirty="0">
                  <a:latin typeface="Cambria Math" panose="02040503050406030204" pitchFamily="18" charset="0"/>
                </a:endParaRPr>
              </a:p>
              <a:p>
                <a:pPr/>
                <a14:m>
                  <m:oMath xmlns:m="http://schemas.openxmlformats.org/officeDocument/2006/math">
                    <m:sSup>
                      <m:sSupPr>
                        <m:ctrlPr>
                          <a:rPr lang="cs-CZ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cs-CZ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cs-CZ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cs-CZ" b="0" i="1" smtClean="0">
                        <a:latin typeface="Cambria Math" panose="02040503050406030204" pitchFamily="18" charset="0"/>
                      </a:rPr>
                      <m:t>−5=0</m:t>
                    </m:r>
                  </m:oMath>
                </a14:m>
                <a:r>
                  <a:rPr lang="cs-CZ" dirty="0"/>
                  <a:t> 	je 0 násobkem čísla 5?</a:t>
                </a:r>
                <a:r>
                  <a:rPr lang="cs-CZ" dirty="0">
                    <a:sym typeface="Wingdings" panose="05000000000000000000" pitchFamily="2" charset="2"/>
                  </a:rPr>
                  <a:t></a:t>
                </a:r>
                <a:endParaRPr lang="cs-CZ" dirty="0"/>
              </a:p>
              <a:p>
                <a:pPr/>
                <a14:m>
                  <m:oMath xmlns:m="http://schemas.openxmlformats.org/officeDocument/2006/math">
                    <m:sSup>
                      <m:sSupPr>
                        <m:ctrlPr>
                          <a:rPr lang="cs-CZ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cs-CZ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cs-CZ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cs-CZ" b="0" i="1" smtClean="0">
                        <a:latin typeface="Cambria Math" panose="02040503050406030204" pitchFamily="18" charset="0"/>
                      </a:rPr>
                      <m:t>−2=30</m:t>
                    </m:r>
                  </m:oMath>
                </a14:m>
                <a:r>
                  <a:rPr lang="cs-CZ" dirty="0"/>
                  <a:t>	je 30 násobkem čísla 5?</a:t>
                </a:r>
                <a:r>
                  <a:rPr lang="cs-CZ" dirty="0">
                    <a:sym typeface="Wingdings" panose="05000000000000000000" pitchFamily="2" charset="2"/>
                  </a:rPr>
                  <a:t> </a:t>
                </a:r>
                <a:endParaRPr lang="cs-CZ" dirty="0"/>
              </a:p>
              <a:p>
                <a:pPr/>
                <a14:m>
                  <m:oMath xmlns:m="http://schemas.openxmlformats.org/officeDocument/2006/math">
                    <m:sSup>
                      <m:sSupPr>
                        <m:ctrlPr>
                          <a:rPr lang="cs-CZ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cs-CZ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cs-CZ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cs-CZ" b="0" i="1" smtClean="0">
                        <a:latin typeface="Cambria Math" panose="02040503050406030204" pitchFamily="18" charset="0"/>
                      </a:rPr>
                      <m:t>−3=240</m:t>
                    </m:r>
                  </m:oMath>
                </a14:m>
                <a:r>
                  <a:rPr lang="cs-CZ" dirty="0"/>
                  <a:t>	je 240 násobkem čísla 5?</a:t>
                </a:r>
                <a:r>
                  <a:rPr lang="cs-CZ" dirty="0">
                    <a:sym typeface="Wingdings" panose="05000000000000000000" pitchFamily="2" charset="2"/>
                  </a:rPr>
                  <a:t> </a:t>
                </a:r>
                <a:endParaRPr lang="cs-CZ" dirty="0"/>
              </a:p>
              <a:p>
                <a:pPr/>
                <a14:m>
                  <m:oMath xmlns:m="http://schemas.openxmlformats.org/officeDocument/2006/math">
                    <m:sSup>
                      <m:sSupPr>
                        <m:ctrlPr>
                          <a:rPr lang="cs-CZ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cs-CZ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cs-CZ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cs-CZ" b="0" i="1" smtClean="0">
                        <a:latin typeface="Cambria Math" panose="02040503050406030204" pitchFamily="18" charset="0"/>
                      </a:rPr>
                      <m:t>−4=1020</m:t>
                    </m:r>
                  </m:oMath>
                </a14:m>
                <a:r>
                  <a:rPr lang="cs-CZ" dirty="0"/>
                  <a:t>	je 1020 násobkem čísla 5?</a:t>
                </a:r>
                <a:r>
                  <a:rPr lang="cs-CZ" dirty="0">
                    <a:sym typeface="Wingdings" panose="05000000000000000000" pitchFamily="2" charset="2"/>
                  </a:rPr>
                  <a:t> </a:t>
                </a:r>
              </a:p>
              <a:p>
                <a:pPr/>
                <a:endParaRPr lang="cs-CZ" dirty="0">
                  <a:sym typeface="Wingdings" panose="05000000000000000000" pitchFamily="2" charset="2"/>
                </a:endParaRPr>
              </a:p>
              <a:p>
                <a:pPr/>
                <a:r>
                  <a:rPr lang="cs-CZ" dirty="0">
                    <a:sym typeface="Wingdings" panose="05000000000000000000" pitchFamily="2" charset="2"/>
                  </a:rPr>
                  <a:t>Všechny výsledky jsou násobky čísla 5, tudíž </a:t>
                </a:r>
                <a:r>
                  <a:rPr lang="cs-CZ" b="1" dirty="0">
                    <a:sym typeface="Wingdings" panose="05000000000000000000" pitchFamily="2" charset="2"/>
                  </a:rPr>
                  <a:t>5 musí být prvočíslo</a:t>
                </a:r>
                <a:endParaRPr lang="cs-CZ" b="1" dirty="0"/>
              </a:p>
            </p:txBody>
          </p:sp>
        </mc:Choice>
        <mc:Fallback>
          <p:sp>
            <p:nvSpPr>
              <p:cNvPr id="23" name="TextovéPole 22">
                <a:extLst>
                  <a:ext uri="{FF2B5EF4-FFF2-40B4-BE49-F238E27FC236}">
                    <a16:creationId xmlns:a16="http://schemas.microsoft.com/office/drawing/2014/main" id="{1F1E6218-6550-40D6-8AB0-AA4E121F6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30956"/>
                <a:ext cx="5159229" cy="3151632"/>
              </a:xfrm>
              <a:prstGeom prst="rect">
                <a:avLst/>
              </a:prstGeom>
              <a:blipFill>
                <a:blip r:embed="rId4"/>
                <a:stretch>
                  <a:fillRect l="-1064" t="-1161" b="-2128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513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1F54C7-0B6B-4B01-8982-ECCFBC05C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b="1" u="sng" dirty="0" err="1"/>
              <a:t>Fermatův</a:t>
            </a:r>
            <a:r>
              <a:rPr lang="cs-CZ" b="1" u="sng" dirty="0"/>
              <a:t> test v Javě</a:t>
            </a:r>
          </a:p>
        </p:txBody>
      </p:sp>
      <p:pic>
        <p:nvPicPr>
          <p:cNvPr id="4" name="Zástupný obsah 3">
            <a:extLst>
              <a:ext uri="{FF2B5EF4-FFF2-40B4-BE49-F238E27FC236}">
                <a16:creationId xmlns:a16="http://schemas.microsoft.com/office/drawing/2014/main" id="{35FBDA5B-C334-4A28-8D59-C578930284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4484" y="1690688"/>
            <a:ext cx="8083031" cy="428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991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91B5B5-6517-4E5A-B230-6886A6109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u="sng" dirty="0"/>
              <a:t>- AKS test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22218443-2965-470D-9EA8-397F19A422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5921" y="1825625"/>
                <a:ext cx="10515600" cy="4351338"/>
              </a:xfrm>
            </p:spPr>
            <p:txBody>
              <a:bodyPr/>
              <a:lstStyle/>
              <a:p>
                <a:r>
                  <a:rPr lang="cs-CZ" dirty="0"/>
                  <a:t>Agrawal–</a:t>
                </a:r>
                <a:r>
                  <a:rPr lang="cs-CZ" dirty="0" err="1"/>
                  <a:t>Kayal</a:t>
                </a:r>
                <a:r>
                  <a:rPr lang="cs-CZ" dirty="0"/>
                  <a:t>–</a:t>
                </a:r>
                <a:r>
                  <a:rPr lang="cs-CZ" dirty="0" err="1"/>
                  <a:t>Saxena</a:t>
                </a:r>
                <a:r>
                  <a:rPr lang="cs-CZ" dirty="0"/>
                  <a:t> test</a:t>
                </a:r>
              </a:p>
              <a:p>
                <a:r>
                  <a:rPr lang="cs-CZ" dirty="0"/>
                  <a:t>První test, který je zároveň deterministický, v polynomiálním čase, není podmíněný žádnou vedlejší hypotézou a platí pro všechna přirozená čísla</a:t>
                </a:r>
              </a:p>
              <a:p>
                <a:r>
                  <a:rPr lang="cs-CZ" dirty="0"/>
                  <a:t>Námi zvolené číslo </a:t>
                </a:r>
                <a14:m>
                  <m:oMath xmlns:m="http://schemas.openxmlformats.org/officeDocument/2006/math">
                    <m:r>
                      <a:rPr lang="cs-CZ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cs-CZ" dirty="0"/>
                  <a:t> můžeme otestovat pomocí vzorce:</a:t>
                </a:r>
              </a:p>
              <a:p>
                <a:pPr marL="2286000" lvl="5" indent="0">
                  <a:buNone/>
                </a:pPr>
                <a:endParaRPr lang="cs-CZ" sz="3600" i="1" dirty="0">
                  <a:latin typeface="Cambria Math" panose="02040503050406030204" pitchFamily="18" charset="0"/>
                </a:endParaRPr>
              </a:p>
              <a:p>
                <a:pPr marL="2286000" lvl="5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cs-CZ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cs-CZ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s-CZ" sz="3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cs-CZ" sz="3600" b="1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cs-CZ" sz="3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cs-CZ" sz="36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p>
                      <m:r>
                        <a:rPr lang="cs-CZ" sz="3600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cs-CZ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cs-CZ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cs-CZ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cs-CZ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</m:sup>
                      </m:sSup>
                      <m:r>
                        <a:rPr lang="cs-CZ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 </m:t>
                      </m:r>
                      <m:r>
                        <a:rPr lang="cs-CZ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cs-CZ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cs-CZ" sz="3600" b="1" dirty="0">
                  <a:ea typeface="Cambria Math" panose="02040503050406030204" pitchFamily="18" charset="0"/>
                </a:endParaRPr>
              </a:p>
              <a:p>
                <a:endParaRPr lang="cs-CZ" dirty="0"/>
              </a:p>
              <a:p>
                <a:r>
                  <a:rPr lang="cs-CZ" b="1" dirty="0"/>
                  <a:t>Pokud budou koeficienty </a:t>
                </a:r>
                <a14:m>
                  <m:oMath xmlns:m="http://schemas.openxmlformats.org/officeDocument/2006/math">
                    <m:r>
                      <a:rPr lang="cs-CZ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cs-CZ" b="1" dirty="0"/>
                  <a:t> dělitelné číslem </a:t>
                </a:r>
                <a14:m>
                  <m:oMath xmlns:m="http://schemas.openxmlformats.org/officeDocument/2006/math">
                    <m:r>
                      <a:rPr lang="cs-CZ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cs-CZ" b="1" dirty="0"/>
                  <a:t>, tak </a:t>
                </a:r>
                <a14:m>
                  <m:oMath xmlns:m="http://schemas.openxmlformats.org/officeDocument/2006/math">
                    <m:r>
                      <a:rPr lang="cs-CZ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cs-CZ" b="1" dirty="0"/>
                  <a:t> je prvočíslo</a:t>
                </a:r>
              </a:p>
            </p:txBody>
          </p:sp>
        </mc:Choice>
        <mc:Fallback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22218443-2965-470D-9EA8-397F19A422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5921" y="1825625"/>
                <a:ext cx="10515600" cy="4351338"/>
              </a:xfrm>
              <a:blipFill>
                <a:blip r:embed="rId2"/>
                <a:stretch>
                  <a:fillRect l="-1043" t="-2241" b="-3782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ovéPole 3">
                <a:extLst>
                  <a:ext uri="{FF2B5EF4-FFF2-40B4-BE49-F238E27FC236}">
                    <a16:creationId xmlns:a16="http://schemas.microsoft.com/office/drawing/2014/main" id="{04C37451-13DF-4257-945C-0D1A6B22716E}"/>
                  </a:ext>
                </a:extLst>
              </p:cNvPr>
              <p:cNvSpPr txBox="1"/>
              <p:nvPr/>
            </p:nvSpPr>
            <p:spPr>
              <a:xfrm>
                <a:off x="10105937" y="681037"/>
                <a:ext cx="124786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cs-CZ" b="1" dirty="0"/>
                  <a:t>Složitost: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cs-CZ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cs-CZ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cs-CZ" b="1" i="0" smtClean="0">
                          <a:latin typeface="Cambria Math" panose="02040503050406030204" pitchFamily="18" charset="0"/>
                        </a:rPr>
                        <m:t>𝐥𝐨𝐠</m:t>
                      </m:r>
                      <m:r>
                        <a:rPr lang="cs-CZ" b="1" i="1" smtClean="0">
                          <a:latin typeface="Cambria Math" panose="02040503050406030204" pitchFamily="18" charset="0"/>
                        </a:rPr>
                        <m:t>⁡</m:t>
                      </m:r>
                      <m:sSup>
                        <m:sSupPr>
                          <m:ctrlPr>
                            <a:rPr lang="cs-CZ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cs-CZ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cs-CZ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cs-CZ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cs-CZ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cs-CZ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cs-CZ" b="1" dirty="0"/>
              </a:p>
            </p:txBody>
          </p:sp>
        </mc:Choice>
        <mc:Fallback>
          <p:sp>
            <p:nvSpPr>
              <p:cNvPr id="4" name="TextovéPole 3">
                <a:extLst>
                  <a:ext uri="{FF2B5EF4-FFF2-40B4-BE49-F238E27FC236}">
                    <a16:creationId xmlns:a16="http://schemas.microsoft.com/office/drawing/2014/main" id="{04C37451-13DF-4257-945C-0D1A6B227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5937" y="681037"/>
                <a:ext cx="1247863" cy="646331"/>
              </a:xfrm>
              <a:prstGeom prst="rect">
                <a:avLst/>
              </a:prstGeom>
              <a:blipFill>
                <a:blip r:embed="rId3"/>
                <a:stretch>
                  <a:fillRect l="-4390" t="-5660" r="-7317" b="-8491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0969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C658EF2-7EF4-49DE-9916-B411BF771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765646" cy="1325563"/>
          </a:xfrm>
        </p:spPr>
        <p:txBody>
          <a:bodyPr/>
          <a:lstStyle/>
          <a:p>
            <a:pPr algn="ctr"/>
            <a:r>
              <a:rPr lang="cs-CZ" b="1" u="sng" dirty="0"/>
              <a:t>Jak AKS test funguje</a:t>
            </a:r>
            <a:br>
              <a:rPr lang="cs-CZ" b="1" u="sng" dirty="0"/>
            </a:br>
            <a:r>
              <a:rPr lang="cs-CZ" b="1" u="sng" dirty="0"/>
              <a:t>příklad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89B65D14-C025-47A3-840E-1376171170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520655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cs-CZ" dirty="0"/>
                  <a:t>Za </a:t>
                </a:r>
                <a14:m>
                  <m:oMath xmlns:m="http://schemas.openxmlformats.org/officeDocument/2006/math">
                    <m:r>
                      <a:rPr lang="cs-CZ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cs-CZ" dirty="0"/>
                  <a:t> zvolíme například číslo 3</a:t>
                </a:r>
              </a:p>
              <a:p>
                <a:pPr marL="0" indent="0">
                  <a:buNone/>
                </a:pPr>
                <a:r>
                  <a:rPr lang="cs-CZ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cs-CZ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cs-CZ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cs-CZ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cs-CZ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  <m:sup>
                        <m:r>
                          <a:rPr lang="cs-CZ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cs-CZ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cs-CZ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cs-CZ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cs-CZ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cs-CZ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cs-CZ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cs-CZ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cs-CZ" b="0" dirty="0"/>
              </a:p>
              <a:p>
                <a:pPr marL="0" indent="0">
                  <a:buNone/>
                </a:pPr>
                <a:endParaRPr lang="cs-CZ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cs-CZ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cs-CZ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cs-CZ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cs-CZ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cs-CZ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cs-CZ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cs-CZ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cs-CZ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cs-CZ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cs-CZ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cs-CZ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cs-CZ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cs-CZ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cs-CZ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cs-CZ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cs-CZ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cs-CZ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cs-CZ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cs-CZ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cs-CZ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cs-CZ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cs-CZ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−1−</m:t>
                      </m:r>
                      <m:d>
                        <m:dPr>
                          <m:ctrlPr>
                            <a:rPr lang="cs-CZ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cs-CZ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cs-CZ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cs-CZ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cs-CZ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cs-CZ" b="0" dirty="0"/>
              </a:p>
              <a:p>
                <a:pPr marL="0" indent="0">
                  <a:buNone/>
                </a:pPr>
                <a:br>
                  <a:rPr lang="cs-CZ" b="1" i="1" dirty="0">
                    <a:latin typeface="Cambria Math" panose="02040503050406030204" pitchFamily="18" charset="0"/>
                  </a:rPr>
                </a:br>
                <a:r>
                  <a:rPr lang="cs-CZ" b="1" i="1" dirty="0">
                    <a:latin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cs-CZ" b="1" i="1" u="sng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cs-CZ" b="1" i="1" u="sng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cs-CZ" b="1" i="1" u="sng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cs-CZ" b="1" i="1" u="sng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cs-CZ" b="1" i="1" u="sng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cs-CZ" b="1" i="1" u="sng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cs-CZ" b="1" i="1" u="sng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cs-CZ" b="1" i="1" u="sng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cs-CZ" b="0" i="1" u="sng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cs-CZ" b="0" u="sng" dirty="0"/>
              </a:p>
              <a:p>
                <a:pPr marL="0" indent="0">
                  <a:buNone/>
                </a:pPr>
                <a:endParaRPr lang="cs-CZ" dirty="0"/>
              </a:p>
              <a:p>
                <a:pPr marL="0" indent="0">
                  <a:buNone/>
                </a:pPr>
                <a:r>
                  <a:rPr lang="cs-CZ" dirty="0"/>
                  <a:t>Oba koeficienty </a:t>
                </a:r>
                <a14:m>
                  <m:oMath xmlns:m="http://schemas.openxmlformats.org/officeDocument/2006/math">
                    <m:r>
                      <a:rPr lang="cs-CZ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cs-CZ" dirty="0"/>
                  <a:t> jsou dělitelné </a:t>
                </a:r>
              </a:p>
              <a:p>
                <a:pPr marL="0" indent="0">
                  <a:buNone/>
                </a:pPr>
                <a:r>
                  <a:rPr lang="cs-CZ" dirty="0"/>
                  <a:t>číslem </a:t>
                </a:r>
                <a14:m>
                  <m:oMath xmlns:m="http://schemas.openxmlformats.org/officeDocument/2006/math">
                    <m:r>
                      <a:rPr lang="cs-CZ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cs-CZ" dirty="0"/>
                  <a:t>, 3 je tedy prvočíslo </a:t>
                </a:r>
              </a:p>
            </p:txBody>
          </p:sp>
        </mc:Choice>
        <mc:Fallback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89B65D14-C025-47A3-840E-1376171170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520655" cy="4351338"/>
              </a:xfrm>
              <a:blipFill>
                <a:blip r:embed="rId2"/>
                <a:stretch>
                  <a:fillRect l="-1989" t="-2801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Přímá spojnice 4">
            <a:extLst>
              <a:ext uri="{FF2B5EF4-FFF2-40B4-BE49-F238E27FC236}">
                <a16:creationId xmlns:a16="http://schemas.microsoft.com/office/drawing/2014/main" id="{0896D3A2-B2E9-4156-BB2B-94BD33605DE4}"/>
              </a:ext>
            </a:extLst>
          </p:cNvPr>
          <p:cNvCxnSpPr>
            <a:cxnSpLocks/>
          </p:cNvCxnSpPr>
          <p:nvPr/>
        </p:nvCxnSpPr>
        <p:spPr>
          <a:xfrm>
            <a:off x="6484690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ovéPole 8">
                <a:extLst>
                  <a:ext uri="{FF2B5EF4-FFF2-40B4-BE49-F238E27FC236}">
                    <a16:creationId xmlns:a16="http://schemas.microsoft.com/office/drawing/2014/main" id="{631C7FFB-C109-4EFC-A543-A5EC4D71A93A}"/>
                  </a:ext>
                </a:extLst>
              </p:cNvPr>
              <p:cNvSpPr txBox="1"/>
              <p:nvPr/>
            </p:nvSpPr>
            <p:spPr>
              <a:xfrm>
                <a:off x="6929326" y="365125"/>
                <a:ext cx="515081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cs-CZ" sz="2400" dirty="0"/>
                  <a:t>Algoritmus AKS můžeme krásně vidět v </a:t>
                </a:r>
                <a:r>
                  <a:rPr lang="cs-CZ" sz="2400" b="1" dirty="0"/>
                  <a:t>Pascalově trojúhelníku</a:t>
                </a:r>
                <a:r>
                  <a:rPr lang="cs-CZ" sz="2400" dirty="0"/>
                  <a:t>. Náš výsledek je totožný s řádkem </a:t>
                </a:r>
                <a14:m>
                  <m:oMath xmlns:m="http://schemas.openxmlformats.org/officeDocument/2006/math">
                    <m:r>
                      <a:rPr lang="cs-CZ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cs-CZ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cs-CZ" sz="2400" dirty="0"/>
                  <a:t>.</a:t>
                </a:r>
              </a:p>
            </p:txBody>
          </p:sp>
        </mc:Choice>
        <mc:Fallback>
          <p:sp>
            <p:nvSpPr>
              <p:cNvPr id="9" name="TextovéPole 8">
                <a:extLst>
                  <a:ext uri="{FF2B5EF4-FFF2-40B4-BE49-F238E27FC236}">
                    <a16:creationId xmlns:a16="http://schemas.microsoft.com/office/drawing/2014/main" id="{631C7FFB-C109-4EFC-A543-A5EC4D71A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9326" y="365125"/>
                <a:ext cx="5150816" cy="1200329"/>
              </a:xfrm>
              <a:prstGeom prst="rect">
                <a:avLst/>
              </a:prstGeom>
              <a:blipFill>
                <a:blip r:embed="rId3"/>
                <a:stretch>
                  <a:fillRect l="-1893" t="-4061" r="-1657" b="-10660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Obrázek 10">
            <a:extLst>
              <a:ext uri="{FF2B5EF4-FFF2-40B4-BE49-F238E27FC236}">
                <a16:creationId xmlns:a16="http://schemas.microsoft.com/office/drawing/2014/main" id="{B2350571-2010-4D66-BB4D-93BEB80469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734" y="2934891"/>
            <a:ext cx="2298563" cy="212617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bdélník 12">
                <a:extLst>
                  <a:ext uri="{FF2B5EF4-FFF2-40B4-BE49-F238E27FC236}">
                    <a16:creationId xmlns:a16="http://schemas.microsoft.com/office/drawing/2014/main" id="{3FCBAD12-B18B-4036-ACA6-FC60D36B26B0}"/>
                  </a:ext>
                </a:extLst>
              </p:cNvPr>
              <p:cNvSpPr/>
              <p:nvPr/>
            </p:nvSpPr>
            <p:spPr>
              <a:xfrm>
                <a:off x="6997646" y="1825625"/>
                <a:ext cx="2757422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cs-CZ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cs-CZ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s-CZ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cs-CZ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cs-CZ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cs-CZ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cs-CZ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cs-CZ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cs-CZ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cs-CZ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cs-CZ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cs-CZ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cs-CZ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cs-CZ" b="1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cs-CZ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cs-CZ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cs-CZ" b="1" dirty="0"/>
              </a:p>
            </p:txBody>
          </p:sp>
        </mc:Choice>
        <mc:Fallback>
          <p:sp>
            <p:nvSpPr>
              <p:cNvPr id="13" name="Obdélník 12">
                <a:extLst>
                  <a:ext uri="{FF2B5EF4-FFF2-40B4-BE49-F238E27FC236}">
                    <a16:creationId xmlns:a16="http://schemas.microsoft.com/office/drawing/2014/main" id="{3FCBAD12-B18B-4036-ACA6-FC60D36B26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7646" y="1825625"/>
                <a:ext cx="2757422" cy="375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Přímá spojnice se šipkou 24">
            <a:extLst>
              <a:ext uri="{FF2B5EF4-FFF2-40B4-BE49-F238E27FC236}">
                <a16:creationId xmlns:a16="http://schemas.microsoft.com/office/drawing/2014/main" id="{8E22AAE6-B8BD-4779-B526-D47048E53EC9}"/>
              </a:ext>
            </a:extLst>
          </p:cNvPr>
          <p:cNvCxnSpPr/>
          <p:nvPr/>
        </p:nvCxnSpPr>
        <p:spPr>
          <a:xfrm>
            <a:off x="7365535" y="2194957"/>
            <a:ext cx="2567030" cy="21673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Přímá spojnice se šipkou 26">
            <a:extLst>
              <a:ext uri="{FF2B5EF4-FFF2-40B4-BE49-F238E27FC236}">
                <a16:creationId xmlns:a16="http://schemas.microsoft.com/office/drawing/2014/main" id="{AFDD30D7-53EB-4BFC-9585-F1B4CA8CF1E7}"/>
              </a:ext>
            </a:extLst>
          </p:cNvPr>
          <p:cNvCxnSpPr/>
          <p:nvPr/>
        </p:nvCxnSpPr>
        <p:spPr>
          <a:xfrm>
            <a:off x="8018569" y="2153013"/>
            <a:ext cx="2400558" cy="22285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Přímá spojnice se šipkou 28">
            <a:extLst>
              <a:ext uri="{FF2B5EF4-FFF2-40B4-BE49-F238E27FC236}">
                <a16:creationId xmlns:a16="http://schemas.microsoft.com/office/drawing/2014/main" id="{160FDCA7-D603-4B53-A9CD-BA8FC8AD6326}"/>
              </a:ext>
            </a:extLst>
          </p:cNvPr>
          <p:cNvCxnSpPr/>
          <p:nvPr/>
        </p:nvCxnSpPr>
        <p:spPr>
          <a:xfrm>
            <a:off x="8672695" y="2164360"/>
            <a:ext cx="2173050" cy="21979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Přímá spojnice se šipkou 30">
            <a:extLst>
              <a:ext uri="{FF2B5EF4-FFF2-40B4-BE49-F238E27FC236}">
                <a16:creationId xmlns:a16="http://schemas.microsoft.com/office/drawing/2014/main" id="{0AB696AF-8809-47A1-A62E-1CC518D30830}"/>
              </a:ext>
            </a:extLst>
          </p:cNvPr>
          <p:cNvCxnSpPr/>
          <p:nvPr/>
        </p:nvCxnSpPr>
        <p:spPr>
          <a:xfrm>
            <a:off x="9378898" y="2186569"/>
            <a:ext cx="1974902" cy="21949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559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06725C-042B-46A9-969C-37C0023F8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b="1" u="sng" dirty="0"/>
              <a:t>AKS test v Javě</a:t>
            </a:r>
          </a:p>
        </p:txBody>
      </p:sp>
      <p:pic>
        <p:nvPicPr>
          <p:cNvPr id="4" name="Zástupný obsah 3">
            <a:extLst>
              <a:ext uri="{FF2B5EF4-FFF2-40B4-BE49-F238E27FC236}">
                <a16:creationId xmlns:a16="http://schemas.microsoft.com/office/drawing/2014/main" id="{7F59FE7A-4813-4164-8676-EDF12A93C1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6433" y="1422210"/>
            <a:ext cx="5319134" cy="519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733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919947-EEBA-4055-8DAA-92B775220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b="1" u="sng" dirty="0"/>
              <a:t>Zdroje: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68C5096-95AC-4C08-ABEA-253049ACC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900" dirty="0">
                <a:hlinkClick r:id="rId2"/>
              </a:rPr>
              <a:t>https://cs.wikipedia.org/wiki/Prvo%C4%8D%C3%ADslo</a:t>
            </a:r>
            <a:endParaRPr lang="cs-CZ" sz="900" dirty="0"/>
          </a:p>
          <a:p>
            <a:r>
              <a:rPr lang="cs-CZ" sz="900" dirty="0">
                <a:hlinkClick r:id="rId3"/>
              </a:rPr>
              <a:t>https://cs.wikipedia.org/wiki/Test_prvo%C4%8D%C3%ADselnosti</a:t>
            </a:r>
            <a:endParaRPr lang="cs-CZ" sz="900" dirty="0"/>
          </a:p>
          <a:p>
            <a:r>
              <a:rPr lang="cs-CZ" sz="900" dirty="0">
                <a:hlinkClick r:id="rId4"/>
              </a:rPr>
              <a:t>https://cs.wikipedia.org/wiki/Eratosthenovo_s%C3%ADto</a:t>
            </a:r>
            <a:endParaRPr lang="cs-CZ" sz="900" dirty="0"/>
          </a:p>
          <a:p>
            <a:r>
              <a:rPr lang="cs-CZ" sz="900" dirty="0">
                <a:hlinkClick r:id="rId5"/>
              </a:rPr>
              <a:t>https://www.algoritmy.net/article/65/Eratosthenovo-sito</a:t>
            </a:r>
            <a:endParaRPr lang="cs-CZ" sz="900" dirty="0"/>
          </a:p>
          <a:p>
            <a:r>
              <a:rPr lang="cs-CZ" sz="900" dirty="0">
                <a:hlinkClick r:id="rId6"/>
              </a:rPr>
              <a:t>https://cs.wikipedia.org/wiki/Fermat%C5%AFv_test_prvo%C4%8D%C3%ADselnosti</a:t>
            </a:r>
            <a:endParaRPr lang="cs-CZ" sz="900" dirty="0"/>
          </a:p>
          <a:p>
            <a:r>
              <a:rPr lang="cs-CZ" sz="900" dirty="0">
                <a:hlinkClick r:id="rId7"/>
              </a:rPr>
              <a:t>https://www.youtube.com/watch?v=RcjxwCHRYfE</a:t>
            </a:r>
            <a:endParaRPr lang="cs-CZ" sz="900" dirty="0"/>
          </a:p>
          <a:p>
            <a:r>
              <a:rPr lang="cs-CZ" sz="900" dirty="0">
                <a:hlinkClick r:id="rId8"/>
              </a:rPr>
              <a:t>https://stackoverflow.com/questions/4027225/implementation-of-fermats-primality-test</a:t>
            </a:r>
            <a:endParaRPr lang="cs-CZ" sz="900" dirty="0"/>
          </a:p>
          <a:p>
            <a:r>
              <a:rPr lang="cs-CZ" sz="900" dirty="0">
                <a:hlinkClick r:id="rId9"/>
              </a:rPr>
              <a:t>https://en.wikipedia.org/wiki/AKS_primality_test</a:t>
            </a:r>
            <a:endParaRPr lang="cs-CZ" sz="900" dirty="0"/>
          </a:p>
          <a:p>
            <a:r>
              <a:rPr lang="cs-CZ" sz="900" dirty="0">
                <a:hlinkClick r:id="rId10"/>
              </a:rPr>
              <a:t>https://www.youtube.com/watch?v=D7AHbyAlgIA</a:t>
            </a:r>
            <a:endParaRPr lang="cs-CZ" sz="900" dirty="0"/>
          </a:p>
          <a:p>
            <a:r>
              <a:rPr lang="cs-CZ" sz="900" dirty="0">
                <a:hlinkClick r:id="rId11"/>
              </a:rPr>
              <a:t>https://www.youtube.com/watch?v=HvMSRWTE2mI</a:t>
            </a:r>
            <a:endParaRPr lang="cs-CZ" sz="900" dirty="0"/>
          </a:p>
          <a:p>
            <a:r>
              <a:rPr lang="cs-CZ" sz="900" dirty="0">
                <a:hlinkClick r:id="rId12"/>
              </a:rPr>
              <a:t>https://cs.wikipedia.org/wiki/Pascal%C5%AFv_troj%C3%BAheln%C3%ADk</a:t>
            </a:r>
            <a:endParaRPr lang="cs-CZ" sz="900" dirty="0"/>
          </a:p>
          <a:p>
            <a:r>
              <a:rPr lang="cs-CZ" sz="900" dirty="0">
                <a:hlinkClick r:id="rId13"/>
              </a:rPr>
              <a:t>https://stackoverflow.com/questions/43578906/how-do-you-implement-aks-test-in-java-to-determine-whether-a-number-is-prime</a:t>
            </a:r>
            <a:endParaRPr lang="cs-CZ" sz="900" dirty="0"/>
          </a:p>
          <a:p>
            <a:pPr marL="0" indent="0">
              <a:buNone/>
            </a:pPr>
            <a:endParaRPr lang="cs-CZ" sz="900" dirty="0"/>
          </a:p>
          <a:p>
            <a:endParaRPr lang="cs-CZ" sz="900" dirty="0"/>
          </a:p>
        </p:txBody>
      </p:sp>
    </p:spTree>
    <p:extLst>
      <p:ext uri="{BB962C8B-B14F-4D97-AF65-F5344CB8AC3E}">
        <p14:creationId xmlns:p14="http://schemas.microsoft.com/office/powerpoint/2010/main" val="2239893747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AECE7161903CE409E3603B539D55C1B" ma:contentTypeVersion="11" ma:contentTypeDescription="Vytvoří nový dokument" ma:contentTypeScope="" ma:versionID="ee8d249772f4f3026b32709b809050ba">
  <xsd:schema xmlns:xsd="http://www.w3.org/2001/XMLSchema" xmlns:xs="http://www.w3.org/2001/XMLSchema" xmlns:p="http://schemas.microsoft.com/office/2006/metadata/properties" xmlns:ns2="3b4a1236-8527-43c9-89e6-2e1ca6a69820" xmlns:ns3="46bffffc-6843-44ee-a691-3b63b640fe68" targetNamespace="http://schemas.microsoft.com/office/2006/metadata/properties" ma:root="true" ma:fieldsID="5e315ebd79be571b22184ed8c56ad571" ns2:_="" ns3:_="">
    <xsd:import namespace="3b4a1236-8527-43c9-89e6-2e1ca6a69820"/>
    <xsd:import namespace="46bffffc-6843-44ee-a691-3b63b640fe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4a1236-8527-43c9-89e6-2e1ca6a698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e6bece5-3ec7-48c6-a3a0-b2b5d8be67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bffffc-6843-44ee-a691-3b63b640fe6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63d1dc3-b231-440a-8d23-da255a6e99d9}" ma:internalName="TaxCatchAll" ma:showField="CatchAllData" ma:web="46bffffc-6843-44ee-a691-3b63b640fe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6bffffc-6843-44ee-a691-3b63b640fe68" xsi:nil="true"/>
    <lcf76f155ced4ddcb4097134ff3c332f xmlns="3b4a1236-8527-43c9-89e6-2e1ca6a6982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4586A97-CCF3-4A38-98BE-BD4577D60F57}"/>
</file>

<file path=customXml/itemProps2.xml><?xml version="1.0" encoding="utf-8"?>
<ds:datastoreItem xmlns:ds="http://schemas.openxmlformats.org/officeDocument/2006/customXml" ds:itemID="{C6CEBF69-43C7-4BB3-8A5A-507740B4C5C3}"/>
</file>

<file path=customXml/itemProps3.xml><?xml version="1.0" encoding="utf-8"?>
<ds:datastoreItem xmlns:ds="http://schemas.openxmlformats.org/officeDocument/2006/customXml" ds:itemID="{587770C1-1193-4D68-8288-E509532379D8}"/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942</Words>
  <Application>Microsoft Office PowerPoint</Application>
  <PresentationFormat>Širokoúhlá obrazovka</PresentationFormat>
  <Paragraphs>121</Paragraphs>
  <Slides>14</Slides>
  <Notes>7</Notes>
  <HiddenSlides>0</HiddenSlides>
  <MMClips>1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Motiv Office</vt:lpstr>
      <vt:lpstr>Prvočíselnost a její testování</vt:lpstr>
      <vt:lpstr>Co je prvočíslo?</vt:lpstr>
      <vt:lpstr>Test prvočíselnosti</vt:lpstr>
      <vt:lpstr>Jednoduché algoritmy - zkusmé dělení</vt:lpstr>
      <vt:lpstr>Jednoduché algoritmy - Eratosthenovo síto</vt:lpstr>
      <vt:lpstr>Eratosthenovo síto v grafickém znázornění</vt:lpstr>
      <vt:lpstr>Eratosthenovo síto v Javě</vt:lpstr>
      <vt:lpstr>Obecné pravděpodobnostní algoritmy - Fermatův test</vt:lpstr>
      <vt:lpstr>Fermatův test - příklad</vt:lpstr>
      <vt:lpstr>Fermatův test v Javě</vt:lpstr>
      <vt:lpstr>- AKS test </vt:lpstr>
      <vt:lpstr>Jak AKS test funguje příklad 1</vt:lpstr>
      <vt:lpstr>AKS test v Javě</vt:lpstr>
      <vt:lpstr>Zdroje: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Prvočíselnost a její testování</dc:title>
  <dc:creator>Vojna Matěj</dc:creator>
  <cp:lastModifiedBy>Vojna Matěj</cp:lastModifiedBy>
  <cp:revision>23</cp:revision>
  <dcterms:created xsi:type="dcterms:W3CDTF">2023-03-08T00:05:32Z</dcterms:created>
  <dcterms:modified xsi:type="dcterms:W3CDTF">2023-03-08T18:32:05Z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0x010100DAECE7161903CE409E3603B539D55C1B</vt:lpwstr>
  </property>
</Properties>
</file>