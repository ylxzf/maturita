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076B32-080B-72E5-36B3-2C3A1D984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BC8495-4C89-1763-0150-23F12E2BC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FE5B77B-E7EE-A52B-D1D2-B803FB72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DBDC0-9DBE-42B0-86A8-B17E08E125E7}" type="datetimeFigureOut">
              <a:rPr lang="cs-CZ" smtClean="0"/>
              <a:t>11. 3. 25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93B8D7F-4F8C-EB88-1A14-1ABF7EE81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F5F2A2B-5C4A-2B46-3B6C-CB1B63E02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DF1BD-ECB8-4F71-9A64-9928B39A135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0786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FCF15A-A9B9-1D5C-3900-5133487A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6AD66C7-832D-A436-5FEB-33B23A867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992B8C-B0DB-A3F7-B161-E1552B0D3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DBDC0-9DBE-42B0-86A8-B17E08E125E7}" type="datetimeFigureOut">
              <a:rPr lang="cs-CZ" smtClean="0"/>
              <a:t>11. 3. 25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6E8D30C-706A-D99D-E5E7-7E19DA30F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CA22360-9E24-B01B-45EE-B5CACE707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DF1BD-ECB8-4F71-9A64-9928B39A135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5570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FD01EC-E322-3002-13F7-EC30B0D8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B14DF38-6692-C44C-4AF0-B2D76FDE4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05D0F3F-A103-C87E-8852-980503B11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DBDC0-9DBE-42B0-86A8-B17E08E125E7}" type="datetimeFigureOut">
              <a:rPr lang="cs-CZ" smtClean="0"/>
              <a:t>11. 3. 25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E28C6B6-47C3-862F-864A-1ACDA0312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6B9B1EA-5B43-EF48-6BE5-7D0359BB7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DF1BD-ECB8-4F71-9A64-9928B39A135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04559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91D574-D890-6C13-AAF5-7201B9DA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85FAD5-7661-408B-652D-7670F4D8E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ED7F2D4-E632-EEF0-D9CB-2D4F5FE78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B04DE69-5576-4B47-1BC8-8C7C50240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DBDC0-9DBE-42B0-86A8-B17E08E125E7}" type="datetimeFigureOut">
              <a:rPr lang="cs-CZ" smtClean="0"/>
              <a:t>11. 3. 25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4D056CA-98B6-9F45-1558-87D47A1EA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F90D876-181C-6DA2-DE17-7252E18F3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DF1BD-ECB8-4F71-9A64-9928B39A135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3040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D4AB5E-D167-3B77-12D9-B5646B020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173D9AC-17D6-BE5E-0BAC-A4BFA6DD7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F026028-FC77-CE18-5E38-3660350FD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06A9D31-3551-BF7D-741B-531D96CF96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5DCA2DB-3EBA-BB8F-B655-0D43FF2FB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D4E2973-B6E7-91DF-962D-B35D8DABB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DBDC0-9DBE-42B0-86A8-B17E08E125E7}" type="datetimeFigureOut">
              <a:rPr lang="cs-CZ" smtClean="0"/>
              <a:t>11. 3. 25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1BC2100-432B-5587-56BE-9643EE9B4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C40EEA6-8E29-5A44-454E-643AB667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DF1BD-ECB8-4F71-9A64-9928B39A135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2663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D9B7AA-FAC2-FF5A-019A-617681533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50D8FE52-3034-9821-D074-6A86FF169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DBDC0-9DBE-42B0-86A8-B17E08E125E7}" type="datetimeFigureOut">
              <a:rPr lang="cs-CZ" smtClean="0"/>
              <a:t>11. 3. 25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6CED41A-D737-E735-BE9E-4C05369CF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B1C5A0E-208D-5414-B575-5D2545A7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DF1BD-ECB8-4F71-9A64-9928B39A135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183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0F388F9A-599F-777E-522C-E9A7658C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DBDC0-9DBE-42B0-86A8-B17E08E125E7}" type="datetimeFigureOut">
              <a:rPr lang="cs-CZ" smtClean="0"/>
              <a:t>11. 3. 25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32BDE70-7054-EEF2-225D-198D55ED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277B5FB-79A9-9A04-D206-369FD369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DF1BD-ECB8-4F71-9A64-9928B39A135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6280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88061-016D-3D52-E771-723FACF7D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AF02350-B4C2-2789-05BB-7445E4BCC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6245340-247C-E298-8F1D-E714A30F9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A31C660-B7E5-5954-B928-B40B5D69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DBDC0-9DBE-42B0-86A8-B17E08E125E7}" type="datetimeFigureOut">
              <a:rPr lang="cs-CZ" smtClean="0"/>
              <a:t>11. 3. 25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BADF066-695C-E169-CE72-923474DA6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86BFBFA-C79C-AB79-BAE5-6422FC76F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DF1BD-ECB8-4F71-9A64-9928B39A135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36623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076E76-C516-21E0-C3C3-CB52BD700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680CA938-75F9-A86D-FB56-F427D11D2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A47AAB3-5CB2-A648-9552-77F3B8ECC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0ECAFCA-162A-43F6-AF12-FAA0B4976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DBDC0-9DBE-42B0-86A8-B17E08E125E7}" type="datetimeFigureOut">
              <a:rPr lang="cs-CZ" smtClean="0"/>
              <a:t>11. 3. 25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223B13B-0822-C08C-4553-6B9112983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8FABE7F-AB7A-DD37-0C4A-136189FE2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DF1BD-ECB8-4F71-9A64-9928B39A135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09386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D4E807-17E3-D2E3-01B5-8933B631C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28D8282-FBB1-60BB-4215-F5A111D90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28CED75-8177-9793-B6E2-FC761B542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DBDC0-9DBE-42B0-86A8-B17E08E125E7}" type="datetimeFigureOut">
              <a:rPr lang="cs-CZ" smtClean="0"/>
              <a:t>11. 3. 25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B235AF3-B9A7-E6A5-6958-F8A22A91F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FE68794-AC04-DF64-9A5B-8A74372E0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DF1BD-ECB8-4F71-9A64-9928B39A135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327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DC6622B-7389-1776-3787-B0ABDDAC04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003C2E1-D9C8-14E2-8F1F-E275A03CF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B501BE3-FB07-2A2E-D96D-435AD58F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DBDC0-9DBE-42B0-86A8-B17E08E125E7}" type="datetimeFigureOut">
              <a:rPr lang="cs-CZ" smtClean="0"/>
              <a:t>11. 3. 25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1502EDB-4A6D-34A6-B281-8AD84D7B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D28FFC5-588D-743D-628A-EC4B9BC91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DF1BD-ECB8-4F71-9A64-9928B39A135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594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150689D5-180F-D4F1-D138-4B0D5E71A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E20986A-917B-2363-2A0A-EB808C054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3AD5184-2277-19F2-0213-18820856C4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DBDC0-9DBE-42B0-86A8-B17E08E125E7}" type="datetimeFigureOut">
              <a:rPr lang="cs-CZ" smtClean="0"/>
              <a:t>11. 3. 25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C899A4B-27E2-BC69-5986-22493C823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8EEBFF-8A16-30BD-5F79-D154F23EB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DF1BD-ECB8-4F71-9A64-9928B39A135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05256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9883AA-A2D8-73A5-E151-778292D3F0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Datové typy, Řetězce, </a:t>
            </a:r>
            <a:r>
              <a:rPr lang="cs-CZ" dirty="0" err="1"/>
              <a:t>Enum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C088569-72BA-0F4B-9171-67F9D572A0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♥</a:t>
            </a:r>
            <a:r>
              <a:rPr lang="cs-CZ" dirty="0" err="1"/>
              <a:t>Hadim</a:t>
            </a:r>
            <a:r>
              <a:rPr lang="cs-CZ" dirty="0"/>
              <a:t> Romola♥</a:t>
            </a:r>
          </a:p>
        </p:txBody>
      </p:sp>
    </p:spTree>
    <p:extLst>
      <p:ext uri="{BB962C8B-B14F-4D97-AF65-F5344CB8AC3E}">
        <p14:creationId xmlns:p14="http://schemas.microsoft.com/office/powerpoint/2010/main" val="1195550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# vs. Java: Which One Suits You Best?">
            <a:extLst>
              <a:ext uri="{FF2B5EF4-FFF2-40B4-BE49-F238E27FC236}">
                <a16:creationId xmlns:a16="http://schemas.microsoft.com/office/drawing/2014/main" id="{1B6B7A18-9F5E-4BBD-AA4B-FB0F3FD5D9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39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0B2C5D9-1CD7-885E-4690-8C0470394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Datové typy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3954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8C5FFA-17E1-C6D0-AD98-D2AD471B6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dirty="0"/>
              <a:t>Celočíselné typy</a:t>
            </a:r>
            <a:endParaRPr lang="cs-CZ" dirty="0"/>
          </a:p>
        </p:txBody>
      </p:sp>
      <p:graphicFrame>
        <p:nvGraphicFramePr>
          <p:cNvPr id="10" name="Zástupný obsah 9">
            <a:extLst>
              <a:ext uri="{FF2B5EF4-FFF2-40B4-BE49-F238E27FC236}">
                <a16:creationId xmlns:a16="http://schemas.microsoft.com/office/drawing/2014/main" id="{C9A72C5C-55B8-1E3D-F721-6DB54FB41A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972533"/>
              </p:ext>
            </p:extLst>
          </p:nvPr>
        </p:nvGraphicFramePr>
        <p:xfrm>
          <a:off x="838200" y="2514600"/>
          <a:ext cx="10515600" cy="1828800"/>
        </p:xfrm>
        <a:graphic>
          <a:graphicData uri="http://schemas.openxmlformats.org/drawingml/2006/table">
            <a:tbl>
              <a:tblPr/>
              <a:tblGrid>
                <a:gridCol w="2294860">
                  <a:extLst>
                    <a:ext uri="{9D8B030D-6E8A-4147-A177-3AD203B41FA5}">
                      <a16:colId xmlns:a16="http://schemas.microsoft.com/office/drawing/2014/main" val="3887146558"/>
                    </a:ext>
                  </a:extLst>
                </a:gridCol>
                <a:gridCol w="2254664">
                  <a:extLst>
                    <a:ext uri="{9D8B030D-6E8A-4147-A177-3AD203B41FA5}">
                      <a16:colId xmlns:a16="http://schemas.microsoft.com/office/drawing/2014/main" val="1721260033"/>
                    </a:ext>
                  </a:extLst>
                </a:gridCol>
                <a:gridCol w="5966076">
                  <a:extLst>
                    <a:ext uri="{9D8B030D-6E8A-4147-A177-3AD203B41FA5}">
                      <a16:colId xmlns:a16="http://schemas.microsoft.com/office/drawing/2014/main" val="6961502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cs-CZ" dirty="0"/>
                        <a:t>Datový typ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Velikost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Rozsah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070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 dirty="0"/>
                        <a:t>byte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1B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-128 až 127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614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 dirty="0" err="1"/>
                        <a:t>short</a:t>
                      </a:r>
                      <a:endParaRPr lang="cs-CZ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2B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-32 768 až 32 767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964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 dirty="0" err="1"/>
                        <a:t>int</a:t>
                      </a:r>
                      <a:endParaRPr lang="cs-CZ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-2 147 483 648 až 2 147 483 647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89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/>
                        <a:t>long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8B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-9 223 372 036 854 775 808 až 9 223 372 036 854 775 807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275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2054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394AB2-CB6D-B94A-1520-8831641E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dirty="0"/>
              <a:t>Desetinné typy</a:t>
            </a:r>
            <a:endParaRPr lang="cs-CZ" dirty="0"/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883F2615-0367-3BD3-FF04-F39F0765D5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016363"/>
              </p:ext>
            </p:extLst>
          </p:nvPr>
        </p:nvGraphicFramePr>
        <p:xfrm>
          <a:off x="838200" y="3315494"/>
          <a:ext cx="10515600" cy="1097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854456215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1830315031"/>
                    </a:ext>
                  </a:extLst>
                </a:gridCol>
                <a:gridCol w="4587240">
                  <a:extLst>
                    <a:ext uri="{9D8B030D-6E8A-4147-A177-3AD203B41FA5}">
                      <a16:colId xmlns:a16="http://schemas.microsoft.com/office/drawing/2014/main" val="42639797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cs-CZ"/>
                        <a:t>Datový typ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Velikost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Rozsah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44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1.4E-45 až 3.4028235E38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613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/>
                        <a:t>double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8B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4.9E-324 až 1.7976931348623157E308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450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269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482392-251E-9015-1367-A2C0229A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dirty="0"/>
              <a:t>Další primitivní typy</a:t>
            </a:r>
            <a:endParaRPr lang="cs-CZ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1E54664-770D-DA0F-FB60-FD2423664C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13392"/>
            <a:ext cx="969433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(2B) – znaky dle UNICODE</a:t>
            </a: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boolean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(1B) – hodnoty</a:t>
            </a: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void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speciální návratový typ pro metody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419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688CB8-00A7-E72A-E62E-900A9E5B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dirty="0" err="1"/>
              <a:t>Wrapper</a:t>
            </a:r>
            <a:r>
              <a:rPr lang="cs-CZ" b="1" dirty="0"/>
              <a:t> </a:t>
            </a:r>
            <a:r>
              <a:rPr lang="cs-CZ" b="1" dirty="0" err="1"/>
              <a:t>class</a:t>
            </a:r>
            <a:endParaRPr lang="cs-CZ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A52BB5C-AD71-CD7E-C0B7-839C37A31B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01559"/>
            <a:ext cx="846836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Každý primitivní typ má svou obalovou třídu: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cs-CZ" altLang="cs-CZ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cs-CZ" altLang="cs-C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Byte, </a:t>
            </a:r>
            <a:r>
              <a:rPr kumimoji="0" lang="cs-CZ" altLang="cs-CZ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</a:t>
            </a:r>
            <a:r>
              <a:rPr kumimoji="0" lang="cs-CZ" altLang="cs-C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cs-CZ" altLang="cs-CZ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Integer</a:t>
            </a:r>
            <a:r>
              <a:rPr kumimoji="0" lang="cs-CZ" altLang="cs-C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Long, </a:t>
            </a:r>
            <a:r>
              <a:rPr kumimoji="0" lang="cs-CZ" altLang="cs-CZ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Float</a:t>
            </a:r>
            <a:r>
              <a:rPr kumimoji="0" lang="cs-CZ" altLang="cs-C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Double, </a:t>
            </a:r>
            <a:r>
              <a:rPr kumimoji="0" lang="cs-CZ" altLang="cs-CZ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</a:t>
            </a:r>
            <a:r>
              <a:rPr kumimoji="0" lang="cs-CZ" altLang="cs-C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cs-CZ" altLang="cs-CZ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Boolean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Obsahují konstanty (např. </a:t>
            </a:r>
            <a:r>
              <a:rPr kumimoji="0" lang="cs-CZ" altLang="cs-C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MAX_VALUE, MIN_VALUE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Nabízí metody pro konverzi na </a:t>
            </a:r>
            <a:r>
              <a:rPr kumimoji="0" lang="cs-CZ" altLang="cs-CZ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zpět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cs-CZ" altLang="cs-CZ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Null</a:t>
            </a:r>
            <a:r>
              <a:rPr lang="cs-CZ" altLang="cs-CZ" sz="1600" i="1" dirty="0">
                <a:latin typeface="Arial" panose="020B0604020202020204" pitchFamily="34" charset="0"/>
              </a:rPr>
              <a:t>: </a:t>
            </a:r>
            <a:r>
              <a:rPr kumimoji="0" lang="cs-CZ" altLang="cs-CZ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Obalové třídy mohou obsahovat hodnotu </a:t>
            </a:r>
            <a:r>
              <a:rPr kumimoji="0" lang="cs-CZ" altLang="cs-CZ" sz="16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</a:t>
            </a:r>
            <a:r>
              <a:rPr kumimoji="0" lang="cs-CZ" altLang="cs-CZ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což znamená, že proměnná neukazuje na žádnou</a:t>
            </a:r>
            <a:r>
              <a:rPr lang="cs-CZ" altLang="cs-CZ" sz="1600" i="1" dirty="0"/>
              <a:t> </a:t>
            </a:r>
            <a:r>
              <a:rPr kumimoji="0" lang="cs-CZ" altLang="cs-CZ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instanci. U primitivních typů (např. </a:t>
            </a:r>
            <a:r>
              <a:rPr kumimoji="0" lang="cs-CZ" altLang="cs-CZ" sz="16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</a:t>
            </a:r>
            <a:r>
              <a:rPr kumimoji="0" lang="cs-CZ" altLang="cs-CZ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to není možné, protože pro </a:t>
            </a:r>
            <a:r>
              <a:rPr kumimoji="0" lang="cs-CZ" altLang="cs-CZ" sz="16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</a:t>
            </a:r>
            <a:r>
              <a:rPr kumimoji="0" lang="cs-CZ" altLang="cs-CZ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není v jejich pevně dané velikosti místa.</a:t>
            </a:r>
            <a:endParaRPr kumimoji="0" lang="cs-CZ" altLang="cs-CZ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609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1" name="Picture 7" descr="Ozdobný řetěz z kulatého drátu, pr. 2 mm - metráž">
            <a:extLst>
              <a:ext uri="{FF2B5EF4-FFF2-40B4-BE49-F238E27FC236}">
                <a16:creationId xmlns:a16="http://schemas.microsoft.com/office/drawing/2014/main" id="{84A64691-D3B6-1CB8-00FB-CD9977C03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04" y="0"/>
            <a:ext cx="117887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3B64B-9631-CD32-A3D9-7AB3F43240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0029" y="3071322"/>
            <a:ext cx="1001588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Třída </a:t>
            </a:r>
            <a:r>
              <a:rPr kumimoji="0" lang="cs-CZ" altLang="cs-CZ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</a:t>
            </a:r>
            <a:r>
              <a:rPr kumimoji="0" lang="cs-CZ" altLang="cs-CZ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reprezentuje textové řetězce</a:t>
            </a:r>
            <a:endParaRPr kumimoji="0" lang="cs-CZ" altLang="cs-CZ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Imutabilní</a:t>
            </a:r>
            <a:r>
              <a:rPr kumimoji="0" lang="cs-CZ" altLang="cs-CZ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nelze měnit obsah, při změně se vytvoří nová instance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DBFB3C7-5DD8-2119-765F-BC0312456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/>
              <a:t>String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906095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4F148C-1CA6-9D69-8BD3-15A3A823A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dirty="0"/>
              <a:t>Metody </a:t>
            </a:r>
            <a:r>
              <a:rPr lang="cs-CZ" b="1" dirty="0" err="1"/>
              <a:t>String</a:t>
            </a:r>
            <a:endParaRPr lang="cs-CZ" dirty="0"/>
          </a:p>
        </p:txBody>
      </p:sp>
      <p:graphicFrame>
        <p:nvGraphicFramePr>
          <p:cNvPr id="6" name="Zástupný obsah 5">
            <a:extLst>
              <a:ext uri="{FF2B5EF4-FFF2-40B4-BE49-F238E27FC236}">
                <a16:creationId xmlns:a16="http://schemas.microsoft.com/office/drawing/2014/main" id="{A026FA8F-2443-D6CC-F78D-149B91132B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8935996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9003955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910881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cs-CZ"/>
                        <a:t>Metoda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Popis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866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/>
                        <a:t>charAt(i)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Vrátí znak na indexu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118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/>
                        <a:t>compareTo(s2)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Lexikografické porovnání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974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/>
                        <a:t>concat(s2)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Spojení řetězců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026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 dirty="0" err="1"/>
                        <a:t>contains</a:t>
                      </a:r>
                      <a:r>
                        <a:rPr lang="cs-CZ" dirty="0"/>
                        <a:t>(</a:t>
                      </a:r>
                      <a:r>
                        <a:rPr lang="cs-CZ" dirty="0" err="1"/>
                        <a:t>seq</a:t>
                      </a:r>
                      <a:r>
                        <a:rPr lang="cs-CZ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Zjistí, zda obsahuje znak/y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643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/>
                        <a:t>equals(s2)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Porovná dva řetězce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87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/>
                        <a:t>length()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Vrátí délku řetězce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784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/>
                        <a:t>replace(a, 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Nahradí znaky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219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/>
                        <a:t>substring(i, j)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Vrátí podřetězec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78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8069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5274C8-701D-7DC2-4042-8D5DFE5BD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dirty="0" err="1"/>
              <a:t>StringBuffer</a:t>
            </a:r>
            <a:r>
              <a:rPr lang="cs-CZ" b="1" dirty="0"/>
              <a:t> a </a:t>
            </a:r>
            <a:r>
              <a:rPr lang="cs-CZ" b="1" dirty="0" err="1"/>
              <a:t>StringBuilder</a:t>
            </a:r>
            <a:endParaRPr lang="cs-CZ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F99732-CEDD-04F4-C5EB-0FD8ADFDEB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2687" y="2644170"/>
            <a:ext cx="1058789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Mutable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umožňují změnu obsahu bez vytváření nové instance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StringBuffer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je synchronizovaný (bezpečný pro vlákna, je vhodný pro použití ve více vláknech)</a:t>
            </a: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StringBuilder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je rychlejší, ale není synchronizovaný (neboli vhodný pro 1 vlákno)</a:t>
            </a: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614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CD108D-A994-DDAE-6195-D6AC602A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dirty="0"/>
              <a:t>Metody </a:t>
            </a:r>
            <a:r>
              <a:rPr lang="cs-CZ" b="1" dirty="0" err="1"/>
              <a:t>StringBuffer</a:t>
            </a:r>
            <a:r>
              <a:rPr lang="cs-CZ" b="1" dirty="0"/>
              <a:t>/</a:t>
            </a:r>
            <a:r>
              <a:rPr lang="cs-CZ" b="1" dirty="0" err="1"/>
              <a:t>Builder</a:t>
            </a:r>
            <a:endParaRPr lang="cs-CZ" dirty="0"/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F7BCD77B-A867-5C4B-2B86-48B27C9468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3132769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54016356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48126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cs-CZ"/>
                        <a:t>Metoda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Popis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507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 dirty="0" err="1"/>
                        <a:t>append</a:t>
                      </a:r>
                      <a:r>
                        <a:rPr lang="cs-CZ" dirty="0"/>
                        <a:t>(data)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Přidá hodnotu na konec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141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/>
                        <a:t>insert(i, data)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/>
                        <a:t>Vloží hodnotu na pozici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770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/>
                        <a:t>delete(i, j)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Odstraní část řetězce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303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/>
                        <a:t>replace(i, j, 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Nahradí část řetězce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388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204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Dj Rizz 254 - Weekend Fresh watu wa power... New Mixes Up... | Facebook">
            <a:extLst>
              <a:ext uri="{FF2B5EF4-FFF2-40B4-BE49-F238E27FC236}">
                <a16:creationId xmlns:a16="http://schemas.microsoft.com/office/drawing/2014/main" id="{87F4B258-EF3F-4ECF-7013-B4B81546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086" y="2748963"/>
            <a:ext cx="6008914" cy="4109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D27A8B54-6A5A-6CE6-6603-A4BBEE9DE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/>
              <a:t>Enum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46CC80-7B20-C1C0-1097-1D49EAA4E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095"/>
            <a:ext cx="10515600" cy="114786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Výčtový typ omezuje hodnoty na předdefinovaný seznam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Instance jsou konstantní a neměnné</a:t>
            </a:r>
          </a:p>
        </p:txBody>
      </p:sp>
    </p:spTree>
    <p:extLst>
      <p:ext uri="{BB962C8B-B14F-4D97-AF65-F5344CB8AC3E}">
        <p14:creationId xmlns:p14="http://schemas.microsoft.com/office/powerpoint/2010/main" val="1487409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  <p:sndAc>
          <p:stSnd>
            <p:snd r:embed="rId2" name="cashreg.wav"/>
          </p:stSnd>
        </p:sndAc>
      </p:transition>
    </mc:Choice>
    <mc:Fallback>
      <p:transition spd="slow">
        <p:fade/>
        <p:sndAc>
          <p:stSnd>
            <p:snd r:embed="rId2" name="cashreg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2DBA51-2B1E-3873-EFBF-3B8B07BC8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	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80E086F7-0D94-4472-A134-EA4323DB6DAA}"/>
              </a:ext>
            </a:extLst>
          </p:cNvPr>
          <p:cNvSpPr txBox="1"/>
          <p:nvPr/>
        </p:nvSpPr>
        <p:spPr>
          <a:xfrm>
            <a:off x="6096000" y="1141874"/>
            <a:ext cx="35435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3200" dirty="0"/>
              <a:t>Použití v programu: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9F755A0B-8D10-2022-F93D-7511713BF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72095"/>
            <a:ext cx="5589000" cy="1913810"/>
          </a:xfrm>
          <a:prstGeom prst="rect">
            <a:avLst/>
          </a:prstGeom>
        </p:spPr>
      </p:pic>
      <p:sp>
        <p:nvSpPr>
          <p:cNvPr id="11" name="TextovéPole 10">
            <a:extLst>
              <a:ext uri="{FF2B5EF4-FFF2-40B4-BE49-F238E27FC236}">
                <a16:creationId xmlns:a16="http://schemas.microsoft.com/office/drawing/2014/main" id="{BB70F786-AE90-F2CD-D70B-40BB17CA6021}"/>
              </a:ext>
            </a:extLst>
          </p:cNvPr>
          <p:cNvSpPr txBox="1"/>
          <p:nvPr/>
        </p:nvSpPr>
        <p:spPr>
          <a:xfrm>
            <a:off x="1070974" y="1141875"/>
            <a:ext cx="3410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3200" dirty="0"/>
              <a:t>Deklarace </a:t>
            </a:r>
            <a:r>
              <a:rPr lang="cs-CZ" sz="3200" dirty="0" err="1"/>
              <a:t>enumu</a:t>
            </a:r>
            <a:r>
              <a:rPr lang="cs-CZ" sz="3200" dirty="0"/>
              <a:t>:</a:t>
            </a:r>
          </a:p>
        </p:txBody>
      </p:sp>
      <p:pic>
        <p:nvPicPr>
          <p:cNvPr id="14" name="Obrázek 13">
            <a:extLst>
              <a:ext uri="{FF2B5EF4-FFF2-40B4-BE49-F238E27FC236}">
                <a16:creationId xmlns:a16="http://schemas.microsoft.com/office/drawing/2014/main" id="{08B0C3C5-B204-5574-8D0E-69C1863F4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54" y="2472095"/>
            <a:ext cx="4523514" cy="149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293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060CD6-B4CF-9039-EAF7-B49C82CBA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dirty="0"/>
              <a:t>Metody </a:t>
            </a:r>
            <a:r>
              <a:rPr lang="cs-CZ" b="1" dirty="0" err="1"/>
              <a:t>Enum</a:t>
            </a:r>
            <a:endParaRPr lang="cs-CZ" dirty="0"/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06D59923-98C3-C4C9-01A6-C4F2E9A40B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59557"/>
              </p:ext>
            </p:extLst>
          </p:nvPr>
        </p:nvGraphicFramePr>
        <p:xfrm>
          <a:off x="838200" y="3452654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736134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884468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cs-CZ"/>
                        <a:t>Metoda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Popis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83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 dirty="0" err="1"/>
                        <a:t>values</a:t>
                      </a:r>
                      <a:r>
                        <a:rPr lang="cs-CZ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/>
                        <a:t>Vrátí pole všech hodnot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210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/>
                        <a:t>ordinal()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Vrátí index hodnoty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862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53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1190D2-8CE7-853F-2FB6-A6A9117A4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rgbClr val="FF0000"/>
                </a:solidFill>
              </a:rPr>
              <a:t>♥</a:t>
            </a:r>
            <a:r>
              <a:rPr lang="cs-CZ" dirty="0"/>
              <a:t>Děkuji za pozornost</a:t>
            </a:r>
            <a:r>
              <a:rPr lang="cs-CZ" dirty="0">
                <a:solidFill>
                  <a:srgbClr val="FF0000"/>
                </a:solidFill>
              </a:rPr>
              <a:t>♥</a:t>
            </a: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1AABC993-5B70-8D69-92B1-08895CE03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490" y="1690688"/>
            <a:ext cx="5709019" cy="497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070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flash/>
        <p:sndAc>
          <p:stSnd>
            <p:snd r:embed="rId2" name="explode.wav"/>
          </p:stSnd>
        </p:sndAc>
      </p:transition>
    </mc:Choice>
    <mc:Fallback>
      <p:transition spd="slow">
        <p:fade/>
        <p:sndAc>
          <p:stSnd>
            <p:snd r:embed="rId2" name="explod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066FEEE5F48AD4681024082CD4E6082" ma:contentTypeVersion="11" ma:contentTypeDescription="Vytvoří nový dokument" ma:contentTypeScope="" ma:versionID="6021c7b32f80356c74d63ee04b326413">
  <xsd:schema xmlns:xsd="http://www.w3.org/2001/XMLSchema" xmlns:xs="http://www.w3.org/2001/XMLSchema" xmlns:p="http://schemas.microsoft.com/office/2006/metadata/properties" xmlns:ns2="56f66b51-0c61-4da8-9d6e-b8db00b12de2" xmlns:ns3="084efd27-671c-4a3e-a1f9-193c3664239c" targetNamespace="http://schemas.microsoft.com/office/2006/metadata/properties" ma:root="true" ma:fieldsID="894ec311cd56890784da74c65925d942" ns2:_="" ns3:_="">
    <xsd:import namespace="56f66b51-0c61-4da8-9d6e-b8db00b12de2"/>
    <xsd:import namespace="084efd27-671c-4a3e-a1f9-193c366423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66b51-0c61-4da8-9d6e-b8db00b12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efd27-671c-4a3e-a1f9-193c3664239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9bef40-6bc0-44a3-b004-108519b05bb9}" ma:internalName="TaxCatchAll" ma:showField="CatchAllData" ma:web="084efd27-671c-4a3e-a1f9-193c366423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6f66b51-0c61-4da8-9d6e-b8db00b12de2">
      <Terms xmlns="http://schemas.microsoft.com/office/infopath/2007/PartnerControls"/>
    </lcf76f155ced4ddcb4097134ff3c332f>
    <TaxCatchAll xmlns="084efd27-671c-4a3e-a1f9-193c3664239c" xsi:nil="true"/>
  </documentManagement>
</p:properties>
</file>

<file path=customXml/itemProps1.xml><?xml version="1.0" encoding="utf-8"?>
<ds:datastoreItem xmlns:ds="http://schemas.openxmlformats.org/officeDocument/2006/customXml" ds:itemID="{84E89A30-D86D-4A73-ACBA-6C98AE3B0C32}"/>
</file>

<file path=customXml/itemProps2.xml><?xml version="1.0" encoding="utf-8"?>
<ds:datastoreItem xmlns:ds="http://schemas.openxmlformats.org/officeDocument/2006/customXml" ds:itemID="{DFEDD372-9D4D-47BC-A65F-096954132767}"/>
</file>

<file path=customXml/itemProps3.xml><?xml version="1.0" encoding="utf-8"?>
<ds:datastoreItem xmlns:ds="http://schemas.openxmlformats.org/officeDocument/2006/customXml" ds:itemID="{FE08E5C2-BF21-4204-899D-242AD0C067A1}"/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398</Words>
  <Application>Microsoft Office PowerPoint</Application>
  <PresentationFormat>Širokoúhlá obrazovka</PresentationFormat>
  <Paragraphs>95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Arial Unicode MS</vt:lpstr>
      <vt:lpstr>Motiv Office</vt:lpstr>
      <vt:lpstr>Datové typy, Řetězce, Enum</vt:lpstr>
      <vt:lpstr>Datové typy</vt:lpstr>
      <vt:lpstr>Celočíselné typy</vt:lpstr>
      <vt:lpstr>Desetinné typy</vt:lpstr>
      <vt:lpstr>Další primitivní typy</vt:lpstr>
      <vt:lpstr>Wrapper class</vt:lpstr>
      <vt:lpstr>String</vt:lpstr>
      <vt:lpstr>Metody String</vt:lpstr>
      <vt:lpstr>StringBuffer a StringBuilder</vt:lpstr>
      <vt:lpstr>Metody StringBuffer/Builder</vt:lpstr>
      <vt:lpstr>Enum</vt:lpstr>
      <vt:lpstr> </vt:lpstr>
      <vt:lpstr>Metody Enum</vt:lpstr>
      <vt:lpstr>♥Děkuji za pozornost♥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Homola Radim</dc:creator>
  <cp:lastModifiedBy>Homola Radim</cp:lastModifiedBy>
  <cp:revision>9</cp:revision>
  <dcterms:created xsi:type="dcterms:W3CDTF">2025-03-11T20:22:04Z</dcterms:created>
  <dcterms:modified xsi:type="dcterms:W3CDTF">2025-03-12T20:24:35Z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0x0101001066FEEE5F48AD4681024082CD4E6082</vt:lpwstr>
  </property>
</Properties>
</file>