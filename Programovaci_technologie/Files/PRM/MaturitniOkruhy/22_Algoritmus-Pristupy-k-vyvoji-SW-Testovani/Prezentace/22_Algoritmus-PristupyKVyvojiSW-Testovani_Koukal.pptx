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Montserrat" panose="00000500000000000000" pitchFamily="2" charset="-18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83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18" Type="http://schemas.openxmlformats.org/officeDocument/2006/relationships/image" Target="../media/image29.svg"/><Relationship Id="rId3" Type="http://schemas.openxmlformats.org/officeDocument/2006/relationships/image" Target="../media/image14.png"/><Relationship Id="rId21" Type="http://schemas.openxmlformats.org/officeDocument/2006/relationships/image" Target="../media/image32.sv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pn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19" Type="http://schemas.openxmlformats.org/officeDocument/2006/relationships/image" Target="../media/image30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6094476" y="1133787"/>
            <a:ext cx="5719121" cy="4588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7229"/>
              </a:lnSpc>
              <a:buNone/>
            </a:pPr>
            <a:r>
              <a:rPr lang="cs-CZ" sz="6000" dirty="0"/>
              <a:t>Algoritmy, Přístupy</a:t>
            </a:r>
          </a:p>
          <a:p>
            <a:pPr algn="l">
              <a:lnSpc>
                <a:spcPts val="7229"/>
              </a:lnSpc>
              <a:buNone/>
            </a:pPr>
            <a:r>
              <a:rPr lang="cs-CZ" sz="6000" dirty="0"/>
              <a:t>k vývoji SW, Testování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0" y="0"/>
            <a:ext cx="5713571" cy="6856286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5" name="Object 4"/>
          <p:cNvPicPr>
            <a:picLocks noChangeAspect="1"/>
          </p:cNvPicPr>
          <p:nvPr/>
        </p:nvPicPr>
        <p:blipFill>
          <a:blip r:embed="rId3"/>
          <a:srcRect l="8678" r="8678"/>
          <a:stretch/>
        </p:blipFill>
        <p:spPr>
          <a:xfrm>
            <a:off x="0" y="0"/>
            <a:ext cx="5713571" cy="6856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cs-CZ" sz="3188" dirty="0">
                <a:solidFill>
                  <a:srgbClr val="2A2921"/>
                </a:solidFill>
                <a:latin typeface="Montserrat" pitchFamily="34" charset="0"/>
              </a:rPr>
              <a:t>Algoritmy</a:t>
            </a:r>
            <a:endParaRPr lang="en-US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840" y="2090066"/>
            <a:ext cx="1028443" cy="790377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361383" y="3286494"/>
            <a:ext cx="2681569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cs-CZ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Krok za krokem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361383" y="3602674"/>
            <a:ext cx="2681569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definují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logiku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sekvenci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operací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být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provedeny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28587" y="1970145"/>
            <a:ext cx="771332" cy="1114146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3331488" y="3286494"/>
            <a:ext cx="2597770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Řešení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problémů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3331488" y="3602674"/>
            <a:ext cx="2597770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používají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řešení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široké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škály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problémů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od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jednoduchých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výpočtů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až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složité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úkoly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optimalizace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7569" y="2034275"/>
            <a:ext cx="971307" cy="904649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6259693" y="3286494"/>
            <a:ext cx="2597770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Efektivita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optimalizace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6236125" y="3602674"/>
            <a:ext cx="2597770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mohou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být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navrženy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aby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byly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efektivní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čímž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minimalizují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čas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zdroje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potřebné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vyřešení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problému</a:t>
            </a:r>
            <a:endParaRPr lang="en-US" dirty="0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07293" y="1978472"/>
            <a:ext cx="961784" cy="942739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9140762" y="3286494"/>
            <a:ext cx="2692044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Složitost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analýza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9140762" y="3602674"/>
            <a:ext cx="2692044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lze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analyzovat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z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hlediska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jejich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výpočetní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složitosti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což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pomáhá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pochopit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jejich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efektivitu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škálovatelnost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0" y="5351712"/>
            <a:ext cx="12188952" cy="1504574"/>
          </a:xfrm>
          <a:prstGeom prst="rect">
            <a:avLst/>
          </a:prstGeom>
          <a:solidFill>
            <a:srgbClr val="14558C"/>
          </a:solidFill>
        </p:spPr>
      </p:sp>
      <p:sp>
        <p:nvSpPr>
          <p:cNvPr id="16" name="Object 15"/>
          <p:cNvSpPr/>
          <p:nvPr/>
        </p:nvSpPr>
        <p:spPr>
          <a:xfrm>
            <a:off x="452324" y="5668636"/>
            <a:ext cx="11284303" cy="8637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Algoritmy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jsou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základ</a:t>
            </a:r>
            <a:r>
              <a:rPr lang="cs-CZ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cs-CZ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vývoje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protože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definují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logiku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sekvenci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operací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potřebných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vyřešení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problému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Porozumění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algoritmům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klíčové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navrhování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efektivních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8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účinných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cs-CZ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programů</a:t>
            </a: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Přístupy</a:t>
            </a: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vývoji</a:t>
            </a: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endParaRPr lang="en-US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9193" y="2328435"/>
            <a:ext cx="971307" cy="904649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309961" y="3580743"/>
            <a:ext cx="3760482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vodopádu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309961" y="3896923"/>
            <a:ext cx="3760482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Lineární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sekvenční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znamená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probíhá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krok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za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krokem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kde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každá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fáze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dokončena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před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začátkem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další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0416" y="2294954"/>
            <a:ext cx="828468" cy="98083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4208997" y="3580743"/>
            <a:ext cx="377095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Agilní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4208997" y="3896923"/>
            <a:ext cx="3770957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Opakující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postupný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který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klade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důraz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spolupráci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přizpůsobivost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74265" y="2451179"/>
            <a:ext cx="1047488" cy="657061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8286107" y="3580743"/>
            <a:ext cx="3425286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Iterativní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model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8286107" y="3896923"/>
            <a:ext cx="3425286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Opakující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cykly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návrhu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umožňují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postupné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vylepšení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0" y="5351712"/>
            <a:ext cx="12188952" cy="1504574"/>
          </a:xfrm>
          <a:prstGeom prst="rect">
            <a:avLst/>
          </a:prstGeom>
          <a:solidFill>
            <a:srgbClr val="F0B356"/>
          </a:solidFill>
        </p:spPr>
      </p:sp>
      <p:sp>
        <p:nvSpPr>
          <p:cNvPr id="13" name="Object 12"/>
          <p:cNvSpPr/>
          <p:nvPr/>
        </p:nvSpPr>
        <p:spPr>
          <a:xfrm>
            <a:off x="419566" y="5668636"/>
            <a:ext cx="11349817" cy="8637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Volba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přístupu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vývoji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závisí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požadavcích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projektu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týmu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potřebách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organizace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Každý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své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výhody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nevýhody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jejich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pochopení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klíčové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úspěšný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</a:t>
            </a: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endParaRPr lang="en-US" dirty="0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cs-CZ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952262" y="2022961"/>
            <a:ext cx="4954811" cy="4404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2722"/>
              </a:lnSpc>
              <a:buSzPct val="100000"/>
              <a:buChar char="•"/>
            </a:pP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Zajištění</a:t>
            </a:r>
            <a:r>
              <a:rPr lang="en-US" sz="216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kvality</a:t>
            </a:r>
            <a:r>
              <a:rPr lang="en-US" sz="216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endParaRPr lang="en-US" sz="2160" dirty="0">
              <a:solidFill>
                <a:srgbClr val="2A2921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nezbytné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ověření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funkčnosti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výkonu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spolehlivosti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softwarového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produktu</a:t>
            </a:r>
            <a:endParaRPr lang="en-US" sz="1380" dirty="0">
              <a:solidFill>
                <a:srgbClr val="5A5A4C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42900" indent="-242900" algn="l">
              <a:lnSpc>
                <a:spcPts val="2722"/>
              </a:lnSpc>
              <a:spcBef>
                <a:spcPts val="2609"/>
              </a:spcBef>
              <a:buSzPct val="100000"/>
              <a:buChar char="•"/>
            </a:pP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Druhy</a:t>
            </a:r>
            <a:r>
              <a:rPr lang="en-US" sz="216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sz="2160" dirty="0">
              <a:solidFill>
                <a:srgbClr val="2A2921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zahrnuje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jednotlivých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částí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integrační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systémové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akceptační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přičemž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každé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svůj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vlastní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účel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techniky</a:t>
            </a:r>
            <a:endParaRPr lang="en-US" sz="1380" dirty="0">
              <a:solidFill>
                <a:srgbClr val="5A5A4C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42900" indent="-242900" algn="l">
              <a:lnSpc>
                <a:spcPts val="2722"/>
              </a:lnSpc>
              <a:spcBef>
                <a:spcPts val="2609"/>
              </a:spcBef>
              <a:buSzPct val="100000"/>
              <a:buChar char="•"/>
            </a:pP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Testovací</a:t>
            </a:r>
            <a:r>
              <a:rPr lang="en-US" sz="216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strategie</a:t>
            </a:r>
            <a:endParaRPr lang="en-US" sz="2160" dirty="0">
              <a:solidFill>
                <a:srgbClr val="2A2921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řízené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testy (TDD) a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řízené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chováním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(BDD)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oblíbené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přístupy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pomáhají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řídit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6284928" y="2022961"/>
            <a:ext cx="5446938" cy="2950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2722"/>
              </a:lnSpc>
              <a:buSzPct val="100000"/>
              <a:buChar char="•"/>
            </a:pP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Automatizované</a:t>
            </a:r>
            <a:r>
              <a:rPr lang="en-US" sz="216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sz="2160" dirty="0">
              <a:solidFill>
                <a:srgbClr val="2A2921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Nástroje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automatizované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mohou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pomoci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zlepšit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efektivitu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spolehlivost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testovacího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procesu</a:t>
            </a:r>
            <a:endParaRPr lang="en-US" sz="1380" dirty="0">
              <a:solidFill>
                <a:srgbClr val="5A5A4C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42900" indent="-242900" algn="l">
              <a:lnSpc>
                <a:spcPts val="2722"/>
              </a:lnSpc>
              <a:spcBef>
                <a:spcPts val="2609"/>
              </a:spcBef>
              <a:buSzPct val="100000"/>
              <a:buChar char="•"/>
            </a:pP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Kontinuální</a:t>
            </a:r>
            <a:r>
              <a:rPr lang="en-US" sz="216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integrace</a:t>
            </a:r>
            <a:r>
              <a:rPr lang="en-US" sz="216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216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nasazení</a:t>
            </a:r>
            <a:endParaRPr lang="en-US" sz="2160" dirty="0">
              <a:solidFill>
                <a:srgbClr val="2A2921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Praktiky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CI/CD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automatizují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vývoje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dodávky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čímž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zajišťují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rychlejší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zpětnou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vazbu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spolehlivější</a:t>
            </a: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8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vydání</a:t>
            </a:r>
            <a:endParaRPr lang="en-US" dirty="0"/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</a:t>
            </a: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vodopádu</a:t>
            </a:r>
            <a:endParaRPr lang="en-US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523" y="3942364"/>
            <a:ext cx="12217520" cy="2856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896" y="2794889"/>
            <a:ext cx="19045" cy="1171282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2281" y="3894751"/>
            <a:ext cx="114271" cy="114271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29216" y="3942364"/>
            <a:ext cx="19045" cy="1171282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81601" y="3894751"/>
            <a:ext cx="114271" cy="114271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48630" y="2794889"/>
            <a:ext cx="19045" cy="117128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1020" y="3894751"/>
            <a:ext cx="114271" cy="114271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68048" y="3942364"/>
            <a:ext cx="19045" cy="1171282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20438" y="3894751"/>
            <a:ext cx="114271" cy="114271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87461" y="2794889"/>
            <a:ext cx="19045" cy="1171282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39851" y="3894751"/>
            <a:ext cx="123794" cy="114271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06782" y="3942364"/>
            <a:ext cx="19045" cy="1171282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659172" y="3894751"/>
            <a:ext cx="123794" cy="114271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1552634" y="2671095"/>
            <a:ext cx="133318" cy="133316"/>
          </a:xfrm>
          <a:prstGeom prst="ellipse">
            <a:avLst/>
          </a:prstGeom>
          <a:solidFill>
            <a:srgbClr val="62A8BB"/>
          </a:solidFill>
        </p:spPr>
      </p:sp>
      <p:sp>
        <p:nvSpPr>
          <p:cNvPr id="17" name="Object 16"/>
          <p:cNvSpPr/>
          <p:nvPr/>
        </p:nvSpPr>
        <p:spPr>
          <a:xfrm>
            <a:off x="1781274" y="2622577"/>
            <a:ext cx="1665506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Požadavky</a:t>
            </a:r>
            <a:endParaRPr lang="en-US" dirty="0"/>
          </a:p>
        </p:txBody>
      </p:sp>
      <p:sp>
        <p:nvSpPr>
          <p:cNvPr id="18" name="Object 17"/>
          <p:cNvSpPr/>
          <p:nvPr/>
        </p:nvSpPr>
        <p:spPr>
          <a:xfrm>
            <a:off x="1781274" y="2938758"/>
            <a:ext cx="1665506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požadavků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specifikací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endParaRPr lang="en-US" dirty="0"/>
          </a:p>
        </p:txBody>
      </p:sp>
      <p:sp>
        <p:nvSpPr>
          <p:cNvPr id="19" name="Object 18"/>
          <p:cNvSpPr/>
          <p:nvPr/>
        </p:nvSpPr>
        <p:spPr>
          <a:xfrm>
            <a:off x="3172075" y="5099362"/>
            <a:ext cx="133313" cy="133316"/>
          </a:xfrm>
          <a:prstGeom prst="ellipse">
            <a:avLst/>
          </a:prstGeom>
          <a:solidFill>
            <a:srgbClr val="62A8BB"/>
          </a:solidFill>
        </p:spPr>
      </p:sp>
      <p:sp>
        <p:nvSpPr>
          <p:cNvPr id="20" name="Object 19"/>
          <p:cNvSpPr/>
          <p:nvPr/>
        </p:nvSpPr>
        <p:spPr>
          <a:xfrm>
            <a:off x="3400663" y="5050845"/>
            <a:ext cx="1864529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Návrh</a:t>
            </a:r>
            <a:endParaRPr lang="en-US" dirty="0"/>
          </a:p>
        </p:txBody>
      </p:sp>
      <p:sp>
        <p:nvSpPr>
          <p:cNvPr id="21" name="Object 20"/>
          <p:cNvSpPr/>
          <p:nvPr/>
        </p:nvSpPr>
        <p:spPr>
          <a:xfrm>
            <a:off x="3400663" y="5367025"/>
            <a:ext cx="1864529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Navrhování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architektury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softwarového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vytváření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podrobných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návrhových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plánů</a:t>
            </a:r>
            <a:endParaRPr lang="en-US" dirty="0"/>
          </a:p>
        </p:txBody>
      </p:sp>
      <p:sp>
        <p:nvSpPr>
          <p:cNvPr id="22" name="Object 21"/>
          <p:cNvSpPr/>
          <p:nvPr/>
        </p:nvSpPr>
        <p:spPr>
          <a:xfrm>
            <a:off x="4791363" y="2671095"/>
            <a:ext cx="133318" cy="133316"/>
          </a:xfrm>
          <a:prstGeom prst="ellipse">
            <a:avLst/>
          </a:prstGeom>
          <a:solidFill>
            <a:srgbClr val="62A8BB"/>
          </a:solidFill>
        </p:spPr>
      </p:sp>
      <p:sp>
        <p:nvSpPr>
          <p:cNvPr id="23" name="Object 22"/>
          <p:cNvSpPr/>
          <p:nvPr/>
        </p:nvSpPr>
        <p:spPr>
          <a:xfrm>
            <a:off x="5020053" y="2622577"/>
            <a:ext cx="1738830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Implementace</a:t>
            </a:r>
            <a:endParaRPr lang="en-US" dirty="0"/>
          </a:p>
        </p:txBody>
      </p:sp>
      <p:sp>
        <p:nvSpPr>
          <p:cNvPr id="24" name="Object 23"/>
          <p:cNvSpPr/>
          <p:nvPr/>
        </p:nvSpPr>
        <p:spPr>
          <a:xfrm>
            <a:off x="5020053" y="2938758"/>
            <a:ext cx="1738830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Napsání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kódu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základě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návrhu</a:t>
            </a:r>
            <a:endParaRPr lang="en-US" dirty="0"/>
          </a:p>
        </p:txBody>
      </p:sp>
      <p:sp>
        <p:nvSpPr>
          <p:cNvPr id="25" name="Object 24"/>
          <p:cNvSpPr/>
          <p:nvPr/>
        </p:nvSpPr>
        <p:spPr>
          <a:xfrm>
            <a:off x="6410805" y="5099362"/>
            <a:ext cx="133318" cy="133316"/>
          </a:xfrm>
          <a:prstGeom prst="ellipse">
            <a:avLst/>
          </a:prstGeom>
          <a:solidFill>
            <a:srgbClr val="62A8BB"/>
          </a:solidFill>
        </p:spPr>
      </p:sp>
      <p:sp>
        <p:nvSpPr>
          <p:cNvPr id="26" name="Object 25"/>
          <p:cNvSpPr/>
          <p:nvPr/>
        </p:nvSpPr>
        <p:spPr>
          <a:xfrm>
            <a:off x="6639442" y="5050845"/>
            <a:ext cx="1958803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Integrace</a:t>
            </a:r>
            <a:endParaRPr lang="en-US" dirty="0"/>
          </a:p>
        </p:txBody>
      </p:sp>
      <p:sp>
        <p:nvSpPr>
          <p:cNvPr id="27" name="Object 26"/>
          <p:cNvSpPr/>
          <p:nvPr/>
        </p:nvSpPr>
        <p:spPr>
          <a:xfrm>
            <a:off x="6639442" y="5367025"/>
            <a:ext cx="1958803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různých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softwarových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komponen</a:t>
            </a:r>
            <a:r>
              <a:rPr lang="cs-CZ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tů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celkového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systému</a:t>
            </a:r>
            <a:endParaRPr lang="en-US" dirty="0"/>
          </a:p>
        </p:txBody>
      </p:sp>
      <p:sp>
        <p:nvSpPr>
          <p:cNvPr id="28" name="Object 27"/>
          <p:cNvSpPr/>
          <p:nvPr/>
        </p:nvSpPr>
        <p:spPr>
          <a:xfrm>
            <a:off x="8030246" y="2671095"/>
            <a:ext cx="133318" cy="133316"/>
          </a:xfrm>
          <a:prstGeom prst="ellipse">
            <a:avLst/>
          </a:prstGeom>
          <a:solidFill>
            <a:srgbClr val="62A8BB"/>
          </a:solidFill>
        </p:spPr>
      </p:sp>
      <p:sp>
        <p:nvSpPr>
          <p:cNvPr id="29" name="Object 28"/>
          <p:cNvSpPr/>
          <p:nvPr/>
        </p:nvSpPr>
        <p:spPr>
          <a:xfrm>
            <a:off x="8258831" y="2622577"/>
            <a:ext cx="1686456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Nasazení</a:t>
            </a:r>
            <a:endParaRPr lang="en-US" dirty="0"/>
          </a:p>
        </p:txBody>
      </p:sp>
      <p:sp>
        <p:nvSpPr>
          <p:cNvPr id="30" name="Object 29"/>
          <p:cNvSpPr/>
          <p:nvPr/>
        </p:nvSpPr>
        <p:spPr>
          <a:xfrm>
            <a:off x="8258831" y="2938758"/>
            <a:ext cx="1994878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  <a:buNone/>
            </a:pPr>
            <a:r>
              <a:rPr lang="cs-CZ" sz="1200" dirty="0">
                <a:solidFill>
                  <a:srgbClr val="5A5A4C"/>
                </a:solidFill>
                <a:latin typeface="Montserrat" pitchFamily="34" charset="0"/>
              </a:rPr>
              <a:t>Nasazení softwarového systému do produkčního prostředí</a:t>
            </a:r>
            <a:endParaRPr lang="en-US" dirty="0"/>
          </a:p>
        </p:txBody>
      </p:sp>
      <p:sp>
        <p:nvSpPr>
          <p:cNvPr id="31" name="Object 30"/>
          <p:cNvSpPr/>
          <p:nvPr/>
        </p:nvSpPr>
        <p:spPr>
          <a:xfrm>
            <a:off x="9649539" y="5099362"/>
            <a:ext cx="133318" cy="133316"/>
          </a:xfrm>
          <a:prstGeom prst="ellipse">
            <a:avLst/>
          </a:prstGeom>
          <a:solidFill>
            <a:srgbClr val="62A8BB"/>
          </a:solidFill>
        </p:spPr>
      </p:sp>
      <p:sp>
        <p:nvSpPr>
          <p:cNvPr id="32" name="Object 31"/>
          <p:cNvSpPr/>
          <p:nvPr/>
        </p:nvSpPr>
        <p:spPr>
          <a:xfrm>
            <a:off x="9878221" y="5050845"/>
            <a:ext cx="199022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Údržba</a:t>
            </a:r>
            <a:endParaRPr lang="en-US" dirty="0"/>
          </a:p>
        </p:txBody>
      </p:sp>
      <p:sp>
        <p:nvSpPr>
          <p:cNvPr id="33" name="Object 32"/>
          <p:cNvSpPr/>
          <p:nvPr/>
        </p:nvSpPr>
        <p:spPr>
          <a:xfrm>
            <a:off x="9878221" y="5367025"/>
            <a:ext cx="1990227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Zajištění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průběžné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podpory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aktualizací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softwarového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systému</a:t>
            </a:r>
            <a:endParaRPr lang="en-US" dirty="0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76131" y="476131"/>
            <a:ext cx="5168877" cy="5904024"/>
          </a:xfrm>
          <a:prstGeom prst="rect">
            <a:avLst/>
          </a:prstGeom>
          <a:solidFill>
            <a:srgbClr val="62A8BB"/>
          </a:solidFill>
        </p:spPr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/>
          <a:srcRect t="2746" b="2746"/>
          <a:stretch/>
        </p:blipFill>
        <p:spPr>
          <a:xfrm>
            <a:off x="476131" y="476131"/>
            <a:ext cx="5168877" cy="5904024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5874027" y="2448355"/>
            <a:ext cx="6085906" cy="5099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Agilní</a:t>
            </a:r>
            <a:r>
              <a:rPr lang="en-US" sz="318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188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5874027" y="3066581"/>
            <a:ext cx="6085906" cy="1279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016"/>
              </a:lnSpc>
              <a:spcBef>
                <a:spcPts val="836"/>
              </a:spcBef>
              <a:buNone/>
            </a:pP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Agilní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cs-CZ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metoda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iterativní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postupný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vývoji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který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klade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důraz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spolupráci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flexibilitu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rychlé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doručení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Zaměřuje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neustálé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dodávání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funkčního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pravidelnou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zpětnou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vazbu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od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uživatelů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schopnost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rychle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přizpůsobit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měnícím</a:t>
            </a:r>
            <a:r>
              <a:rPr lang="en-US" sz="144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</a:t>
            </a:r>
            <a:r>
              <a:rPr lang="en-US" sz="144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požadavkům</a:t>
            </a:r>
            <a:endParaRPr lang="en-US" dirty="0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Druhy</a:t>
            </a: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476131" y="1523619"/>
            <a:ext cx="5523119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</p:sp>
      <p:sp>
        <p:nvSpPr>
          <p:cNvPr id="4" name="Object 3"/>
          <p:cNvSpPr/>
          <p:nvPr/>
        </p:nvSpPr>
        <p:spPr>
          <a:xfrm>
            <a:off x="761810" y="1736836"/>
            <a:ext cx="5551687" cy="3262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  <a:buNone/>
            </a:pP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20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jednotlivých</a:t>
            </a:r>
            <a:r>
              <a:rPr lang="en-US" sz="20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částí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761810" y="2209545"/>
            <a:ext cx="5551687" cy="79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31"/>
              </a:spcBef>
              <a:buNone/>
            </a:pP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nejmenší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testovatelnou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část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aplikace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jako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funkce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nebo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třída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aby se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zajistilo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funguje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podle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očekávání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6189702" y="1523619"/>
            <a:ext cx="5523119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</p:sp>
      <p:sp>
        <p:nvSpPr>
          <p:cNvPr id="7" name="Object 6"/>
          <p:cNvSpPr/>
          <p:nvPr/>
        </p:nvSpPr>
        <p:spPr>
          <a:xfrm>
            <a:off x="6475381" y="1736836"/>
            <a:ext cx="5551687" cy="3262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  <a:buNone/>
            </a:pP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Integrační</a:t>
            </a:r>
            <a:r>
              <a:rPr lang="en-US" sz="20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6475382" y="2209545"/>
            <a:ext cx="4954808" cy="79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31"/>
              </a:spcBef>
              <a:buNone/>
            </a:pP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Kontroluje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jak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různé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komponenty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aplikace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spolupracují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jako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celek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identifikuje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případné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problémy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integrací</a:t>
            </a: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476131" y="4047113"/>
            <a:ext cx="5523119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</p:sp>
      <p:sp>
        <p:nvSpPr>
          <p:cNvPr id="10" name="Object 9"/>
          <p:cNvSpPr/>
          <p:nvPr/>
        </p:nvSpPr>
        <p:spPr>
          <a:xfrm>
            <a:off x="761810" y="4260330"/>
            <a:ext cx="5551687" cy="3262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  <a:buNone/>
            </a:pP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Systémové</a:t>
            </a:r>
            <a:r>
              <a:rPr lang="en-US" sz="20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761810" y="4733039"/>
            <a:ext cx="5113645" cy="5332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31"/>
              </a:spcBef>
              <a:buNone/>
            </a:pP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Hodnotí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celý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aby se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zajistilo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splňuje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stanovené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požadavky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funguje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podle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očekávání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6189702" y="4047113"/>
            <a:ext cx="5523119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</p:sp>
      <p:sp>
        <p:nvSpPr>
          <p:cNvPr id="13" name="Object 12"/>
          <p:cNvSpPr/>
          <p:nvPr/>
        </p:nvSpPr>
        <p:spPr>
          <a:xfrm>
            <a:off x="6475381" y="4260330"/>
            <a:ext cx="5551687" cy="3262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570"/>
              </a:lnSpc>
              <a:buNone/>
            </a:pP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Akceptační</a:t>
            </a:r>
            <a:r>
              <a:rPr lang="en-US" sz="20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6475381" y="4733039"/>
            <a:ext cx="4870281" cy="79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1131"/>
              </a:spcBef>
              <a:buNone/>
            </a:pP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Zajišťuje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systém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splňuje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požadavky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zákazníka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je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připraven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nasazení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přičemž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zahrnuje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koncové</a:t>
            </a:r>
            <a:r>
              <a:rPr lang="en-US" sz="15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uživatele</a:t>
            </a:r>
            <a:endParaRPr lang="en-US" dirty="0"/>
          </a:p>
        </p:txBody>
      </p:sp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Kontinuální</a:t>
            </a: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integrace</a:t>
            </a:r>
            <a:r>
              <a:rPr lang="en-US" sz="3188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3188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nasazení</a:t>
            </a:r>
            <a:endParaRPr lang="en-US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606" y="1690265"/>
            <a:ext cx="2418745" cy="1218895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579927" y="2058076"/>
            <a:ext cx="1906428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Kontinuální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integrace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(CI)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761810" y="3027300"/>
            <a:ext cx="1906428" cy="34114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Kontinuální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praxe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kdy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vývojáři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pravidelně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slučují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změny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kódu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centrálního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repozitáře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sloučený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kód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spouští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automatizované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sestavení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testy. To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zajišťuje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kódová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báze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vždy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pracovním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stavu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snižuje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integrací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855" y="1690265"/>
            <a:ext cx="2418745" cy="1218895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3089138" y="1943805"/>
            <a:ext cx="1592182" cy="690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cs-CZ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ontinuální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nasazení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(CD)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971057" y="3027300"/>
            <a:ext cx="1906428" cy="29850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Kontinuální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automatického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změn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prošly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fází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produkčního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prostředí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umožňuje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rychlejší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doručení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nových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funkcí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oprav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chyb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koncovým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uživatelům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5104" y="1690265"/>
            <a:ext cx="2418745" cy="1218895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5298385" y="1943805"/>
            <a:ext cx="1592182" cy="690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Automatizované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sestavení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5180305" y="3027300"/>
            <a:ext cx="1906428" cy="25586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CI/CD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zahrnují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automatizované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sestavení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pomáhají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odhalit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již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raných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fázích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</a:t>
            </a:r>
            <a:r>
              <a:rPr lang="cs-CZ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zahrnuje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unit testy,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integrační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testy a end-to-end testy,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které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zajišťují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software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funguje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podle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očekávání</a:t>
            </a:r>
            <a:endParaRPr lang="en-US" dirty="0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4353" y="1690265"/>
            <a:ext cx="2418745" cy="1218895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7507633" y="1943805"/>
            <a:ext cx="1592182" cy="690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Rychlejší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zpětná</a:t>
            </a: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vazba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7389552" y="3027299"/>
            <a:ext cx="1906428" cy="24857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 CI/CD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vývojáři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získávají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rychlejší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zpětnou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vazbu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změny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kódu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což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jim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umožňuje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rychleji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řešit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problémy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efektivněji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pracovat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vylepšení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endParaRPr lang="en-US" sz="1200" dirty="0"/>
          </a:p>
        </p:txBody>
      </p:sp>
      <p:pic>
        <p:nvPicPr>
          <p:cNvPr id="15" name="Object 1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03602" y="1690265"/>
            <a:ext cx="2418745" cy="1218895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9716880" y="2058076"/>
            <a:ext cx="1592182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Zvýšená</a:t>
            </a:r>
            <a:r>
              <a:rPr lang="en-US" sz="144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4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spolehlivost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9598800" y="3027300"/>
            <a:ext cx="1906428" cy="21321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Automatizované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procesy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 CI/CD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pomáhají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zajistit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že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produkce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je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nasazen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pouze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vysoce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kvalitní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kód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bez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chyb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což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vede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spolehlivějšímu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softwaru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koncové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uživatele</a:t>
            </a:r>
            <a:endParaRPr lang="en-US" dirty="0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28E8A6F2-6CAE-FC5B-F1FB-A5C1F9E8D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3379" y="0"/>
            <a:ext cx="13520692" cy="6857999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6280554" y="1429434"/>
            <a:ext cx="5609953" cy="15297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4016"/>
              </a:lnSpc>
              <a:buNone/>
            </a:pPr>
            <a:r>
              <a:rPr lang="cs-CZ" sz="3188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Děkuji za pozornost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38B1E469-CBDF-42CA-A2A2-FC328211B767}"/>
</file>

<file path=customXml/itemProps2.xml><?xml version="1.0" encoding="utf-8"?>
<ds:datastoreItem xmlns:ds="http://schemas.openxmlformats.org/officeDocument/2006/customXml" ds:itemID="{0F3856A0-E6F0-4A3E-AF52-AA599D4F3B0E}"/>
</file>

<file path=customXml/itemProps3.xml><?xml version="1.0" encoding="utf-8"?>
<ds:datastoreItem xmlns:ds="http://schemas.openxmlformats.org/officeDocument/2006/customXml" ds:itemID="{D9D681FE-C4ED-4B64-BED9-75F45B147BBE}"/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688</Words>
  <Application>Microsoft Office PowerPoint</Application>
  <PresentationFormat>Širokoúhlá obrazovka</PresentationFormat>
  <Paragraphs>76</Paragraphs>
  <Slides>9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2" baseType="lpstr">
      <vt:lpstr>Arial</vt:lpstr>
      <vt:lpstr>Montserrat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Algorithms, Software Development Approaches, and Testing</dc:title>
  <dc:subject>Algorithms, Software Development Approaches, and Testing</dc:subject>
  <dc:creator>Karel Koukal</dc:creator>
  <cp:lastModifiedBy>Karel Koukal</cp:lastModifiedBy>
  <cp:revision>53</cp:revision>
  <dcterms:created xsi:type="dcterms:W3CDTF">2025-03-12T23:56:32Z</dcterms:created>
  <dcterms:modified xsi:type="dcterms:W3CDTF">2025-03-13T01:56:49Z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