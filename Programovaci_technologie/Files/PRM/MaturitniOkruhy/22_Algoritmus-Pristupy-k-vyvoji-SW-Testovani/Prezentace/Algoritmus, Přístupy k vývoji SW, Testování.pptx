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3/9/2023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Algoritmus" TargetMode="External"/><Relationship Id="rId2" Type="http://schemas.openxmlformats.org/officeDocument/2006/relationships/hyperlink" Target="http://www.ivt.mzf.cz/algoritmizace-a-programovani/uvod-do-algoritmu/1-uvod-algoritm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tnetwork.cz/java/testovani/uvod-do-testovani-softwaru-v-ja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14207D-D4E8-297E-7DC4-A011BEB4E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Algoritmus, Přístupy k vývoji SW, Testování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E50FADE-3BEF-A84B-7557-0426FD2D4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Marek Vochyán</a:t>
            </a:r>
          </a:p>
        </p:txBody>
      </p:sp>
    </p:spTree>
    <p:extLst>
      <p:ext uri="{BB962C8B-B14F-4D97-AF65-F5344CB8AC3E}">
        <p14:creationId xmlns:p14="http://schemas.microsoft.com/office/powerpoint/2010/main" val="188432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B5D5C93-FEF5-7241-F886-E170214D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Algoritmus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737FFDC-0683-65DB-21AA-884D2866C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552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DEA6D4-A9B0-48FC-CE8A-524DFEE6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Algoritmus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81DBA9-16ED-9A69-2A0E-0774B42B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Přesný popis, popisující určitý proces, který vede od vstupních údajů k požadovaným výsledkům</a:t>
            </a:r>
          </a:p>
          <a:p>
            <a:r>
              <a:rPr lang="cs-CZ" dirty="0"/>
              <a:t>= jednoznačný a přesný popis řešení problému</a:t>
            </a:r>
          </a:p>
        </p:txBody>
      </p:sp>
    </p:spTree>
    <p:extLst>
      <p:ext uri="{BB962C8B-B14F-4D97-AF65-F5344CB8AC3E}">
        <p14:creationId xmlns:p14="http://schemas.microsoft.com/office/powerpoint/2010/main" val="38630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28736D-1B2C-3008-D8F3-C4B4CCC7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Algoritmus -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F688F2-3327-21B3-639B-7207E5166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Rekurzivní</a:t>
            </a:r>
            <a:r>
              <a:rPr lang="cs-CZ" dirty="0"/>
              <a:t> – volá se opakovaně, dokud se problém nevyřeší</a:t>
            </a:r>
          </a:p>
          <a:p>
            <a:r>
              <a:rPr lang="cs-CZ" u="sng" dirty="0"/>
              <a:t>Rozděl a panuj</a:t>
            </a:r>
            <a:r>
              <a:rPr lang="cs-CZ" dirty="0"/>
              <a:t> – úlohu rozdělí na několik malých, které samostatně vyřeší a výsledky spojí dohromady</a:t>
            </a:r>
          </a:p>
          <a:p>
            <a:r>
              <a:rPr lang="cs-CZ" u="sng" dirty="0"/>
              <a:t>Dynamický</a:t>
            </a:r>
            <a:r>
              <a:rPr lang="cs-CZ" dirty="0"/>
              <a:t> – pamatuje si výsledky z minulých běhů, které používá pro řešení budoucích</a:t>
            </a:r>
          </a:p>
          <a:p>
            <a:r>
              <a:rPr lang="cs-CZ" u="sng" dirty="0" err="1"/>
              <a:t>Greedy</a:t>
            </a:r>
            <a:r>
              <a:rPr lang="cs-CZ" dirty="0"/>
              <a:t> – hledá optimální řešení</a:t>
            </a:r>
          </a:p>
          <a:p>
            <a:r>
              <a:rPr lang="cs-CZ" u="sng" dirty="0"/>
              <a:t>Hrubá síla</a:t>
            </a:r>
            <a:r>
              <a:rPr lang="cs-CZ" dirty="0"/>
              <a:t> – naslepo iteruje všechna možná řešení pro hledání toho správného</a:t>
            </a:r>
          </a:p>
          <a:p>
            <a:r>
              <a:rPr lang="cs-CZ" u="sng" dirty="0" err="1"/>
              <a:t>Backtrack</a:t>
            </a:r>
            <a:r>
              <a:rPr lang="cs-CZ" dirty="0"/>
              <a:t> – řeší dílčí problém, pokud problém nevyřeší, vrátí se o krok zpět a pokračuje jinou cestou dokud nenajde řešení</a:t>
            </a:r>
          </a:p>
        </p:txBody>
      </p:sp>
    </p:spTree>
    <p:extLst>
      <p:ext uri="{BB962C8B-B14F-4D97-AF65-F5344CB8AC3E}">
        <p14:creationId xmlns:p14="http://schemas.microsoft.com/office/powerpoint/2010/main" val="258026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3E7D18-680C-473C-AD47-50AB2864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Algoritmus - složitost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E4838A-B090-3CC6-E2E2-E791E43DF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Časová</a:t>
            </a:r>
            <a:r>
              <a:rPr lang="cs-CZ" dirty="0"/>
              <a:t> – za jakou dobu zpracuje algoritmus daný objem dat</a:t>
            </a:r>
          </a:p>
          <a:p>
            <a:r>
              <a:rPr lang="cs-CZ" u="sng" dirty="0"/>
              <a:t>Paměťová</a:t>
            </a:r>
            <a:r>
              <a:rPr lang="cs-CZ" dirty="0"/>
              <a:t> – kolik paměti využívá při výpočtu</a:t>
            </a:r>
            <a:endParaRPr lang="cs-CZ" u="sng" dirty="0"/>
          </a:p>
        </p:txBody>
      </p:sp>
    </p:spTree>
    <p:extLst>
      <p:ext uri="{BB962C8B-B14F-4D97-AF65-F5344CB8AC3E}">
        <p14:creationId xmlns:p14="http://schemas.microsoft.com/office/powerpoint/2010/main" val="19918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2AB9CD30-9CB0-4E9E-DE0A-16A44585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Přístupy k vývoji SW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861B1625-A230-1834-FCF2-14F557AC7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662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1F77291-FD9B-A3BE-7BB6-88B93B9A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Přístupy k vývoji SW – schéma vodopád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4E7CEB4-B59A-6A53-93E1-C793D9F1A70C}"/>
              </a:ext>
            </a:extLst>
          </p:cNvPr>
          <p:cNvSpPr/>
          <p:nvPr/>
        </p:nvSpPr>
        <p:spPr>
          <a:xfrm>
            <a:off x="4655890" y="2174717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Vize a cíle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A12104A6-9D01-CC51-E184-2D96991CDF15}"/>
              </a:ext>
            </a:extLst>
          </p:cNvPr>
          <p:cNvSpPr/>
          <p:nvPr/>
        </p:nvSpPr>
        <p:spPr>
          <a:xfrm>
            <a:off x="4655890" y="3460138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analýza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C1BF9118-CA33-DF75-E095-1E85D7107770}"/>
              </a:ext>
            </a:extLst>
          </p:cNvPr>
          <p:cNvSpPr/>
          <p:nvPr/>
        </p:nvSpPr>
        <p:spPr>
          <a:xfrm>
            <a:off x="4655890" y="4095416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kódování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B7E6A66C-2797-412C-76BC-D681DBE0B21D}"/>
              </a:ext>
            </a:extLst>
          </p:cNvPr>
          <p:cNvSpPr/>
          <p:nvPr/>
        </p:nvSpPr>
        <p:spPr>
          <a:xfrm>
            <a:off x="4655890" y="4730694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testování</a:t>
            </a: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A40551E0-9554-C14A-0359-664C2C236F13}"/>
              </a:ext>
            </a:extLst>
          </p:cNvPr>
          <p:cNvSpPr/>
          <p:nvPr/>
        </p:nvSpPr>
        <p:spPr>
          <a:xfrm>
            <a:off x="4655890" y="5365972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předání</a:t>
            </a:r>
          </a:p>
        </p:txBody>
      </p: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11C90B33-783F-FAFC-F75A-C8C365E19EA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868099" y="2678057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nice se šipkou 14">
            <a:extLst>
              <a:ext uri="{FF2B5EF4-FFF2-40B4-BE49-F238E27FC236}">
                <a16:creationId xmlns:a16="http://schemas.microsoft.com/office/drawing/2014/main" id="{B5B46E19-35DA-0793-0684-8693213D8074}"/>
              </a:ext>
            </a:extLst>
          </p:cNvPr>
          <p:cNvCxnSpPr/>
          <p:nvPr/>
        </p:nvCxnSpPr>
        <p:spPr>
          <a:xfrm>
            <a:off x="5862149" y="3313335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FEAC24DB-8BF2-D226-00E1-BACB8CC2A123}"/>
              </a:ext>
            </a:extLst>
          </p:cNvPr>
          <p:cNvCxnSpPr/>
          <p:nvPr/>
        </p:nvCxnSpPr>
        <p:spPr>
          <a:xfrm>
            <a:off x="5883316" y="3978343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nice se šipkou 16">
            <a:extLst>
              <a:ext uri="{FF2B5EF4-FFF2-40B4-BE49-F238E27FC236}">
                <a16:creationId xmlns:a16="http://schemas.microsoft.com/office/drawing/2014/main" id="{26A1098E-A05A-33C2-7659-63C143ECC45D}"/>
              </a:ext>
            </a:extLst>
          </p:cNvPr>
          <p:cNvCxnSpPr/>
          <p:nvPr/>
        </p:nvCxnSpPr>
        <p:spPr>
          <a:xfrm>
            <a:off x="5883316" y="4598756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se šipkou 17">
            <a:extLst>
              <a:ext uri="{FF2B5EF4-FFF2-40B4-BE49-F238E27FC236}">
                <a16:creationId xmlns:a16="http://schemas.microsoft.com/office/drawing/2014/main" id="{4A32D86B-4AA8-E40B-407F-FF0F1EAAC7DD}"/>
              </a:ext>
            </a:extLst>
          </p:cNvPr>
          <p:cNvCxnSpPr/>
          <p:nvPr/>
        </p:nvCxnSpPr>
        <p:spPr>
          <a:xfrm>
            <a:off x="5868783" y="5234034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délník 20">
            <a:extLst>
              <a:ext uri="{FF2B5EF4-FFF2-40B4-BE49-F238E27FC236}">
                <a16:creationId xmlns:a16="http://schemas.microsoft.com/office/drawing/2014/main" id="{81BB883D-E36B-A52E-3EDE-F3002DD4A08F}"/>
              </a:ext>
            </a:extLst>
          </p:cNvPr>
          <p:cNvSpPr/>
          <p:nvPr/>
        </p:nvSpPr>
        <p:spPr>
          <a:xfrm>
            <a:off x="4649940" y="6001250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Provoz a údržba</a:t>
            </a:r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54D8028B-1B2F-52B4-455C-998B7475CE44}"/>
              </a:ext>
            </a:extLst>
          </p:cNvPr>
          <p:cNvSpPr/>
          <p:nvPr/>
        </p:nvSpPr>
        <p:spPr>
          <a:xfrm>
            <a:off x="4676179" y="2815968"/>
            <a:ext cx="2424418" cy="503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návrh</a:t>
            </a:r>
          </a:p>
        </p:txBody>
      </p: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60BE27B3-AC48-47B6-F8F7-0D43305C4A72}"/>
              </a:ext>
            </a:extLst>
          </p:cNvPr>
          <p:cNvCxnSpPr/>
          <p:nvPr/>
        </p:nvCxnSpPr>
        <p:spPr>
          <a:xfrm>
            <a:off x="5888388" y="5869312"/>
            <a:ext cx="10145" cy="131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ál 26">
            <a:extLst>
              <a:ext uri="{FF2B5EF4-FFF2-40B4-BE49-F238E27FC236}">
                <a16:creationId xmlns:a16="http://schemas.microsoft.com/office/drawing/2014/main" id="{1CE9DA05-9E6A-60B6-E526-C2ACC8F7672B}"/>
              </a:ext>
            </a:extLst>
          </p:cNvPr>
          <p:cNvSpPr/>
          <p:nvPr/>
        </p:nvSpPr>
        <p:spPr>
          <a:xfrm>
            <a:off x="810000" y="3020037"/>
            <a:ext cx="2679332" cy="26928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dokumentace</a:t>
            </a:r>
          </a:p>
        </p:txBody>
      </p: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id="{C029D9C8-E5A5-C450-5E65-E39A45861166}"/>
              </a:ext>
            </a:extLst>
          </p:cNvPr>
          <p:cNvCxnSpPr>
            <a:cxnSpLocks/>
            <a:stCxn id="6" idx="1"/>
            <a:endCxn id="27" idx="7"/>
          </p:cNvCxnSpPr>
          <p:nvPr/>
        </p:nvCxnSpPr>
        <p:spPr>
          <a:xfrm flipH="1">
            <a:off x="3096953" y="2426387"/>
            <a:ext cx="1558937" cy="988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římá spojnice se šipkou 34">
            <a:extLst>
              <a:ext uri="{FF2B5EF4-FFF2-40B4-BE49-F238E27FC236}">
                <a16:creationId xmlns:a16="http://schemas.microsoft.com/office/drawing/2014/main" id="{A8EB3185-F008-48E7-DFC1-6E8E2AC49E3F}"/>
              </a:ext>
            </a:extLst>
          </p:cNvPr>
          <p:cNvCxnSpPr>
            <a:cxnSpLocks/>
            <a:stCxn id="22" idx="1"/>
            <a:endCxn id="27" idx="7"/>
          </p:cNvCxnSpPr>
          <p:nvPr/>
        </p:nvCxnSpPr>
        <p:spPr>
          <a:xfrm flipH="1">
            <a:off x="3096953" y="3067638"/>
            <a:ext cx="1579226" cy="34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římá spojnice se šipkou 36">
            <a:extLst>
              <a:ext uri="{FF2B5EF4-FFF2-40B4-BE49-F238E27FC236}">
                <a16:creationId xmlns:a16="http://schemas.microsoft.com/office/drawing/2014/main" id="{21755A0B-B05E-D41C-8A4F-1CA6303609EB}"/>
              </a:ext>
            </a:extLst>
          </p:cNvPr>
          <p:cNvCxnSpPr>
            <a:cxnSpLocks/>
            <a:stCxn id="9" idx="1"/>
            <a:endCxn id="27" idx="7"/>
          </p:cNvCxnSpPr>
          <p:nvPr/>
        </p:nvCxnSpPr>
        <p:spPr>
          <a:xfrm flipH="1" flipV="1">
            <a:off x="3096953" y="3414398"/>
            <a:ext cx="1558937" cy="297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římá spojnice se šipkou 38">
            <a:extLst>
              <a:ext uri="{FF2B5EF4-FFF2-40B4-BE49-F238E27FC236}">
                <a16:creationId xmlns:a16="http://schemas.microsoft.com/office/drawing/2014/main" id="{63BF0E75-A358-A902-AF3B-9410A6F5267B}"/>
              </a:ext>
            </a:extLst>
          </p:cNvPr>
          <p:cNvCxnSpPr>
            <a:cxnSpLocks/>
            <a:stCxn id="10" idx="1"/>
            <a:endCxn id="27" idx="6"/>
          </p:cNvCxnSpPr>
          <p:nvPr/>
        </p:nvCxnSpPr>
        <p:spPr>
          <a:xfrm flipH="1">
            <a:off x="3489332" y="4347086"/>
            <a:ext cx="1166558" cy="19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římá spojnice se šipkou 40">
            <a:extLst>
              <a:ext uri="{FF2B5EF4-FFF2-40B4-BE49-F238E27FC236}">
                <a16:creationId xmlns:a16="http://schemas.microsoft.com/office/drawing/2014/main" id="{1DD5AF6F-E681-316D-AB95-40C1DE72B48A}"/>
              </a:ext>
            </a:extLst>
          </p:cNvPr>
          <p:cNvCxnSpPr>
            <a:cxnSpLocks/>
            <a:stCxn id="11" idx="1"/>
            <a:endCxn id="27" idx="5"/>
          </p:cNvCxnSpPr>
          <p:nvPr/>
        </p:nvCxnSpPr>
        <p:spPr>
          <a:xfrm flipH="1">
            <a:off x="3096953" y="4982364"/>
            <a:ext cx="1558937" cy="33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římá spojnice se šipkou 43">
            <a:extLst>
              <a:ext uri="{FF2B5EF4-FFF2-40B4-BE49-F238E27FC236}">
                <a16:creationId xmlns:a16="http://schemas.microsoft.com/office/drawing/2014/main" id="{9AD0E098-D8D3-BBB2-8EC2-754FDC2578D8}"/>
              </a:ext>
            </a:extLst>
          </p:cNvPr>
          <p:cNvCxnSpPr>
            <a:cxnSpLocks/>
            <a:stCxn id="12" idx="1"/>
            <a:endCxn id="27" idx="5"/>
          </p:cNvCxnSpPr>
          <p:nvPr/>
        </p:nvCxnSpPr>
        <p:spPr>
          <a:xfrm flipH="1" flipV="1">
            <a:off x="3096953" y="5318542"/>
            <a:ext cx="1558937" cy="29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Přímá spojnice se šipkou 45">
            <a:extLst>
              <a:ext uri="{FF2B5EF4-FFF2-40B4-BE49-F238E27FC236}">
                <a16:creationId xmlns:a16="http://schemas.microsoft.com/office/drawing/2014/main" id="{E3C6E18F-31FB-7FA9-96FF-FE1CF39664B3}"/>
              </a:ext>
            </a:extLst>
          </p:cNvPr>
          <p:cNvCxnSpPr>
            <a:cxnSpLocks/>
            <a:stCxn id="21" idx="1"/>
            <a:endCxn id="27" idx="5"/>
          </p:cNvCxnSpPr>
          <p:nvPr/>
        </p:nvCxnSpPr>
        <p:spPr>
          <a:xfrm flipH="1" flipV="1">
            <a:off x="3096953" y="5318542"/>
            <a:ext cx="1552987" cy="93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ál 61">
            <a:extLst>
              <a:ext uri="{FF2B5EF4-FFF2-40B4-BE49-F238E27FC236}">
                <a16:creationId xmlns:a16="http://schemas.microsoft.com/office/drawing/2014/main" id="{58C9EF7C-CB7D-DCB1-27CC-BDFFF1F88B6F}"/>
              </a:ext>
            </a:extLst>
          </p:cNvPr>
          <p:cNvSpPr/>
          <p:nvPr/>
        </p:nvSpPr>
        <p:spPr>
          <a:xfrm>
            <a:off x="8246866" y="3000653"/>
            <a:ext cx="2679332" cy="26928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Testování dat</a:t>
            </a:r>
          </a:p>
        </p:txBody>
      </p:sp>
      <p:cxnSp>
        <p:nvCxnSpPr>
          <p:cNvPr id="64" name="Přímá spojnice se šipkou 63">
            <a:extLst>
              <a:ext uri="{FF2B5EF4-FFF2-40B4-BE49-F238E27FC236}">
                <a16:creationId xmlns:a16="http://schemas.microsoft.com/office/drawing/2014/main" id="{4E363BB3-51D8-5FDA-DE07-C8A1854CA1F1}"/>
              </a:ext>
            </a:extLst>
          </p:cNvPr>
          <p:cNvCxnSpPr>
            <a:endCxn id="62" idx="1"/>
          </p:cNvCxnSpPr>
          <p:nvPr/>
        </p:nvCxnSpPr>
        <p:spPr>
          <a:xfrm>
            <a:off x="7100597" y="3067638"/>
            <a:ext cx="1538648" cy="327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Přímá spojnice se šipkou 65">
            <a:extLst>
              <a:ext uri="{FF2B5EF4-FFF2-40B4-BE49-F238E27FC236}">
                <a16:creationId xmlns:a16="http://schemas.microsoft.com/office/drawing/2014/main" id="{310CF47F-AEAF-E20C-41E7-7E35D5070550}"/>
              </a:ext>
            </a:extLst>
          </p:cNvPr>
          <p:cNvCxnSpPr>
            <a:stCxn id="9" idx="3"/>
            <a:endCxn id="62" idx="1"/>
          </p:cNvCxnSpPr>
          <p:nvPr/>
        </p:nvCxnSpPr>
        <p:spPr>
          <a:xfrm flipV="1">
            <a:off x="7080308" y="3395014"/>
            <a:ext cx="1558937" cy="316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Přímá spojnice se šipkou 67">
            <a:extLst>
              <a:ext uri="{FF2B5EF4-FFF2-40B4-BE49-F238E27FC236}">
                <a16:creationId xmlns:a16="http://schemas.microsoft.com/office/drawing/2014/main" id="{9EE69F34-D75D-245E-607A-41669511F36F}"/>
              </a:ext>
            </a:extLst>
          </p:cNvPr>
          <p:cNvCxnSpPr>
            <a:stCxn id="62" idx="2"/>
            <a:endCxn id="10" idx="3"/>
          </p:cNvCxnSpPr>
          <p:nvPr/>
        </p:nvCxnSpPr>
        <p:spPr>
          <a:xfrm flipH="1">
            <a:off x="7080308" y="4347086"/>
            <a:ext cx="11665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Přímá spojnice se šipkou 69">
            <a:extLst>
              <a:ext uri="{FF2B5EF4-FFF2-40B4-BE49-F238E27FC236}">
                <a16:creationId xmlns:a16="http://schemas.microsoft.com/office/drawing/2014/main" id="{869F4CA7-2602-C502-17B7-9C685206598D}"/>
              </a:ext>
            </a:extLst>
          </p:cNvPr>
          <p:cNvCxnSpPr>
            <a:stCxn id="62" idx="3"/>
            <a:endCxn id="11" idx="3"/>
          </p:cNvCxnSpPr>
          <p:nvPr/>
        </p:nvCxnSpPr>
        <p:spPr>
          <a:xfrm flipH="1" flipV="1">
            <a:off x="7080308" y="4982364"/>
            <a:ext cx="1558937" cy="316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66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E34A7A1-80B2-3A9E-7E1B-4750FDB1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EBE10A0-1FC4-57DE-4982-2A1C83427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857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2A6AAF9-794B-ED0F-0316-A4926963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BD7EACBA-4654-F043-4AB9-8BA0B398B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Testování je při vývoji SW velmi důležité</a:t>
            </a:r>
          </a:p>
          <a:p>
            <a:r>
              <a:rPr lang="cs-CZ" dirty="0"/>
              <a:t>Testy se dají napsat, nebo vygenerovat</a:t>
            </a:r>
          </a:p>
          <a:p>
            <a:r>
              <a:rPr lang="cs-CZ" dirty="0"/>
              <a:t>Vždy se vyplatí něco jiného (čas apod.)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1423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DDCFFC-1BC0-0A2C-0D34-558AB26B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7BF56E-D2E0-AB43-0079-BA4EA7F9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Proč se netestuje manuálně?</a:t>
            </a:r>
          </a:p>
          <a:p>
            <a:r>
              <a:rPr lang="cs-CZ" dirty="0"/>
              <a:t>Pokud by se mělo vše testovat ručně (každý </a:t>
            </a:r>
            <a:r>
              <a:rPr lang="cs-CZ" dirty="0" err="1"/>
              <a:t>button</a:t>
            </a:r>
            <a:r>
              <a:rPr lang="cs-CZ" dirty="0"/>
              <a:t> apod.) zabralo by t o spoustu času</a:t>
            </a:r>
          </a:p>
          <a:p>
            <a:r>
              <a:rPr lang="cs-CZ" dirty="0"/>
              <a:t>Poté by se při každé změně SW muselo vše provádět znovu</a:t>
            </a:r>
          </a:p>
        </p:txBody>
      </p:sp>
    </p:spTree>
    <p:extLst>
      <p:ext uri="{BB962C8B-B14F-4D97-AF65-F5344CB8AC3E}">
        <p14:creationId xmlns:p14="http://schemas.microsoft.com/office/powerpoint/2010/main" val="3396645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9E30B4-22BB-4E94-9CB1-CF87702A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 -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130CC6-4864-5345-856A-581CC8609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Jednotkové testy(Unit testy)</a:t>
            </a:r>
            <a:r>
              <a:rPr lang="cs-CZ" dirty="0"/>
              <a:t> – obvykle testují univerzální knihovny, třídy, metody</a:t>
            </a:r>
          </a:p>
          <a:p>
            <a:r>
              <a:rPr lang="cs-CZ" u="sng" dirty="0"/>
              <a:t>Akceptační testy</a:t>
            </a:r>
            <a:r>
              <a:rPr lang="cs-CZ" dirty="0"/>
              <a:t> – netestují kód, ale přímo funkčnost aplikace jakou vidí uživatel</a:t>
            </a:r>
          </a:p>
          <a:p>
            <a:r>
              <a:rPr lang="cs-CZ" u="sng" dirty="0"/>
              <a:t>Integrační testy</a:t>
            </a:r>
            <a:r>
              <a:rPr lang="cs-CZ" dirty="0"/>
              <a:t> – kontrolují, jestli spolu každý soubor správně komunikuje </a:t>
            </a:r>
          </a:p>
          <a:p>
            <a:r>
              <a:rPr lang="cs-CZ" u="sng" dirty="0"/>
              <a:t>Systémové testy</a:t>
            </a:r>
            <a:r>
              <a:rPr lang="cs-CZ" dirty="0"/>
              <a:t> – zátěžové testy, simulace velkého množství uživatelů v jeden moment</a:t>
            </a:r>
          </a:p>
        </p:txBody>
      </p:sp>
    </p:spTree>
    <p:extLst>
      <p:ext uri="{BB962C8B-B14F-4D97-AF65-F5344CB8AC3E}">
        <p14:creationId xmlns:p14="http://schemas.microsoft.com/office/powerpoint/2010/main" val="176375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4ECE00-C7BF-1E08-8BF0-C502C0D5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20A6C4-9950-F337-B479-D9AE9EB2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http://www.ivt.mzf.cz/algoritmizace-a-programovani/uvod-do-algoritmu/1-uvod-algoritmus/</a:t>
            </a:r>
            <a:endParaRPr lang="cs-CZ" dirty="0"/>
          </a:p>
          <a:p>
            <a:r>
              <a:rPr lang="cs-CZ" dirty="0">
                <a:hlinkClick r:id="rId3"/>
              </a:rPr>
              <a:t>Algoritmus – Wikipedie (wikipedia.org)</a:t>
            </a:r>
            <a:endParaRPr lang="cs-CZ" dirty="0"/>
          </a:p>
          <a:p>
            <a:r>
              <a:rPr lang="cs-CZ" dirty="0">
                <a:hlinkClick r:id="rId4"/>
              </a:rPr>
              <a:t>https://www.itnetwork.cz/java/testovani/uvod-do-testovani-softwaru-v-jave</a:t>
            </a:r>
            <a:endParaRPr lang="cs-CZ" dirty="0"/>
          </a:p>
          <a:p>
            <a:r>
              <a:rPr lang="cs-CZ" dirty="0"/>
              <a:t>Mgr. Ladislav Kašpárek</a:t>
            </a:r>
          </a:p>
        </p:txBody>
      </p:sp>
    </p:spTree>
    <p:extLst>
      <p:ext uri="{BB962C8B-B14F-4D97-AF65-F5344CB8AC3E}">
        <p14:creationId xmlns:p14="http://schemas.microsoft.com/office/powerpoint/2010/main" val="767634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ty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1F3B38-E667-4855-AF72-5116B0D2F8E8}"/>
</file>

<file path=customXml/itemProps2.xml><?xml version="1.0" encoding="utf-8"?>
<ds:datastoreItem xmlns:ds="http://schemas.openxmlformats.org/officeDocument/2006/customXml" ds:itemID="{A0A5BE65-AAD6-416C-9841-C8381A6160CC}"/>
</file>

<file path=customXml/itemProps3.xml><?xml version="1.0" encoding="utf-8"?>
<ds:datastoreItem xmlns:ds="http://schemas.openxmlformats.org/officeDocument/2006/customXml" ds:itemID="{6D2D843E-6035-4C81-8E17-F919A5C42107}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TM03457503[[fn=Citáty]]</Template>
  <TotalTime>65</TotalTime>
  <Words>319</Words>
  <Application>Microsoft Office PowerPoint</Application>
  <PresentationFormat>Širokoúhlá obrazovka</PresentationFormat>
  <Paragraphs>46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5" baseType="lpstr">
      <vt:lpstr>Century Gothic</vt:lpstr>
      <vt:lpstr>Wingdings 2</vt:lpstr>
      <vt:lpstr>Citáty</vt:lpstr>
      <vt:lpstr>Algoritmus, Přístupy k vývoji SW, Testování</vt:lpstr>
      <vt:lpstr>Algoritmus</vt:lpstr>
      <vt:lpstr>Algoritmus</vt:lpstr>
      <vt:lpstr>Algoritmus - typy</vt:lpstr>
      <vt:lpstr>Algoritmus - složitost</vt:lpstr>
      <vt:lpstr>Přístupy k vývoji SW</vt:lpstr>
      <vt:lpstr>Přístupy k vývoji SW – schéma vodopád</vt:lpstr>
      <vt:lpstr>Testování</vt:lpstr>
      <vt:lpstr>Testování</vt:lpstr>
      <vt:lpstr>Testování</vt:lpstr>
      <vt:lpstr>Testování - typy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Algoritmus, Přístupy k vývoji SW, Testování</dc:title>
  <dc:creator>Vochyán Marek</dc:creator>
  <cp:lastModifiedBy>Vochyán Marek</cp:lastModifiedBy>
  <cp:revision>4</cp:revision>
  <dcterms:created xsi:type="dcterms:W3CDTF">2023-03-09T13:39:46Z</dcterms:created>
  <dcterms:modified xsi:type="dcterms:W3CDTF">2023-03-09T14:45:09Z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