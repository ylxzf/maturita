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82" r:id="rId7"/>
    <p:sldId id="283" r:id="rId8"/>
    <p:sldId id="257" r:id="rId9"/>
    <p:sldId id="259" r:id="rId10"/>
    <p:sldId id="273" r:id="rId11"/>
    <p:sldId id="274" r:id="rId12"/>
    <p:sldId id="275" r:id="rId13"/>
    <p:sldId id="276" r:id="rId14"/>
    <p:sldId id="258" r:id="rId15"/>
    <p:sldId id="260" r:id="rId16"/>
    <p:sldId id="261" r:id="rId17"/>
    <p:sldId id="272" r:id="rId18"/>
    <p:sldId id="262" r:id="rId19"/>
    <p:sldId id="277" r:id="rId20"/>
    <p:sldId id="263" r:id="rId21"/>
    <p:sldId id="278" r:id="rId22"/>
    <p:sldId id="280" r:id="rId23"/>
    <p:sldId id="281" r:id="rId24"/>
    <p:sldId id="268" r:id="rId25"/>
    <p:sldId id="269" r:id="rId26"/>
    <p:sldId id="270" r:id="rId27"/>
    <p:sldId id="284" r:id="rId28"/>
    <p:sldId id="265" r:id="rId29"/>
    <p:sldId id="264" r:id="rId30"/>
    <p:sldId id="266" r:id="rId3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C314BD-A3F3-56B3-5DC6-E44251F98F2B}" v="9" dt="2025-04-07T19:02:52.16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Střední sty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ovský David" userId="S::l20210053@prumyslovkajihlava.cz::fdcea3c1-835f-46ff-a18e-ab683849858e" providerId="AD" clId="Web-{FBC314BD-A3F3-56B3-5DC6-E44251F98F2B}"/>
    <pc:docChg chg="modSld">
      <pc:chgData name="Petrovský David" userId="S::l20210053@prumyslovkajihlava.cz::fdcea3c1-835f-46ff-a18e-ab683849858e" providerId="AD" clId="Web-{FBC314BD-A3F3-56B3-5DC6-E44251F98F2B}" dt="2025-04-07T19:02:49.948" v="9" actId="20577"/>
      <pc:docMkLst>
        <pc:docMk/>
      </pc:docMkLst>
      <pc:sldChg chg="modSp">
        <pc:chgData name="Petrovský David" userId="S::l20210053@prumyslovkajihlava.cz::fdcea3c1-835f-46ff-a18e-ab683849858e" providerId="AD" clId="Web-{FBC314BD-A3F3-56B3-5DC6-E44251F98F2B}" dt="2025-04-07T19:02:49.948" v="9" actId="20577"/>
        <pc:sldMkLst>
          <pc:docMk/>
          <pc:sldMk cId="1955571431" sldId="274"/>
        </pc:sldMkLst>
        <pc:spChg chg="mod">
          <ac:chgData name="Petrovský David" userId="S::l20210053@prumyslovkajihlava.cz::fdcea3c1-835f-46ff-a18e-ab683849858e" providerId="AD" clId="Web-{FBC314BD-A3F3-56B3-5DC6-E44251F98F2B}" dt="2025-04-07T19:02:49.948" v="9" actId="20577"/>
          <ac:spMkLst>
            <pc:docMk/>
            <pc:sldMk cId="1955571431" sldId="274"/>
            <ac:spMk id="2" creationId="{B0F710F5-898F-6C94-3B51-FA403561A94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BEF6F8-5D16-4007-A7FA-1DA7AB708009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21080B4-9747-49ED-9F29-F12351268A96}">
      <dgm:prSet/>
      <dgm:spPr/>
      <dgm:t>
        <a:bodyPr/>
        <a:lstStyle/>
        <a:p>
          <a:r>
            <a:rPr lang="cs-CZ"/>
            <a:t>Je nezávislý na vlastní implementaci</a:t>
          </a:r>
          <a:endParaRPr lang="en-US"/>
        </a:p>
      </dgm:t>
    </dgm:pt>
    <dgm:pt modelId="{B84D453C-4DBE-4D91-88E0-CB194C47DEC5}" type="parTrans" cxnId="{92008ED0-767A-4E9A-8284-3370EB82FC43}">
      <dgm:prSet/>
      <dgm:spPr/>
      <dgm:t>
        <a:bodyPr/>
        <a:lstStyle/>
        <a:p>
          <a:endParaRPr lang="en-US"/>
        </a:p>
      </dgm:t>
    </dgm:pt>
    <dgm:pt modelId="{08C7EF02-C6B8-42D2-9836-8AB8265B9522}" type="sibTrans" cxnId="{92008ED0-767A-4E9A-8284-3370EB82FC43}">
      <dgm:prSet/>
      <dgm:spPr/>
      <dgm:t>
        <a:bodyPr/>
        <a:lstStyle/>
        <a:p>
          <a:endParaRPr lang="en-US"/>
        </a:p>
      </dgm:t>
    </dgm:pt>
    <dgm:pt modelId="{88B21379-5566-4927-8712-EB3E7966CCCB}">
      <dgm:prSet/>
      <dgm:spPr/>
      <dgm:t>
        <a:bodyPr/>
        <a:lstStyle/>
        <a:p>
          <a:r>
            <a:rPr lang="cs-CZ"/>
            <a:t>Jeho hlavním cílem je </a:t>
          </a:r>
          <a:r>
            <a:rPr lang="cs-CZ" b="1"/>
            <a:t>zjednodušit program</a:t>
          </a:r>
          <a:r>
            <a:rPr lang="cs-CZ"/>
            <a:t>, který provádí operace s daným datovým typem</a:t>
          </a:r>
          <a:endParaRPr lang="en-US"/>
        </a:p>
      </dgm:t>
    </dgm:pt>
    <dgm:pt modelId="{B1C9BC4B-7DF9-4AE9-BE94-4BB6109AE401}" type="parTrans" cxnId="{70558F1E-6638-4953-AFA1-510BD9295F9B}">
      <dgm:prSet/>
      <dgm:spPr/>
      <dgm:t>
        <a:bodyPr/>
        <a:lstStyle/>
        <a:p>
          <a:endParaRPr lang="en-US"/>
        </a:p>
      </dgm:t>
    </dgm:pt>
    <dgm:pt modelId="{776C6858-A822-4B63-BD5C-A7B62E84D419}" type="sibTrans" cxnId="{70558F1E-6638-4953-AFA1-510BD9295F9B}">
      <dgm:prSet/>
      <dgm:spPr/>
      <dgm:t>
        <a:bodyPr/>
        <a:lstStyle/>
        <a:p>
          <a:endParaRPr lang="en-US"/>
        </a:p>
      </dgm:t>
    </dgm:pt>
    <dgm:pt modelId="{7F39A1D8-4762-4207-ACA7-C10BA9608B15}">
      <dgm:prSet/>
      <dgm:spPr/>
      <dgm:t>
        <a:bodyPr/>
        <a:lstStyle/>
        <a:p>
          <a:r>
            <a:rPr lang="cs-CZ"/>
            <a:t>Při programování je ADT reprezentováno rozhraním (zajímá nás jak objekt používat (jeho rozhraní), “ale ne už vlastní implementace“)</a:t>
          </a:r>
          <a:endParaRPr lang="en-US"/>
        </a:p>
      </dgm:t>
    </dgm:pt>
    <dgm:pt modelId="{F6549A62-2358-4121-9C20-0E043A980BA2}" type="parTrans" cxnId="{4A923EB8-B526-48B6-9A33-F18A2C0B3BE6}">
      <dgm:prSet/>
      <dgm:spPr/>
      <dgm:t>
        <a:bodyPr/>
        <a:lstStyle/>
        <a:p>
          <a:endParaRPr lang="en-US"/>
        </a:p>
      </dgm:t>
    </dgm:pt>
    <dgm:pt modelId="{EB8F3B79-0B4E-40FB-A2C0-5AED35421F10}" type="sibTrans" cxnId="{4A923EB8-B526-48B6-9A33-F18A2C0B3BE6}">
      <dgm:prSet/>
      <dgm:spPr/>
      <dgm:t>
        <a:bodyPr/>
        <a:lstStyle/>
        <a:p>
          <a:endParaRPr lang="en-US"/>
        </a:p>
      </dgm:t>
    </dgm:pt>
    <dgm:pt modelId="{B644599B-EAF3-4864-ABC4-DCF14A406D45}" type="pres">
      <dgm:prSet presAssocID="{EFBEF6F8-5D16-4007-A7FA-1DA7AB708009}" presName="vert0" presStyleCnt="0">
        <dgm:presLayoutVars>
          <dgm:dir/>
          <dgm:animOne val="branch"/>
          <dgm:animLvl val="lvl"/>
        </dgm:presLayoutVars>
      </dgm:prSet>
      <dgm:spPr/>
    </dgm:pt>
    <dgm:pt modelId="{6636492B-64F6-4131-85B8-1F72637FE809}" type="pres">
      <dgm:prSet presAssocID="{C21080B4-9747-49ED-9F29-F12351268A96}" presName="thickLine" presStyleLbl="alignNode1" presStyleIdx="0" presStyleCnt="3"/>
      <dgm:spPr/>
    </dgm:pt>
    <dgm:pt modelId="{75E0C6CE-96DC-47B8-B752-344DDA5C7018}" type="pres">
      <dgm:prSet presAssocID="{C21080B4-9747-49ED-9F29-F12351268A96}" presName="horz1" presStyleCnt="0"/>
      <dgm:spPr/>
    </dgm:pt>
    <dgm:pt modelId="{9F74FC87-7FEA-49F0-BA8A-764F946E204F}" type="pres">
      <dgm:prSet presAssocID="{C21080B4-9747-49ED-9F29-F12351268A96}" presName="tx1" presStyleLbl="revTx" presStyleIdx="0" presStyleCnt="3"/>
      <dgm:spPr/>
    </dgm:pt>
    <dgm:pt modelId="{268958F5-8A5C-43FC-8D16-DAA46267EE74}" type="pres">
      <dgm:prSet presAssocID="{C21080B4-9747-49ED-9F29-F12351268A96}" presName="vert1" presStyleCnt="0"/>
      <dgm:spPr/>
    </dgm:pt>
    <dgm:pt modelId="{1589D92D-CF03-4BC1-B117-8931B5C30537}" type="pres">
      <dgm:prSet presAssocID="{88B21379-5566-4927-8712-EB3E7966CCCB}" presName="thickLine" presStyleLbl="alignNode1" presStyleIdx="1" presStyleCnt="3"/>
      <dgm:spPr/>
    </dgm:pt>
    <dgm:pt modelId="{15F918A9-4B1D-40CB-972A-DDC462F83971}" type="pres">
      <dgm:prSet presAssocID="{88B21379-5566-4927-8712-EB3E7966CCCB}" presName="horz1" presStyleCnt="0"/>
      <dgm:spPr/>
    </dgm:pt>
    <dgm:pt modelId="{C1C7EB4C-39E0-4365-9203-C7F32EF8EE9E}" type="pres">
      <dgm:prSet presAssocID="{88B21379-5566-4927-8712-EB3E7966CCCB}" presName="tx1" presStyleLbl="revTx" presStyleIdx="1" presStyleCnt="3"/>
      <dgm:spPr/>
    </dgm:pt>
    <dgm:pt modelId="{03D50DBC-9698-4A8F-BB0C-CC9A676085D1}" type="pres">
      <dgm:prSet presAssocID="{88B21379-5566-4927-8712-EB3E7966CCCB}" presName="vert1" presStyleCnt="0"/>
      <dgm:spPr/>
    </dgm:pt>
    <dgm:pt modelId="{8217BFDA-BD2D-4759-A407-89B6753DD09D}" type="pres">
      <dgm:prSet presAssocID="{7F39A1D8-4762-4207-ACA7-C10BA9608B15}" presName="thickLine" presStyleLbl="alignNode1" presStyleIdx="2" presStyleCnt="3"/>
      <dgm:spPr/>
    </dgm:pt>
    <dgm:pt modelId="{2500253F-77D5-40D0-AAD5-463D248EA493}" type="pres">
      <dgm:prSet presAssocID="{7F39A1D8-4762-4207-ACA7-C10BA9608B15}" presName="horz1" presStyleCnt="0"/>
      <dgm:spPr/>
    </dgm:pt>
    <dgm:pt modelId="{DDD15547-C4A6-4E79-A9C8-8E3FF1478D3F}" type="pres">
      <dgm:prSet presAssocID="{7F39A1D8-4762-4207-ACA7-C10BA9608B15}" presName="tx1" presStyleLbl="revTx" presStyleIdx="2" presStyleCnt="3"/>
      <dgm:spPr/>
    </dgm:pt>
    <dgm:pt modelId="{E13ECD14-4432-41DC-88D5-9818103696CF}" type="pres">
      <dgm:prSet presAssocID="{7F39A1D8-4762-4207-ACA7-C10BA9608B15}" presName="vert1" presStyleCnt="0"/>
      <dgm:spPr/>
    </dgm:pt>
  </dgm:ptLst>
  <dgm:cxnLst>
    <dgm:cxn modelId="{F4C6F306-B1CB-4029-BD7E-8A6CEA437EB7}" type="presOf" srcId="{EFBEF6F8-5D16-4007-A7FA-1DA7AB708009}" destId="{B644599B-EAF3-4864-ABC4-DCF14A406D45}" srcOrd="0" destOrd="0" presId="urn:microsoft.com/office/officeart/2008/layout/LinedList"/>
    <dgm:cxn modelId="{70558F1E-6638-4953-AFA1-510BD9295F9B}" srcId="{EFBEF6F8-5D16-4007-A7FA-1DA7AB708009}" destId="{88B21379-5566-4927-8712-EB3E7966CCCB}" srcOrd="1" destOrd="0" parTransId="{B1C9BC4B-7DF9-4AE9-BE94-4BB6109AE401}" sibTransId="{776C6858-A822-4B63-BD5C-A7B62E84D419}"/>
    <dgm:cxn modelId="{22F7E230-0A70-4E8E-B467-3B9AC7BFFC13}" type="presOf" srcId="{88B21379-5566-4927-8712-EB3E7966CCCB}" destId="{C1C7EB4C-39E0-4365-9203-C7F32EF8EE9E}" srcOrd="0" destOrd="0" presId="urn:microsoft.com/office/officeart/2008/layout/LinedList"/>
    <dgm:cxn modelId="{A6FAA15D-D890-40A1-B709-BF2DF4902EEE}" type="presOf" srcId="{C21080B4-9747-49ED-9F29-F12351268A96}" destId="{9F74FC87-7FEA-49F0-BA8A-764F946E204F}" srcOrd="0" destOrd="0" presId="urn:microsoft.com/office/officeart/2008/layout/LinedList"/>
    <dgm:cxn modelId="{38A17E53-B586-44EE-8259-2D3A029DEC6B}" type="presOf" srcId="{7F39A1D8-4762-4207-ACA7-C10BA9608B15}" destId="{DDD15547-C4A6-4E79-A9C8-8E3FF1478D3F}" srcOrd="0" destOrd="0" presId="urn:microsoft.com/office/officeart/2008/layout/LinedList"/>
    <dgm:cxn modelId="{4A923EB8-B526-48B6-9A33-F18A2C0B3BE6}" srcId="{EFBEF6F8-5D16-4007-A7FA-1DA7AB708009}" destId="{7F39A1D8-4762-4207-ACA7-C10BA9608B15}" srcOrd="2" destOrd="0" parTransId="{F6549A62-2358-4121-9C20-0E043A980BA2}" sibTransId="{EB8F3B79-0B4E-40FB-A2C0-5AED35421F10}"/>
    <dgm:cxn modelId="{92008ED0-767A-4E9A-8284-3370EB82FC43}" srcId="{EFBEF6F8-5D16-4007-A7FA-1DA7AB708009}" destId="{C21080B4-9747-49ED-9F29-F12351268A96}" srcOrd="0" destOrd="0" parTransId="{B84D453C-4DBE-4D91-88E0-CB194C47DEC5}" sibTransId="{08C7EF02-C6B8-42D2-9836-8AB8265B9522}"/>
    <dgm:cxn modelId="{B20739E7-0E96-4D9A-9BF8-CB564DB802A8}" type="presParOf" srcId="{B644599B-EAF3-4864-ABC4-DCF14A406D45}" destId="{6636492B-64F6-4131-85B8-1F72637FE809}" srcOrd="0" destOrd="0" presId="urn:microsoft.com/office/officeart/2008/layout/LinedList"/>
    <dgm:cxn modelId="{72976419-29A2-4E29-93B6-27E5256EC519}" type="presParOf" srcId="{B644599B-EAF3-4864-ABC4-DCF14A406D45}" destId="{75E0C6CE-96DC-47B8-B752-344DDA5C7018}" srcOrd="1" destOrd="0" presId="urn:microsoft.com/office/officeart/2008/layout/LinedList"/>
    <dgm:cxn modelId="{6AEAD6FA-A415-40BF-AB3D-7EBEB6219C0D}" type="presParOf" srcId="{75E0C6CE-96DC-47B8-B752-344DDA5C7018}" destId="{9F74FC87-7FEA-49F0-BA8A-764F946E204F}" srcOrd="0" destOrd="0" presId="urn:microsoft.com/office/officeart/2008/layout/LinedList"/>
    <dgm:cxn modelId="{C1970F39-A83D-4189-ABC7-C4B4D9439230}" type="presParOf" srcId="{75E0C6CE-96DC-47B8-B752-344DDA5C7018}" destId="{268958F5-8A5C-43FC-8D16-DAA46267EE74}" srcOrd="1" destOrd="0" presId="urn:microsoft.com/office/officeart/2008/layout/LinedList"/>
    <dgm:cxn modelId="{26A86747-8B27-4188-92E4-25BC09CA9A34}" type="presParOf" srcId="{B644599B-EAF3-4864-ABC4-DCF14A406D45}" destId="{1589D92D-CF03-4BC1-B117-8931B5C30537}" srcOrd="2" destOrd="0" presId="urn:microsoft.com/office/officeart/2008/layout/LinedList"/>
    <dgm:cxn modelId="{1940D655-A6EB-49DF-B602-0D2BDC245F79}" type="presParOf" srcId="{B644599B-EAF3-4864-ABC4-DCF14A406D45}" destId="{15F918A9-4B1D-40CB-972A-DDC462F83971}" srcOrd="3" destOrd="0" presId="urn:microsoft.com/office/officeart/2008/layout/LinedList"/>
    <dgm:cxn modelId="{30F2CBD7-43DE-4682-8AE3-F23729E968F5}" type="presParOf" srcId="{15F918A9-4B1D-40CB-972A-DDC462F83971}" destId="{C1C7EB4C-39E0-4365-9203-C7F32EF8EE9E}" srcOrd="0" destOrd="0" presId="urn:microsoft.com/office/officeart/2008/layout/LinedList"/>
    <dgm:cxn modelId="{A8CF3E66-5DED-4717-ACE9-B81D5D94F54E}" type="presParOf" srcId="{15F918A9-4B1D-40CB-972A-DDC462F83971}" destId="{03D50DBC-9698-4A8F-BB0C-CC9A676085D1}" srcOrd="1" destOrd="0" presId="urn:microsoft.com/office/officeart/2008/layout/LinedList"/>
    <dgm:cxn modelId="{0F27608C-6203-43F9-BCA0-54D2FBE1205D}" type="presParOf" srcId="{B644599B-EAF3-4864-ABC4-DCF14A406D45}" destId="{8217BFDA-BD2D-4759-A407-89B6753DD09D}" srcOrd="4" destOrd="0" presId="urn:microsoft.com/office/officeart/2008/layout/LinedList"/>
    <dgm:cxn modelId="{1BE4D8FF-BFED-4E90-99BC-2C1BA03F06CF}" type="presParOf" srcId="{B644599B-EAF3-4864-ABC4-DCF14A406D45}" destId="{2500253F-77D5-40D0-AAD5-463D248EA493}" srcOrd="5" destOrd="0" presId="urn:microsoft.com/office/officeart/2008/layout/LinedList"/>
    <dgm:cxn modelId="{85323DCD-C0AC-4C12-9008-1FAF28C3520D}" type="presParOf" srcId="{2500253F-77D5-40D0-AAD5-463D248EA493}" destId="{DDD15547-C4A6-4E79-A9C8-8E3FF1478D3F}" srcOrd="0" destOrd="0" presId="urn:microsoft.com/office/officeart/2008/layout/LinedList"/>
    <dgm:cxn modelId="{2156DEEA-63D8-459B-B46C-3ED386C7068E}" type="presParOf" srcId="{2500253F-77D5-40D0-AAD5-463D248EA493}" destId="{E13ECD14-4432-41DC-88D5-9818103696C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6492B-64F6-4131-85B8-1F72637FE809}">
      <dsp:nvSpPr>
        <dsp:cNvPr id="0" name=""/>
        <dsp:cNvSpPr/>
      </dsp:nvSpPr>
      <dsp:spPr>
        <a:xfrm>
          <a:off x="0" y="2011"/>
          <a:ext cx="67135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74FC87-7FEA-49F0-BA8A-764F946E204F}">
      <dsp:nvSpPr>
        <dsp:cNvPr id="0" name=""/>
        <dsp:cNvSpPr/>
      </dsp:nvSpPr>
      <dsp:spPr>
        <a:xfrm>
          <a:off x="0" y="2011"/>
          <a:ext cx="6713552" cy="1371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Je nezávislý na vlastní implementaci</a:t>
          </a:r>
          <a:endParaRPr lang="en-US" sz="2500" kern="1200"/>
        </a:p>
      </dsp:txBody>
      <dsp:txXfrm>
        <a:off x="0" y="2011"/>
        <a:ext cx="6713552" cy="1371716"/>
      </dsp:txXfrm>
    </dsp:sp>
    <dsp:sp modelId="{1589D92D-CF03-4BC1-B117-8931B5C30537}">
      <dsp:nvSpPr>
        <dsp:cNvPr id="0" name=""/>
        <dsp:cNvSpPr/>
      </dsp:nvSpPr>
      <dsp:spPr>
        <a:xfrm>
          <a:off x="0" y="1373727"/>
          <a:ext cx="671355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C7EB4C-39E0-4365-9203-C7F32EF8EE9E}">
      <dsp:nvSpPr>
        <dsp:cNvPr id="0" name=""/>
        <dsp:cNvSpPr/>
      </dsp:nvSpPr>
      <dsp:spPr>
        <a:xfrm>
          <a:off x="0" y="1373727"/>
          <a:ext cx="6713552" cy="1371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Jeho hlavním cílem je </a:t>
          </a:r>
          <a:r>
            <a:rPr lang="cs-CZ" sz="2500" b="1" kern="1200"/>
            <a:t>zjednodušit program</a:t>
          </a:r>
          <a:r>
            <a:rPr lang="cs-CZ" sz="2500" kern="1200"/>
            <a:t>, který provádí operace s daným datovým typem</a:t>
          </a:r>
          <a:endParaRPr lang="en-US" sz="2500" kern="1200"/>
        </a:p>
      </dsp:txBody>
      <dsp:txXfrm>
        <a:off x="0" y="1373727"/>
        <a:ext cx="6713552" cy="1371716"/>
      </dsp:txXfrm>
    </dsp:sp>
    <dsp:sp modelId="{8217BFDA-BD2D-4759-A407-89B6753DD09D}">
      <dsp:nvSpPr>
        <dsp:cNvPr id="0" name=""/>
        <dsp:cNvSpPr/>
      </dsp:nvSpPr>
      <dsp:spPr>
        <a:xfrm>
          <a:off x="0" y="2745444"/>
          <a:ext cx="671355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D15547-C4A6-4E79-A9C8-8E3FF1478D3F}">
      <dsp:nvSpPr>
        <dsp:cNvPr id="0" name=""/>
        <dsp:cNvSpPr/>
      </dsp:nvSpPr>
      <dsp:spPr>
        <a:xfrm>
          <a:off x="0" y="2745444"/>
          <a:ext cx="6713552" cy="1371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Při programování je ADT reprezentováno rozhraním (zajímá nás jak objekt používat (jeho rozhraní), “ale ne už vlastní implementace“)</a:t>
          </a:r>
          <a:endParaRPr lang="en-US" sz="2500" kern="1200"/>
        </a:p>
      </dsp:txBody>
      <dsp:txXfrm>
        <a:off x="0" y="2745444"/>
        <a:ext cx="6713552" cy="1371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5CBE73-203B-D3A0-D09A-56E7740A3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A0E8651-81F4-05B3-013E-0157EE3E1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26EE14-1316-D61E-D783-4399C7F10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652A20-1141-4BB5-623A-64D970F2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1BA2789-5EA7-6DE5-3471-4531C6B2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415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C44CB2-AAAF-EA0B-74CA-68DDDAF9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9064D0-58D1-A7FC-C0E4-19918C439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BAF5FF-3B4C-8F55-9984-CAECA6EA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4DE6DBF-8295-3C45-847A-87F9BEFE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405A0DA-818E-FD21-3D9F-0653AD96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950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67D018-F4F0-8B9E-B637-A449D15B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B9C0528-F999-A7F9-08B1-C35B233D8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7A3CEF1-4423-F405-B30B-D0FD0BCE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045752-5C4B-DD54-45CD-C24E45A4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3533687-9582-D341-2EBC-AEC714F7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111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1F8F19-3E23-1757-A548-BD1A78BC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3EBE63-C1C5-005B-193D-4C759635B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DF41DCA-C7DE-7CC4-244C-4145746E4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9DC32F5-124D-51A4-69D9-0B4D9B35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891A628-8224-3580-754D-61FDC807A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82AA130-CF29-7978-0E73-CA084826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084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D7FBA1-1AAB-05C7-C84C-518256C8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8F456F-D5F4-7C5A-E8C6-C59B5311A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B8133C7-AF66-80D1-BA57-10FF4838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B6CDAA6-DD2F-E3B5-F35F-DAA3DCD8C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A522714-C5FA-ACEE-C504-F86825D77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C9639F2-AE19-4942-5713-B1E81182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34A3E58-5FD9-EF7C-DB8C-6F4C756A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36278A2-B88D-1F80-FAF0-65B235C3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662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045D80-A52B-C5E3-EC57-3CAC3A89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4E2527A-C246-BF70-C915-1EB82615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B46AFB5-113E-EB8E-C520-DCE77E4C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D5D1DD4-A415-3E7A-7475-9AE873A9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329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A8526EA-A558-475A-84F7-68672E799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371C0F5-84A6-F770-3347-CBC9931E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71495A2-81EF-0B70-2023-9F8E2C4A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711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0C7000-2939-7A2F-E2A0-F89EAAE5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D7D938-BFE9-86FE-8E47-26210FC41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5504B1C-A014-20F9-361C-22DD5B984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F7C30BA-441E-D4A0-9BEA-C0ED483B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B647696-F044-3720-B18D-DBF98309A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DB6F158-A259-769D-6B93-B993BF10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957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2C05C4-C015-0D00-4023-2CAECE74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FF6D4E1-9A77-77CD-A66F-16024CF48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AC41C08-5F3E-0A24-766C-040E0D15B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8E8369E-2EF9-BC45-5374-61B1982C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24F71E3-F8AC-D31A-B136-652C0981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332D519-188C-EC48-C289-B9BBED1F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045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5D6F85-E8D4-3B03-1B5F-D9DE4018F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F559609-628F-7E13-57ED-98500444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8F24218-AA44-7B30-9B8C-439E3627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BF87F8-C6B9-7C1F-9C31-728A84F1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6AB381-65D5-2680-258D-57ADAB26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779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4708E32-4051-029D-4882-8AB47808A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E509AD9-C638-6CBF-C8D4-9E110FAA5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EAED1D9-95AD-3675-96EA-1475DE4E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3DCF9D-9679-8C42-D13C-259391D8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A35E7C1-6BF3-C96F-1288-8966978E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8425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693E5EB-5677-0373-4EE8-278E6B978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E243CCA-0E86-EDBF-C34C-E993AF52F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6584A2E-0548-823E-A9F0-5B46B4160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BFE6B-324F-4904-B357-4EBBAB091DCF}" type="datetimeFigureOut">
              <a:rPr lang="cs-CZ" smtClean="0"/>
              <a:t>07.04.2025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F7DCA1-3009-308A-8D2D-393E886E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5083898-5A22-F451-9BE2-FBD73265A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9C854-BA69-4053-9890-DC8D317EAD1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409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1A6684-AE26-AF36-D999-E21D51DA0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cs-CZ" sz="6600" b="1"/>
              <a:t>Abstraktní datové typy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0DBD05F-8BE0-ACDB-0A3B-5C1F158A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cs-CZ"/>
              <a:t>Matyáš Pavlík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96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770538-E219-7893-A590-8B8D287C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cs-CZ" sz="5400" b="1"/>
              <a:t>Abstraktní datový typ</a:t>
            </a:r>
            <a:endParaRPr lang="cs-CZ" sz="5400"/>
          </a:p>
        </p:txBody>
      </p:sp>
      <p:sp>
        <p:nvSpPr>
          <p:cNvPr id="4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Zástupný obsah 2">
            <a:extLst>
              <a:ext uri="{FF2B5EF4-FFF2-40B4-BE49-F238E27FC236}">
                <a16:creationId xmlns:a16="http://schemas.microsoft.com/office/drawing/2014/main" id="{B52C359C-DC9F-E00C-4824-948E83AAD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354107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822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BAA83BF-551F-7AE8-A165-6B480A88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cs-CZ" sz="4200" b="1"/>
              <a:t>Implementace je obvykle realizována jako: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D3D239-FE33-7812-23BC-7D5AA61A7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200" b="1"/>
              <a:t>Dynamické pole</a:t>
            </a:r>
            <a:endParaRPr lang="cs-CZ" sz="2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/>
              <a:t>postaveno na statickém poli pevné velikosti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/>
              <a:t>při vkládání kontrolujeme velikost a vnitřního pole a případně ho zvětšíme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/>
              <a:t>v konstruktoru obvykle předáváme počáteční velikost vnitřního pole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/>
              <a:t>díky vnitřnímu poli umožňuje rychlejší vyhledávání prvku dle indexu (je možné realizovat binární vyhledávání)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b="1"/>
              <a:t>Spojový seznam</a:t>
            </a:r>
            <a:endParaRPr lang="cs-CZ" sz="2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/>
              <a:t>jednotlivé prvky jsou reprezentovány vždy jako uzly, které mají odkaz na svého následníka (případně i předchůdce)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/>
              <a:t>uzly je nutné při vyhledávání procházet postupně (pouze lineární vyhledávání)</a:t>
            </a:r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321867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6F0147-F624-690E-BD3F-24C191C9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cs-CZ" sz="5400" b="1"/>
              <a:t>Spojový seznam</a:t>
            </a:r>
            <a:endParaRPr lang="cs-CZ" sz="5400"/>
          </a:p>
        </p:txBody>
      </p:sp>
      <p:pic>
        <p:nvPicPr>
          <p:cNvPr id="17" name="Obrázek 16" descr="Obsah obrázku řada/pruh, diagram, žlutá, Obdélník&#10;&#10;Obsah vygenerovaný umělou inteligencí může být nesprávný.">
            <a:extLst>
              <a:ext uri="{FF2B5EF4-FFF2-40B4-BE49-F238E27FC236}">
                <a16:creationId xmlns:a16="http://schemas.microsoft.com/office/drawing/2014/main" id="{050284F8-096B-C63D-635C-4B642A1E1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30" y="940380"/>
            <a:ext cx="4768615" cy="720202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533A3A-05D2-6865-928D-531D3DF8E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/>
          </a:bodyPr>
          <a:lstStyle/>
          <a:p>
            <a:r>
              <a:rPr lang="cs-CZ" sz="2200"/>
              <a:t>Spojové seznamy (</a:t>
            </a:r>
            <a:r>
              <a:rPr lang="cs-CZ" sz="2200" err="1"/>
              <a:t>linked</a:t>
            </a:r>
            <a:r>
              <a:rPr lang="cs-CZ" sz="2200"/>
              <a:t> list) mohou existovat </a:t>
            </a:r>
            <a:r>
              <a:rPr lang="cs-CZ" sz="2200" b="1"/>
              <a:t>jednosměrné</a:t>
            </a:r>
            <a:r>
              <a:rPr lang="cs-CZ" sz="2200"/>
              <a:t> a </a:t>
            </a:r>
            <a:r>
              <a:rPr lang="cs-CZ" sz="2200" b="1"/>
              <a:t>obousměrné</a:t>
            </a:r>
          </a:p>
          <a:p>
            <a:r>
              <a:rPr lang="cs-CZ" sz="2200"/>
              <a:t>Pokud vytvoříme cyklus tak, že konec seznamu navážeme na jeho počátek, jedná se o </a:t>
            </a:r>
            <a:r>
              <a:rPr lang="cs-CZ" sz="2200" b="1"/>
              <a:t>kruhový seznam</a:t>
            </a:r>
          </a:p>
          <a:p>
            <a:endParaRPr lang="cs-CZ" sz="2200"/>
          </a:p>
        </p:txBody>
      </p:sp>
      <p:pic>
        <p:nvPicPr>
          <p:cNvPr id="13" name="Obrázek 12" descr="Obsah obrázku diagram, řada/pruh, Obdélník, Plán&#10;&#10;Obsah vygenerovaný umělou inteligencí může být nesprávný.">
            <a:extLst>
              <a:ext uri="{FF2B5EF4-FFF2-40B4-BE49-F238E27FC236}">
                <a16:creationId xmlns:a16="http://schemas.microsoft.com/office/drawing/2014/main" id="{502D7B69-2375-47B0-EC39-A6EBC5D5E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30" y="4020719"/>
            <a:ext cx="4846697" cy="1952698"/>
          </a:xfrm>
          <a:prstGeom prst="rect">
            <a:avLst/>
          </a:prstGeom>
        </p:spPr>
      </p:pic>
      <p:pic>
        <p:nvPicPr>
          <p:cNvPr id="15" name="Obrázek 14" descr="Obsah obrázku diagram, řada/pruh, Plán, Obdélník&#10;&#10;Obsah vygenerovaný umělou inteligencí může být nesprávný.">
            <a:extLst>
              <a:ext uri="{FF2B5EF4-FFF2-40B4-BE49-F238E27FC236}">
                <a16:creationId xmlns:a16="http://schemas.microsoft.com/office/drawing/2014/main" id="{D75251F4-05DE-BE37-A999-B2FBBBD4B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660" y="2333979"/>
            <a:ext cx="4741785" cy="132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4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9A3F32-16AC-9792-6DFE-E44B25AF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 b="1"/>
              <a:t>Zásobník</a:t>
            </a:r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F730B9-3178-6436-4449-F403C7C0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cs-CZ"/>
              <a:t>Datová struktura, která umožňuje přidávat a odebírat prvky </a:t>
            </a:r>
            <a:r>
              <a:rPr lang="cs-CZ" b="1"/>
              <a:t>pouze z jednoho konce</a:t>
            </a:r>
          </a:p>
          <a:p>
            <a:r>
              <a:rPr lang="cs-CZ"/>
              <a:t>Struktura typu </a:t>
            </a:r>
            <a:r>
              <a:rPr lang="cs-CZ" b="1"/>
              <a:t>LIFO (Last In - </a:t>
            </a:r>
            <a:r>
              <a:rPr lang="cs-CZ" b="1" err="1"/>
              <a:t>First</a:t>
            </a:r>
            <a:r>
              <a:rPr lang="cs-CZ" b="1"/>
              <a:t> Out)</a:t>
            </a:r>
            <a:r>
              <a:rPr lang="cs-CZ"/>
              <a:t>: Naposledy přidaný prvek odchází jako první</a:t>
            </a:r>
          </a:p>
          <a:p>
            <a:endParaRPr lang="cs-CZ" sz="2200"/>
          </a:p>
        </p:txBody>
      </p:sp>
      <p:pic>
        <p:nvPicPr>
          <p:cNvPr id="31" name="Obrázek 30" descr="Obsah obrázku text, snímek obrazovky, Písmo, diagram&#10;&#10;Obsah vygenerovaný umělou inteligencí může být nesprávný.">
            <a:extLst>
              <a:ext uri="{FF2B5EF4-FFF2-40B4-BE49-F238E27FC236}">
                <a16:creationId xmlns:a16="http://schemas.microsoft.com/office/drawing/2014/main" id="{8CBB726E-CF87-A699-C1F5-4AD0FCD3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870381"/>
            <a:ext cx="5458968" cy="311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6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66A72C-BC26-EACF-85AA-18B9D96C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 b="1"/>
              <a:t>Základní operace</a:t>
            </a:r>
            <a:endParaRPr lang="cs-CZ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3CD26F-C43D-EC83-07DA-03A82A017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cs-CZ" b="1"/>
              <a:t>konstruktor</a:t>
            </a:r>
            <a:r>
              <a:rPr lang="cs-CZ"/>
              <a:t> - vytvoření prázdného zásobníku</a:t>
            </a:r>
            <a:endParaRPr lang="cs-CZ" b="1"/>
          </a:p>
          <a:p>
            <a:r>
              <a:rPr lang="cs-CZ" b="1" err="1"/>
              <a:t>push</a:t>
            </a:r>
            <a:r>
              <a:rPr lang="cs-CZ" b="1"/>
              <a:t>()</a:t>
            </a:r>
            <a:r>
              <a:rPr lang="cs-CZ"/>
              <a:t> - vložení prvku na vrchol</a:t>
            </a:r>
          </a:p>
          <a:p>
            <a:r>
              <a:rPr lang="cs-CZ" b="1"/>
              <a:t>pop()</a:t>
            </a:r>
            <a:r>
              <a:rPr lang="cs-CZ"/>
              <a:t> - odebrání prvku z vrcholu</a:t>
            </a:r>
          </a:p>
          <a:p>
            <a:r>
              <a:rPr lang="cs-CZ" b="1" err="1"/>
              <a:t>getTop</a:t>
            </a:r>
            <a:r>
              <a:rPr lang="cs-CZ" b="1"/>
              <a:t>()</a:t>
            </a:r>
            <a:r>
              <a:rPr lang="cs-CZ"/>
              <a:t> – získání hodnoty vrchního prvku bez odebrání</a:t>
            </a:r>
          </a:p>
          <a:p>
            <a:r>
              <a:rPr lang="cs-CZ" b="1" err="1"/>
              <a:t>isEmpty</a:t>
            </a:r>
            <a:r>
              <a:rPr lang="cs-CZ" b="1"/>
              <a:t>()</a:t>
            </a:r>
            <a:r>
              <a:rPr lang="cs-CZ"/>
              <a:t> - zjistí</a:t>
            </a:r>
            <a:r>
              <a:rPr lang="en-US"/>
              <a:t> </a:t>
            </a:r>
            <a:r>
              <a:rPr lang="en-US" err="1"/>
              <a:t>zda</a:t>
            </a:r>
            <a:r>
              <a:rPr lang="cs-CZ" err="1"/>
              <a:t>li</a:t>
            </a:r>
            <a:r>
              <a:rPr lang="cs-CZ"/>
              <a:t> zásobník</a:t>
            </a:r>
            <a:r>
              <a:rPr lang="en-US"/>
              <a:t> </a:t>
            </a:r>
            <a:r>
              <a:rPr lang="cs-CZ"/>
              <a:t>je nebo není prázdný</a:t>
            </a:r>
          </a:p>
          <a:p>
            <a:endParaRPr lang="cs-CZ" sz="2200"/>
          </a:p>
          <a:p>
            <a:endParaRPr lang="cs-CZ" sz="2200"/>
          </a:p>
          <a:p>
            <a:endParaRPr lang="cs-CZ" sz="2200"/>
          </a:p>
          <a:p>
            <a:endParaRPr lang="cs-CZ" sz="2200"/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186410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1D3F2E7-D58A-7B07-7C8A-2E1865B5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cs-CZ" sz="6600" b="1"/>
              <a:t>P</a:t>
            </a: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ush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 descr="Obsah obrázku snímek obrazovky, Obdélník, řada/pruh, design&#10;&#10;Obsah vygenerovaný umělou inteligencí může být nesprávný.">
            <a:extLst>
              <a:ext uri="{FF2B5EF4-FFF2-40B4-BE49-F238E27FC236}">
                <a16:creationId xmlns:a16="http://schemas.microsoft.com/office/drawing/2014/main" id="{5399A0FD-CC08-C2BE-0BA5-16F82DFB8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96423"/>
            <a:ext cx="11548872" cy="306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9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FEB5D-D9CC-0B48-663D-B5232AAB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0F710F5-898F-6C94-3B51-FA403561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cs-CZ" sz="6600" b="1"/>
              <a:t>Push</a:t>
            </a:r>
            <a:endParaRPr lang="cs-CZ" sz="6600" b="1" kern="1200"/>
          </a:p>
        </p:txBody>
      </p:sp>
      <p:sp>
        <p:nvSpPr>
          <p:cNvPr id="5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Zástupný obsah 6" descr="Obsah obrázku snímek obrazovky, Obdélník, řada/pruh, design&#10;&#10;Obsah vygenerovaný umělou inteligencí může být nesprávný.">
            <a:extLst>
              <a:ext uri="{FF2B5EF4-FFF2-40B4-BE49-F238E27FC236}">
                <a16:creationId xmlns:a16="http://schemas.microsoft.com/office/drawing/2014/main" id="{7B976456-BC78-43F6-B949-654A13685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96423"/>
            <a:ext cx="11548872" cy="306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7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661E14C-BEA9-E810-9AD9-4BC8A722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Pop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 descr="Obsah obrázku snímek obrazovky, Obdélník, řada/pruh&#10;&#10;Obsah vygenerovaný umělou inteligencí může být nesprávný.">
            <a:extLst>
              <a:ext uri="{FF2B5EF4-FFF2-40B4-BE49-F238E27FC236}">
                <a16:creationId xmlns:a16="http://schemas.microsoft.com/office/drawing/2014/main" id="{951975A6-3D26-F71C-9019-E4D927589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011912"/>
            <a:ext cx="11548872" cy="282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70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48D840A-44AD-565B-7FCF-D9243931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Pop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 descr="Obsah obrázku snímek obrazovky, Obdélník, řada/pruh, černá&#10;&#10;Obsah vygenerovaný umělou inteligencí může být nesprávný.">
            <a:extLst>
              <a:ext uri="{FF2B5EF4-FFF2-40B4-BE49-F238E27FC236}">
                <a16:creationId xmlns:a16="http://schemas.microsoft.com/office/drawing/2014/main" id="{ED4096BC-1A13-1720-0BE3-F071A0164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766498"/>
            <a:ext cx="11548872" cy="332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62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CDEE113-8467-D347-98D5-8989BA0A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b="1"/>
              <a:t>Příklady použití</a:t>
            </a:r>
            <a:endParaRPr lang="cs-CZ" sz="54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FBEA6F-3300-B9B1-F291-840F9CC7D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/>
              <a:t>Kontrola párování závorek</a:t>
            </a:r>
          </a:p>
          <a:p>
            <a:r>
              <a:rPr lang="cs-CZ"/>
              <a:t>Obrácení posloupnosti</a:t>
            </a:r>
          </a:p>
          <a:p>
            <a:r>
              <a:rPr lang="cs-CZ"/>
              <a:t>Postfixové vyhodnocení výrazu</a:t>
            </a:r>
          </a:p>
          <a:p>
            <a:r>
              <a:rPr lang="cs-CZ"/>
              <a:t>Některé grafové a třídící algoritmy (prohledávání grafu do hloubky, </a:t>
            </a:r>
            <a:r>
              <a:rPr lang="cs-CZ" err="1"/>
              <a:t>quick</a:t>
            </a:r>
            <a:r>
              <a:rPr lang="cs-CZ"/>
              <a:t> sort)</a:t>
            </a:r>
          </a:p>
          <a:p>
            <a:endParaRPr lang="cs-CZ" sz="220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9A545324-8C9D-305C-B214-DE412F63AF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39668"/>
              </p:ext>
            </p:extLst>
          </p:nvPr>
        </p:nvGraphicFramePr>
        <p:xfrm>
          <a:off x="6487583" y="874373"/>
          <a:ext cx="1886969" cy="83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kt prostředí balíčkovače" showAsIcon="1" r:id="rId2" imgW="1181184" imgH="521849" progId="Package">
                  <p:embed/>
                </p:oleObj>
              </mc:Choice>
              <mc:Fallback>
                <p:oleObj name="Objekt prostředí balíčkovače" showAsIcon="1" r:id="rId2" imgW="1181184" imgH="521849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87583" y="874373"/>
                        <a:ext cx="1886969" cy="83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422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984A69-89DA-8D8C-6491-E96C4934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 b="1"/>
              <a:t>Fronta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1AC3F4-E046-6D4E-2E04-9B724537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cs-CZ"/>
              <a:t>Datová struktura, která přidává prvky na konec a odebírá je ze začátku</a:t>
            </a:r>
          </a:p>
          <a:p>
            <a:r>
              <a:rPr lang="cs-CZ"/>
              <a:t>Struktura typu </a:t>
            </a:r>
            <a:r>
              <a:rPr lang="cs-CZ" b="1"/>
              <a:t>FIFO (</a:t>
            </a:r>
            <a:r>
              <a:rPr lang="cs-CZ" b="1" err="1"/>
              <a:t>First</a:t>
            </a:r>
            <a:r>
              <a:rPr lang="cs-CZ" b="1"/>
              <a:t> In - </a:t>
            </a:r>
            <a:r>
              <a:rPr lang="cs-CZ" b="1" err="1"/>
              <a:t>First</a:t>
            </a:r>
            <a:r>
              <a:rPr lang="cs-CZ" b="1"/>
              <a:t> Out)</a:t>
            </a:r>
            <a:r>
              <a:rPr lang="cs-CZ"/>
              <a:t>: První přidaný prvek odchází jako první</a:t>
            </a:r>
          </a:p>
          <a:p>
            <a:endParaRPr lang="cs-CZ" sz="2200"/>
          </a:p>
        </p:txBody>
      </p:sp>
      <p:pic>
        <p:nvPicPr>
          <p:cNvPr id="5" name="Obrázek 4" descr="Obsah obrázku text, snímek obrazovky, diagram, Písmo&#10;&#10;Obsah vygenerovaný umělou inteligencí může být nesprávný.">
            <a:extLst>
              <a:ext uri="{FF2B5EF4-FFF2-40B4-BE49-F238E27FC236}">
                <a16:creationId xmlns:a16="http://schemas.microsoft.com/office/drawing/2014/main" id="{859DD204-BF71-CC57-420E-5B89A1E31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2145562"/>
            <a:ext cx="5458968" cy="256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38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508A2ED-157C-75D4-27E6-D19F794FF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 b="1"/>
              <a:t>Základní operace</a:t>
            </a:r>
            <a:endParaRPr lang="cs-CZ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CF4394-D2C4-A63C-ECFD-5E78F4A6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cs-CZ" sz="3000" b="1"/>
              <a:t>konstruktor</a:t>
            </a:r>
            <a:r>
              <a:rPr lang="cs-CZ" sz="3000"/>
              <a:t> - vytvoření prázdné fronty</a:t>
            </a:r>
            <a:endParaRPr lang="cs-CZ" sz="3000" b="1"/>
          </a:p>
          <a:p>
            <a:r>
              <a:rPr lang="cs-CZ" sz="3000" b="1" err="1"/>
              <a:t>enqueue</a:t>
            </a:r>
            <a:r>
              <a:rPr lang="cs-CZ" sz="3000" b="1"/>
              <a:t>()</a:t>
            </a:r>
            <a:r>
              <a:rPr lang="cs-CZ" sz="3000"/>
              <a:t> - vložení prvku na konec (nový prvek je parametr)</a:t>
            </a:r>
          </a:p>
          <a:p>
            <a:r>
              <a:rPr lang="cs-CZ" sz="3000" b="1" err="1"/>
              <a:t>dequeue</a:t>
            </a:r>
            <a:r>
              <a:rPr lang="cs-CZ" sz="3000" b="1"/>
              <a:t>()</a:t>
            </a:r>
            <a:r>
              <a:rPr lang="cs-CZ" sz="3000"/>
              <a:t> - odebrání prvku ze začátku (vrátí odebraný prvek)</a:t>
            </a:r>
          </a:p>
          <a:p>
            <a:r>
              <a:rPr lang="cs-CZ" sz="3000" b="1" err="1"/>
              <a:t>isEmpty</a:t>
            </a:r>
            <a:r>
              <a:rPr lang="cs-CZ" sz="3000" b="1"/>
              <a:t>()</a:t>
            </a:r>
            <a:r>
              <a:rPr lang="cs-CZ" sz="3000"/>
              <a:t> - zjistí</a:t>
            </a:r>
            <a:r>
              <a:rPr lang="en-US" sz="3000"/>
              <a:t> </a:t>
            </a:r>
            <a:r>
              <a:rPr lang="en-US" sz="3000" err="1"/>
              <a:t>zda</a:t>
            </a:r>
            <a:r>
              <a:rPr lang="cs-CZ" sz="3000" err="1"/>
              <a:t>li</a:t>
            </a:r>
            <a:r>
              <a:rPr lang="cs-CZ" sz="3000"/>
              <a:t> fronta</a:t>
            </a:r>
            <a:r>
              <a:rPr lang="en-US" sz="3000"/>
              <a:t> </a:t>
            </a:r>
            <a:r>
              <a:rPr lang="cs-CZ" sz="3000"/>
              <a:t>je nebo není prázdná</a:t>
            </a:r>
            <a:endParaRPr lang="cs-CZ" sz="3000" b="1"/>
          </a:p>
          <a:p>
            <a:r>
              <a:rPr lang="cs-CZ" sz="3000" b="1" err="1"/>
              <a:t>getFirst</a:t>
            </a:r>
            <a:r>
              <a:rPr lang="cs-CZ" sz="3000" b="1"/>
              <a:t>()</a:t>
            </a:r>
            <a:r>
              <a:rPr lang="cs-CZ" sz="3000"/>
              <a:t> - získání prvního prvku bez odebrání</a:t>
            </a:r>
          </a:p>
          <a:p>
            <a:r>
              <a:rPr lang="cs-CZ" sz="3000" b="1" err="1"/>
              <a:t>getLast</a:t>
            </a:r>
            <a:r>
              <a:rPr lang="cs-CZ" sz="3000" b="1"/>
              <a:t>()</a:t>
            </a:r>
            <a:r>
              <a:rPr lang="cs-CZ" sz="3000"/>
              <a:t> - získání posledního prvku bez odebrání</a:t>
            </a:r>
            <a:endParaRPr lang="cs-CZ" sz="2200"/>
          </a:p>
          <a:p>
            <a:endParaRPr lang="cs-CZ" sz="2200"/>
          </a:p>
          <a:p>
            <a:endParaRPr lang="cs-CZ" sz="2200"/>
          </a:p>
          <a:p>
            <a:endParaRPr lang="cs-CZ" sz="2200"/>
          </a:p>
          <a:p>
            <a:endParaRPr lang="cs-CZ" sz="2200"/>
          </a:p>
          <a:p>
            <a:endParaRPr lang="cs-CZ" sz="2200"/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854670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 descr="Obsah obrázku snímek obrazovky, Obdélník, řada/pruh, design&#10;&#10;Obsah vygenerovaný umělou inteligencí může být nesprávný.">
            <a:extLst>
              <a:ext uri="{FF2B5EF4-FFF2-40B4-BE49-F238E27FC236}">
                <a16:creationId xmlns:a16="http://schemas.microsoft.com/office/drawing/2014/main" id="{2FB2EC6B-7154-5EFF-222B-EC01ABEB0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6" y="1397931"/>
            <a:ext cx="10905066" cy="406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1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A27FD9-CB90-6936-FA3C-70E8C95B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b="1"/>
              <a:t>Příklady použití</a:t>
            </a:r>
            <a:endParaRPr lang="cs-CZ" sz="54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25CFEC-E09F-443C-D04B-B47F39DCD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endParaRPr lang="cs-CZ" sz="2200"/>
          </a:p>
          <a:p>
            <a:r>
              <a:rPr lang="cs-CZ"/>
              <a:t>Paměť </a:t>
            </a:r>
            <a:r>
              <a:rPr lang="cs-CZ" err="1"/>
              <a:t>cache</a:t>
            </a:r>
            <a:r>
              <a:rPr lang="cs-CZ"/>
              <a:t> - požadavky jsou zpracovávány v pořadí příchodu</a:t>
            </a:r>
          </a:p>
          <a:p>
            <a:endParaRPr lang="cs-CZ"/>
          </a:p>
          <a:p>
            <a:r>
              <a:rPr lang="cs-CZ"/>
              <a:t>Některé grafové a třídící algoritmy (prohledávání grafu do šířky, </a:t>
            </a:r>
            <a:r>
              <a:rPr lang="cs-CZ" err="1"/>
              <a:t>merge</a:t>
            </a:r>
            <a:r>
              <a:rPr lang="cs-CZ"/>
              <a:t> sort)</a:t>
            </a:r>
          </a:p>
        </p:txBody>
      </p:sp>
    </p:spTree>
    <p:extLst>
      <p:ext uri="{BB962C8B-B14F-4D97-AF65-F5344CB8AC3E}">
        <p14:creationId xmlns:p14="http://schemas.microsoft.com/office/powerpoint/2010/main" val="991818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EC3887F-0087-D550-033A-101A5B50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b="1" kern="1200">
                <a:latin typeface="+mj-lt"/>
                <a:ea typeface="+mj-ea"/>
                <a:cs typeface="+mj-cs"/>
              </a:rPr>
              <a:t>Zásobník x Fronta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79675FEC-018B-2FD0-54B9-521CFA050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085421"/>
              </p:ext>
            </p:extLst>
          </p:nvPr>
        </p:nvGraphicFramePr>
        <p:xfrm>
          <a:off x="838200" y="2459162"/>
          <a:ext cx="10515601" cy="348672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5318603">
                  <a:extLst>
                    <a:ext uri="{9D8B030D-6E8A-4147-A177-3AD203B41FA5}">
                      <a16:colId xmlns:a16="http://schemas.microsoft.com/office/drawing/2014/main" val="2084393995"/>
                    </a:ext>
                  </a:extLst>
                </a:gridCol>
                <a:gridCol w="5196998">
                  <a:extLst>
                    <a:ext uri="{9D8B030D-6E8A-4147-A177-3AD203B41FA5}">
                      <a16:colId xmlns:a16="http://schemas.microsoft.com/office/drawing/2014/main" val="14043485"/>
                    </a:ext>
                  </a:extLst>
                </a:gridCol>
              </a:tblGrid>
              <a:tr h="871682">
                <a:tc>
                  <a:txBody>
                    <a:bodyPr/>
                    <a:lstStyle/>
                    <a:p>
                      <a:r>
                        <a:rPr lang="cs-CZ" sz="2900" b="1" cap="none" spc="0">
                          <a:solidFill>
                            <a:schemeClr val="tx1"/>
                          </a:solidFill>
                        </a:rPr>
                        <a:t>Zásobník (LIFO)</a:t>
                      </a:r>
                      <a:endParaRPr lang="cs-CZ" sz="2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52780" marR="980333" marT="194446" marB="19444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900" b="1" cap="none" spc="0">
                          <a:solidFill>
                            <a:schemeClr val="tx1"/>
                          </a:solidFill>
                        </a:rPr>
                        <a:t>Fronta (FIFO)</a:t>
                      </a:r>
                      <a:endParaRPr lang="cs-CZ" sz="2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52780" marR="980333" marT="194446" marB="19444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711584"/>
                  </a:ext>
                </a:extLst>
              </a:tr>
              <a:tr h="871682">
                <a:tc>
                  <a:txBody>
                    <a:bodyPr/>
                    <a:lstStyle/>
                    <a:p>
                      <a:r>
                        <a:rPr lang="cs-CZ" sz="2900" cap="none" spc="0">
                          <a:solidFill>
                            <a:schemeClr val="tx1"/>
                          </a:solidFill>
                        </a:rPr>
                        <a:t>Poslední prvek jde první</a:t>
                      </a:r>
                    </a:p>
                  </a:txBody>
                  <a:tcPr marL="252780" marR="980333" marT="194446" marB="19444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900" cap="none" spc="0">
                          <a:solidFill>
                            <a:schemeClr val="tx1"/>
                          </a:solidFill>
                        </a:rPr>
                        <a:t>První prvek jde první</a:t>
                      </a:r>
                    </a:p>
                  </a:txBody>
                  <a:tcPr marL="252780" marR="980333" marT="194446" marB="19444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827962"/>
                  </a:ext>
                </a:extLst>
              </a:tr>
              <a:tr h="871682">
                <a:tc>
                  <a:txBody>
                    <a:bodyPr/>
                    <a:lstStyle/>
                    <a:p>
                      <a:r>
                        <a:rPr lang="cs-CZ" sz="2900" cap="none" spc="0">
                          <a:solidFill>
                            <a:schemeClr val="tx1"/>
                          </a:solidFill>
                        </a:rPr>
                        <a:t>push() / pop()</a:t>
                      </a:r>
                    </a:p>
                  </a:txBody>
                  <a:tcPr marL="252780" marR="980333" marT="194446" marB="19444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900" cap="none" spc="0">
                          <a:solidFill>
                            <a:schemeClr val="tx1"/>
                          </a:solidFill>
                        </a:rPr>
                        <a:t>enqueue() / dequeue()</a:t>
                      </a:r>
                    </a:p>
                  </a:txBody>
                  <a:tcPr marL="252780" marR="980333" marT="194446" marB="19444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41795"/>
                  </a:ext>
                </a:extLst>
              </a:tr>
              <a:tr h="871682">
                <a:tc>
                  <a:txBody>
                    <a:bodyPr/>
                    <a:lstStyle/>
                    <a:p>
                      <a:r>
                        <a:rPr lang="cs-CZ" sz="2900" cap="none" spc="0">
                          <a:solidFill>
                            <a:schemeClr val="tx1"/>
                          </a:solidFill>
                        </a:rPr>
                        <a:t>Příklady: Undo/Redo</a:t>
                      </a:r>
                    </a:p>
                  </a:txBody>
                  <a:tcPr marL="252780" marR="980333" marT="194446" marB="19444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900" cap="none" spc="0">
                          <a:solidFill>
                            <a:schemeClr val="tx1"/>
                          </a:solidFill>
                        </a:rPr>
                        <a:t>Příklady: Tiskové fronty</a:t>
                      </a:r>
                    </a:p>
                  </a:txBody>
                  <a:tcPr marL="252780" marR="980333" marT="194446" marB="19444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8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601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C32A15F-B8C9-BC9B-3F1B-16243069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 b="1"/>
              <a:t>Binární strom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B0085C-9C5A-39CF-C171-BF50478C1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6435787" cy="3547872"/>
          </a:xfrm>
        </p:spPr>
        <p:txBody>
          <a:bodyPr anchor="t">
            <a:normAutofit/>
          </a:bodyPr>
          <a:lstStyle/>
          <a:p>
            <a:r>
              <a:rPr lang="cs-CZ"/>
              <a:t>Hierarchická datová struktura začínající kořenem (jeden uzel) z kterého vedou větve do pod-uzlů</a:t>
            </a:r>
          </a:p>
          <a:p>
            <a:pPr lvl="1"/>
            <a:r>
              <a:rPr lang="cs-CZ" sz="2800"/>
              <a:t>každý uzel má 0, 1 nebo 2 pod-uzly (potomky)</a:t>
            </a:r>
          </a:p>
          <a:p>
            <a:endParaRPr lang="cs-CZ" sz="2200"/>
          </a:p>
        </p:txBody>
      </p:sp>
      <p:pic>
        <p:nvPicPr>
          <p:cNvPr id="5" name="Obrázek 4" descr="Obsah obrázku černá, tma&#10;&#10;Obsah vygenerovaný umělou inteligencí může být nesprávný.">
            <a:extLst>
              <a:ext uri="{FF2B5EF4-FFF2-40B4-BE49-F238E27FC236}">
                <a16:creationId xmlns:a16="http://schemas.microsoft.com/office/drawing/2014/main" id="{05FD6CE6-546E-14D2-C7DD-7242F56B7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392" y="640080"/>
            <a:ext cx="524316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82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36C9E5-37C3-9052-00F7-2BFEC929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b="1"/>
              <a:t>Základní pojmy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FA1FB6-4BCD-4B7F-D6A5-5833E134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7" y="548640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 b="1"/>
              <a:t>Kořen (</a:t>
            </a:r>
            <a:r>
              <a:rPr lang="cs-CZ" sz="2200" b="1" err="1"/>
              <a:t>root</a:t>
            </a:r>
            <a:r>
              <a:rPr lang="cs-CZ" sz="2200" b="1"/>
              <a:t>)</a:t>
            </a:r>
            <a:r>
              <a:rPr lang="cs-CZ" sz="2200"/>
              <a:t> – vrchol stromu, ze kterého vše vychází</a:t>
            </a:r>
          </a:p>
          <a:p>
            <a:r>
              <a:rPr lang="cs-CZ" sz="2200" b="1"/>
              <a:t>List (</a:t>
            </a:r>
            <a:r>
              <a:rPr lang="cs-CZ" sz="2200" b="1" err="1"/>
              <a:t>leaf</a:t>
            </a:r>
            <a:r>
              <a:rPr lang="cs-CZ" sz="2200" b="1"/>
              <a:t>)</a:t>
            </a:r>
            <a:r>
              <a:rPr lang="cs-CZ" sz="2200"/>
              <a:t> – Uzel bez potomků</a:t>
            </a:r>
          </a:p>
          <a:p>
            <a:r>
              <a:rPr lang="cs-CZ" sz="2200" b="1"/>
              <a:t>Rodič (</a:t>
            </a:r>
            <a:r>
              <a:rPr lang="cs-CZ" sz="2200" b="1" err="1"/>
              <a:t>parent</a:t>
            </a:r>
            <a:r>
              <a:rPr lang="cs-CZ" sz="2200" b="1"/>
              <a:t>)</a:t>
            </a:r>
            <a:r>
              <a:rPr lang="cs-CZ" sz="2200"/>
              <a:t> a </a:t>
            </a:r>
            <a:r>
              <a:rPr lang="cs-CZ" sz="2200" b="1"/>
              <a:t>potomek (</a:t>
            </a:r>
            <a:r>
              <a:rPr lang="cs-CZ" sz="2200" b="1" err="1"/>
              <a:t>child</a:t>
            </a:r>
            <a:r>
              <a:rPr lang="cs-CZ" sz="2200" b="1"/>
              <a:t>)</a:t>
            </a:r>
            <a:r>
              <a:rPr lang="cs-CZ" sz="2200"/>
              <a:t> – Každý uzel (kromě kořene) má jednoho rodiče, uzly pod ním jsou jeho potomci</a:t>
            </a:r>
          </a:p>
          <a:p>
            <a:r>
              <a:rPr lang="cs-CZ" sz="2200" b="1"/>
              <a:t>Hloubka (</a:t>
            </a:r>
            <a:r>
              <a:rPr lang="cs-CZ" sz="2200" b="1" err="1"/>
              <a:t>depth</a:t>
            </a:r>
            <a:r>
              <a:rPr lang="cs-CZ" sz="2200" b="1"/>
              <a:t>)</a:t>
            </a:r>
            <a:r>
              <a:rPr lang="cs-CZ" sz="2200"/>
              <a:t> – počet hran od kořene k danému uzlu (počet "kroků" potřebných k dosažení uzlu z kořene)</a:t>
            </a:r>
          </a:p>
          <a:p>
            <a:r>
              <a:rPr lang="cs-CZ" sz="2200" b="1"/>
              <a:t>Šířka (</a:t>
            </a:r>
            <a:r>
              <a:rPr lang="cs-CZ" sz="2200" b="1" err="1"/>
              <a:t>Width</a:t>
            </a:r>
            <a:r>
              <a:rPr lang="cs-CZ" sz="2200" b="1"/>
              <a:t>) </a:t>
            </a:r>
            <a:r>
              <a:rPr lang="cs-CZ" sz="2200"/>
              <a:t>–</a:t>
            </a:r>
            <a:r>
              <a:rPr lang="cs-CZ" sz="2200" b="1"/>
              <a:t> </a:t>
            </a:r>
            <a:r>
              <a:rPr lang="cs-CZ" sz="2200"/>
              <a:t>označuje maximální počet uzlů na stejné úrovni (hloubce)</a:t>
            </a:r>
          </a:p>
          <a:p>
            <a:r>
              <a:rPr lang="cs-CZ" sz="2200" b="1"/>
              <a:t>Výška (</a:t>
            </a:r>
            <a:r>
              <a:rPr lang="cs-CZ" sz="2200" b="1" err="1"/>
              <a:t>height</a:t>
            </a:r>
            <a:r>
              <a:rPr lang="cs-CZ" sz="2200" b="1"/>
              <a:t>)</a:t>
            </a:r>
            <a:r>
              <a:rPr lang="cs-CZ" sz="2200"/>
              <a:t> – maximální hloubka stromu (nejdelší cesta od kořene k listu)</a:t>
            </a:r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771395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4B436-EECF-E695-1162-6EEBCC1B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AAAC2B1-FE4A-EA32-A55E-8415E0C70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5E621A-1B50-B50B-74DD-8C1DAAE0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 fontScale="90000"/>
          </a:bodyPr>
          <a:lstStyle/>
          <a:p>
            <a:r>
              <a:rPr lang="cs-CZ" sz="5000" b="1"/>
              <a:t>Průchod stromem do šířky:</a:t>
            </a:r>
            <a:endParaRPr lang="cs-CZ" sz="5000"/>
          </a:p>
        </p:txBody>
      </p:sp>
      <p:pic>
        <p:nvPicPr>
          <p:cNvPr id="6" name="Obrázek 5" descr="Obsah obrázku černá, tma&#10;&#10;Obsah vygenerovaný umělou inteligencí může být nesprávný.">
            <a:extLst>
              <a:ext uri="{FF2B5EF4-FFF2-40B4-BE49-F238E27FC236}">
                <a16:creationId xmlns:a16="http://schemas.microsoft.com/office/drawing/2014/main" id="{FC312F42-D6E5-D6E7-A273-B2775CF7D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35" y="640080"/>
            <a:ext cx="5243169" cy="5577840"/>
          </a:xfrm>
          <a:prstGeom prst="rect">
            <a:avLst/>
          </a:prstGeom>
        </p:spPr>
      </p:pic>
      <p:sp>
        <p:nvSpPr>
          <p:cNvPr id="33" name="sketch line">
            <a:extLst>
              <a:ext uri="{FF2B5EF4-FFF2-40B4-BE49-F238E27FC236}">
                <a16:creationId xmlns:a16="http://schemas.microsoft.com/office/drawing/2014/main" id="{0AEFD54F-A43E-7448-89A0-5843C547D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DE05AE-C389-D234-79E7-AAC75A4E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cs-CZ" sz="2200"/>
              <a:t>Projdou se nejprve všechny uzly stromu v jedné hloubce (vždy zleva doprava) a až poté se pokračuje do další úrovně, kde se postup opakuje</a:t>
            </a:r>
          </a:p>
          <a:p>
            <a:endParaRPr lang="cs-CZ" sz="2200"/>
          </a:p>
          <a:p>
            <a:r>
              <a:rPr lang="cs-CZ" sz="2200" b="1"/>
              <a:t>Výpis:</a:t>
            </a:r>
            <a:r>
              <a:rPr lang="cs-CZ" sz="2200"/>
              <a:t> 1, 7, 9, 2, 6, 9, 5, 11, 5</a:t>
            </a:r>
          </a:p>
        </p:txBody>
      </p:sp>
    </p:spTree>
    <p:extLst>
      <p:ext uri="{BB962C8B-B14F-4D97-AF65-F5344CB8AC3E}">
        <p14:creationId xmlns:p14="http://schemas.microsoft.com/office/powerpoint/2010/main" val="3142106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D7CAF-D959-1530-D870-AF6F687C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743456-E05F-C275-F290-B6624B6B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 b="1"/>
              <a:t>Průchod stromem do hloubky:</a:t>
            </a:r>
            <a:endParaRPr lang="cs-CZ" sz="5400"/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BB9B70-DEBB-174F-F798-523C6FFC8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cs-CZ" sz="2400"/>
              <a:t>Procházení začíná v kořeni stromu a postupuje se po potomcích uzlu</a:t>
            </a:r>
          </a:p>
          <a:p>
            <a:r>
              <a:rPr lang="cs-CZ" sz="2400"/>
              <a:t>Procházení končí, když už v žádné větvi není </a:t>
            </a:r>
            <a:r>
              <a:rPr lang="cs-CZ" sz="2400" err="1"/>
              <a:t>nenavšívený</a:t>
            </a:r>
            <a:r>
              <a:rPr lang="cs-CZ" sz="2400"/>
              <a:t> potomek</a:t>
            </a:r>
          </a:p>
          <a:p>
            <a:r>
              <a:rPr lang="cs-CZ" sz="2400"/>
              <a:t>Při průchodu je možné zpracovat aktuální uzel, projít levý podstrom a projít pravý podstrom</a:t>
            </a:r>
          </a:p>
          <a:p>
            <a:r>
              <a:rPr lang="cs-CZ" sz="2400"/>
              <a:t>Podle pořadí těchto akcí se rozlišují tři druhy průchodu:</a:t>
            </a:r>
          </a:p>
          <a:p>
            <a:pPr lvl="1"/>
            <a:r>
              <a:rPr lang="cs-CZ" b="1" err="1"/>
              <a:t>Pre-order</a:t>
            </a:r>
            <a:endParaRPr lang="cs-CZ" b="1"/>
          </a:p>
          <a:p>
            <a:pPr lvl="1"/>
            <a:r>
              <a:rPr lang="cs-CZ" b="1"/>
              <a:t>In-</a:t>
            </a:r>
            <a:r>
              <a:rPr lang="cs-CZ" b="1" err="1"/>
              <a:t>order</a:t>
            </a:r>
            <a:endParaRPr lang="cs-CZ" b="1"/>
          </a:p>
          <a:p>
            <a:pPr lvl="1"/>
            <a:r>
              <a:rPr lang="cs-CZ" b="1"/>
              <a:t>Post-</a:t>
            </a:r>
            <a:r>
              <a:rPr lang="cs-CZ" b="1" err="1"/>
              <a:t>order</a:t>
            </a:r>
            <a:endParaRPr lang="cs-CZ" sz="1400" b="1"/>
          </a:p>
          <a:p>
            <a:pPr lvl="1"/>
            <a:endParaRPr lang="cs-CZ" sz="1800"/>
          </a:p>
          <a:p>
            <a:pPr lvl="1"/>
            <a:endParaRPr lang="cs-CZ" sz="2200"/>
          </a:p>
          <a:p>
            <a:pPr lvl="1"/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2113858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36BC144-BC93-B238-3DF7-AE82895D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 fontScale="90000"/>
          </a:bodyPr>
          <a:lstStyle/>
          <a:p>
            <a:r>
              <a:rPr lang="cs-CZ" sz="5000" b="1"/>
              <a:t>Průchod stromem do hloubky:</a:t>
            </a:r>
            <a:endParaRPr lang="cs-CZ" sz="5000"/>
          </a:p>
        </p:txBody>
      </p:sp>
      <p:pic>
        <p:nvPicPr>
          <p:cNvPr id="6" name="Obrázek 5" descr="Obsah obrázku černá, tma&#10;&#10;Obsah vygenerovaný umělou inteligencí může být nesprávný.">
            <a:extLst>
              <a:ext uri="{FF2B5EF4-FFF2-40B4-BE49-F238E27FC236}">
                <a16:creationId xmlns:a16="http://schemas.microsoft.com/office/drawing/2014/main" id="{BB6236B7-A9AD-C0E2-002C-37CFC7A2F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35" y="640080"/>
            <a:ext cx="5243169" cy="5577840"/>
          </a:xfrm>
          <a:prstGeom prst="rect">
            <a:avLst/>
          </a:prstGeom>
        </p:spPr>
      </p:pic>
      <p:sp>
        <p:nvSpPr>
          <p:cNvPr id="3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E8C4AA-AE47-D4BC-89B8-65E504F5E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cs-CZ" sz="2200" b="1" err="1"/>
              <a:t>Pre-order</a:t>
            </a:r>
            <a:endParaRPr lang="cs-CZ" sz="2200" b="1"/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aktuálního uzlu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levého pod-uzlu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pravého pod-uzlu</a:t>
            </a:r>
          </a:p>
          <a:p>
            <a:pPr marL="914400" lvl="1" indent="-457200">
              <a:buFont typeface="+mj-lt"/>
              <a:buAutoNum type="arabicPeriod"/>
            </a:pPr>
            <a:endParaRPr lang="cs-CZ" sz="2200"/>
          </a:p>
          <a:p>
            <a:r>
              <a:rPr lang="cs-CZ" sz="2200" b="1"/>
              <a:t>Výpis:</a:t>
            </a:r>
            <a:r>
              <a:rPr lang="cs-CZ" sz="2200"/>
              <a:t> 1, 7, 2, 6, 5, 11, 9, 9, 5</a:t>
            </a:r>
          </a:p>
        </p:txBody>
      </p:sp>
    </p:spTree>
    <p:extLst>
      <p:ext uri="{BB962C8B-B14F-4D97-AF65-F5344CB8AC3E}">
        <p14:creationId xmlns:p14="http://schemas.microsoft.com/office/powerpoint/2010/main" val="1251263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EB595-1D22-0171-4BC0-322A4C9F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F374C5D-7C6B-1004-72D1-01C34E51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 fontScale="90000"/>
          </a:bodyPr>
          <a:lstStyle/>
          <a:p>
            <a:r>
              <a:rPr lang="cs-CZ" sz="5000" b="1"/>
              <a:t>Průchod stromem  do hloubky:</a:t>
            </a:r>
            <a:endParaRPr lang="cs-CZ" sz="5000"/>
          </a:p>
        </p:txBody>
      </p:sp>
      <p:pic>
        <p:nvPicPr>
          <p:cNvPr id="6" name="Obrázek 5" descr="Obsah obrázku černá, tma&#10;&#10;Obsah vygenerovaný umělou inteligencí může být nesprávný.">
            <a:extLst>
              <a:ext uri="{FF2B5EF4-FFF2-40B4-BE49-F238E27FC236}">
                <a16:creationId xmlns:a16="http://schemas.microsoft.com/office/drawing/2014/main" id="{9ACF13B4-2C0E-36C6-641B-2EC4F7263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35" y="640080"/>
            <a:ext cx="5243169" cy="5577840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8CBB573-1F94-2449-F772-82CA6C04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cs-CZ" sz="2200" b="1"/>
              <a:t>In-</a:t>
            </a:r>
            <a:r>
              <a:rPr lang="cs-CZ" sz="2200" b="1" err="1"/>
              <a:t>order</a:t>
            </a:r>
            <a:endParaRPr lang="cs-CZ" sz="2200" b="1"/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levého pod-uzlu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aktuálního uzlu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pravého pod-uzlu</a:t>
            </a:r>
          </a:p>
          <a:p>
            <a:endParaRPr lang="cs-CZ" sz="2200"/>
          </a:p>
          <a:p>
            <a:r>
              <a:rPr lang="cs-CZ" sz="2200" b="1"/>
              <a:t>Výpis:</a:t>
            </a:r>
            <a:r>
              <a:rPr lang="cs-CZ" sz="2200"/>
              <a:t> 2, 7, 5, 6, 11, 1, 9, 5, 9</a:t>
            </a:r>
          </a:p>
        </p:txBody>
      </p:sp>
    </p:spTree>
    <p:extLst>
      <p:ext uri="{BB962C8B-B14F-4D97-AF65-F5344CB8AC3E}">
        <p14:creationId xmlns:p14="http://schemas.microsoft.com/office/powerpoint/2010/main" val="2626774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60C95-73CF-C284-8BCC-6708E2FC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95FB7F-BF4A-FEAC-41EB-9EEAC9C3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 fontScale="90000"/>
          </a:bodyPr>
          <a:lstStyle/>
          <a:p>
            <a:r>
              <a:rPr lang="cs-CZ" sz="5000" b="1"/>
              <a:t>Průchod stromem do hloubky:</a:t>
            </a:r>
            <a:endParaRPr lang="cs-CZ" sz="5000"/>
          </a:p>
        </p:txBody>
      </p:sp>
      <p:pic>
        <p:nvPicPr>
          <p:cNvPr id="6" name="Obrázek 5" descr="Obsah obrázku černá, tma&#10;&#10;Obsah vygenerovaný umělou inteligencí může být nesprávný.">
            <a:extLst>
              <a:ext uri="{FF2B5EF4-FFF2-40B4-BE49-F238E27FC236}">
                <a16:creationId xmlns:a16="http://schemas.microsoft.com/office/drawing/2014/main" id="{55173F7A-2F24-59CB-5CBA-DD8613B37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35" y="640080"/>
            <a:ext cx="5243169" cy="5577840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1A8B64-8423-C4EE-F8A7-8B2DD3629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cs-CZ" sz="2200" b="1"/>
              <a:t>Post-</a:t>
            </a:r>
            <a:r>
              <a:rPr lang="cs-CZ" sz="2200" b="1" err="1"/>
              <a:t>order</a:t>
            </a:r>
            <a:endParaRPr lang="cs-CZ" sz="2200" b="1"/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levého pod-uzlu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pravého pod-uzlu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/>
              <a:t>vypíšu hodnotu aktuálního uzlu</a:t>
            </a:r>
          </a:p>
          <a:p>
            <a:endParaRPr lang="cs-CZ" sz="2200"/>
          </a:p>
          <a:p>
            <a:r>
              <a:rPr lang="cs-CZ" sz="2200" b="1"/>
              <a:t>Výpis: </a:t>
            </a:r>
            <a:r>
              <a:rPr lang="cs-CZ" sz="2200"/>
              <a:t>2, 5, 11, 6, 7, 5, 9, 9, 1</a:t>
            </a:r>
          </a:p>
        </p:txBody>
      </p:sp>
    </p:spTree>
    <p:extLst>
      <p:ext uri="{BB962C8B-B14F-4D97-AF65-F5344CB8AC3E}">
        <p14:creationId xmlns:p14="http://schemas.microsoft.com/office/powerpoint/2010/main" val="1441658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5163B8-3413-9B05-5462-0AA52A06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4600" b="1"/>
              <a:t>Shrnutí průchodů stromem do hloubky:</a:t>
            </a:r>
            <a:endParaRPr lang="cs-CZ" sz="4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8217AC-B4F5-AFD8-0471-048E2474F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cs-CZ" b="1" err="1"/>
              <a:t>Pre-order</a:t>
            </a:r>
            <a:r>
              <a:rPr lang="cs-CZ" b="1"/>
              <a:t> (aktuální → levý → pravý)</a:t>
            </a:r>
          </a:p>
          <a:p>
            <a:pPr lvl="1"/>
            <a:r>
              <a:rPr lang="cs-CZ" sz="2800"/>
              <a:t>Vhodný pro: Kopírování struktury stromu</a:t>
            </a:r>
            <a:endParaRPr lang="cs-CZ" sz="2800" b="1"/>
          </a:p>
          <a:p>
            <a:r>
              <a:rPr lang="cs-CZ" b="1"/>
              <a:t>In-</a:t>
            </a:r>
            <a:r>
              <a:rPr lang="cs-CZ" b="1" err="1"/>
              <a:t>order</a:t>
            </a:r>
            <a:r>
              <a:rPr lang="cs-CZ" b="1"/>
              <a:t> (levý → aktuální → pravý)</a:t>
            </a:r>
          </a:p>
          <a:p>
            <a:pPr lvl="1"/>
            <a:r>
              <a:rPr lang="cs-CZ" sz="2800"/>
              <a:t>Vhodný pro: Výpis hodnot binárního vyhledávacího stromu ve správném pořadí</a:t>
            </a:r>
            <a:endParaRPr lang="cs-CZ" sz="2800" b="1"/>
          </a:p>
          <a:p>
            <a:r>
              <a:rPr lang="cs-CZ" b="1"/>
              <a:t>Post-</a:t>
            </a:r>
            <a:r>
              <a:rPr lang="cs-CZ" b="1" err="1"/>
              <a:t>order</a:t>
            </a:r>
            <a:r>
              <a:rPr lang="cs-CZ" b="1"/>
              <a:t> (levý → pravý → aktuální)</a:t>
            </a:r>
          </a:p>
          <a:p>
            <a:pPr lvl="1"/>
            <a:r>
              <a:rPr lang="cs-CZ" sz="2800"/>
              <a:t>Vhodný pro: Mazání stromu (nejprve potomci, pak rodič)</a:t>
            </a:r>
            <a:endParaRPr lang="cs-CZ" sz="2800" b="1"/>
          </a:p>
          <a:p>
            <a:endParaRPr lang="cs-CZ" sz="2200" b="1"/>
          </a:p>
          <a:p>
            <a:endParaRPr lang="cs-CZ" sz="2200" b="1"/>
          </a:p>
          <a:p>
            <a:pPr lvl="1"/>
            <a:endParaRPr lang="cs-CZ" sz="2200" b="1"/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47140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477E20-7580-724F-F778-5862846D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b="1"/>
              <a:t>Příklady použití</a:t>
            </a:r>
            <a:br>
              <a:rPr lang="cs-CZ" sz="5400" b="1"/>
            </a:br>
            <a:endParaRPr lang="cs-CZ" sz="54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00C9D7-E457-2F13-F157-42A473050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endParaRPr lang="cs-CZ" sz="2200"/>
          </a:p>
          <a:p>
            <a:r>
              <a:rPr lang="cs-CZ"/>
              <a:t>Převod Morseovy abecedy na text</a:t>
            </a:r>
          </a:p>
          <a:p>
            <a:endParaRPr lang="cs-CZ"/>
          </a:p>
          <a:p>
            <a:endParaRPr lang="cs-CZ"/>
          </a:p>
          <a:p>
            <a:endParaRPr lang="cs-CZ"/>
          </a:p>
          <a:p>
            <a:r>
              <a:rPr lang="cs-CZ"/>
              <a:t>Algoritmy pro vyhledávání a řazení</a:t>
            </a:r>
            <a:endParaRPr lang="cs-CZ" sz="220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886854EE-BAAB-7130-9187-40AD750A17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302392"/>
              </p:ext>
            </p:extLst>
          </p:nvPr>
        </p:nvGraphicFramePr>
        <p:xfrm>
          <a:off x="6500875" y="2724369"/>
          <a:ext cx="2885822" cy="926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kt prostředí balíčkovače" showAsIcon="1" r:id="rId2" imgW="1627008" imgH="521849" progId="Package">
                  <p:embed/>
                </p:oleObj>
              </mc:Choice>
              <mc:Fallback>
                <p:oleObj name="Objekt prostředí balíčkovače" showAsIcon="1" r:id="rId2" imgW="1627008" imgH="521849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00875" y="2724369"/>
                        <a:ext cx="2885822" cy="926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6823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Zástupný obsah 4" descr="Obsah obrázku text, snímek obrazovky, diagram, Písmo&#10;&#10;Obsah vygenerovaný umělou inteligencí může být nesprávný.">
            <a:extLst>
              <a:ext uri="{FF2B5EF4-FFF2-40B4-BE49-F238E27FC236}">
                <a16:creationId xmlns:a16="http://schemas.microsoft.com/office/drawing/2014/main" id="{62D3A72D-DBCA-3798-39AA-F5EBE7D7B4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428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61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B4033A-F0AF-F6B4-1354-BEAA0B93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Děkuji</a:t>
            </a: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za </a:t>
            </a:r>
            <a:r>
              <a:rPr lang="en-US" sz="66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pozornost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7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E88169F0-AB42-4CEA-B31F-4EA02526C1DC}">
  <ds:schemaRefs>
    <ds:schemaRef ds:uri="084efd27-671c-4a3e-a1f9-193c3664239c"/>
    <ds:schemaRef ds:uri="56f66b51-0c61-4da8-9d6e-b8db00b12d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F4DDAD-B381-4649-9BB1-A4DE32817A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462A58-7859-4C6E-A909-077037D39BE6}">
  <ds:schemaRefs>
    <ds:schemaRef ds:uri="084efd27-671c-4a3e-a1f9-193c3664239c"/>
    <ds:schemaRef ds:uri="56f66b51-0c61-4da8-9d6e-b8db00b12de2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Motiv Office</vt:lpstr>
      <vt:lpstr>Abstraktní datové typy</vt:lpstr>
      <vt:lpstr>Abstraktní datový typ</vt:lpstr>
      <vt:lpstr>Implementace je obvykle realizována jako:</vt:lpstr>
      <vt:lpstr>Spojový seznam</vt:lpstr>
      <vt:lpstr>Zásobník</vt:lpstr>
      <vt:lpstr>Základní operace</vt:lpstr>
      <vt:lpstr>Push</vt:lpstr>
      <vt:lpstr>Push</vt:lpstr>
      <vt:lpstr>Pop</vt:lpstr>
      <vt:lpstr>Pop</vt:lpstr>
      <vt:lpstr>Příklady použití</vt:lpstr>
      <vt:lpstr>Fronta</vt:lpstr>
      <vt:lpstr>Základní operace</vt:lpstr>
      <vt:lpstr>PowerPoint Presentation</vt:lpstr>
      <vt:lpstr>Příklady použití</vt:lpstr>
      <vt:lpstr>Zásobník x Fronta</vt:lpstr>
      <vt:lpstr>Binární strom</vt:lpstr>
      <vt:lpstr>Základní pojmy</vt:lpstr>
      <vt:lpstr>Průchod stromem do šířky:</vt:lpstr>
      <vt:lpstr>Průchod stromem do hloubky:</vt:lpstr>
      <vt:lpstr>Průchod stromem do hloubky:</vt:lpstr>
      <vt:lpstr>Průchod stromem  do hloubky:</vt:lpstr>
      <vt:lpstr>Průchod stromem do hloubky:</vt:lpstr>
      <vt:lpstr>Shrnutí průchodů stromem do hloubky:</vt:lpstr>
      <vt:lpstr>Příklady použití </vt:lpstr>
      <vt:lpstr>PowerPoint Presentation</vt:lpstr>
      <vt:lpstr>Děkuji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Pavlík Matyáš</dc:creator>
  <cp:revision>1</cp:revision>
  <dcterms:created xsi:type="dcterms:W3CDTF">2025-03-10T17:08:06Z</dcterms:created>
  <dcterms:modified xsi:type="dcterms:W3CDTF">2025-04-07T19:03:39Z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  <property fmtid="{D5CDD505-2E9C-101B-9397-08002B2CF9AE}" pid="3" name="MediaServiceImageTags">
    <vt:lpwstr/>
  </property>
</Properties>
</file>