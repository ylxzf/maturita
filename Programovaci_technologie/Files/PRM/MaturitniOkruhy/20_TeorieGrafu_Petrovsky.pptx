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A8086A-2826-41EF-9410-A32F6F302A74}" type="datetimeFigureOut">
              <a:rPr lang="cs-CZ" smtClean="0"/>
              <a:t>10.03.2025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04AD7-A987-4E5D-9DB1-EB94F564011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25605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C04AD7-A987-4E5D-9DB1-EB94F564011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74407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260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51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9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0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283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2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30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7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241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704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Kalkulačka, pero, kompas, peníze a papír s grafy, které jsou vytištěny">
            <a:extLst>
              <a:ext uri="{FF2B5EF4-FFF2-40B4-BE49-F238E27FC236}">
                <a16:creationId xmlns:a16="http://schemas.microsoft.com/office/drawing/2014/main" id="{4909DEDB-46D9-491A-0329-2637AEA20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39"/>
          <a:stretch/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FF72DE5-3783-45B3-9B15-D981C8F32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cs-CZ"/>
              <a:t>GRAFY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3B933C7-6114-3833-C52F-3B085EECC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endParaRPr lang="cs-CZ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121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233DCE-923C-57F9-9F25-954B4DCBC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E0DBC3C-055C-49E1-E706-5BDCCF902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cs-CZ" sz="1600" b="1" dirty="0"/>
              <a:t>Graf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600" dirty="0"/>
              <a:t>Je určitý útvar (systém), který je možno znázornit obrázkem v rovině pomocí bodů (</a:t>
            </a:r>
            <a:r>
              <a:rPr lang="cs-CZ" sz="1600" b="1" dirty="0"/>
              <a:t>uzly grafu</a:t>
            </a:r>
            <a:r>
              <a:rPr lang="cs-CZ" sz="1600" dirty="0"/>
              <a:t>) a spojnic mezi body (</a:t>
            </a:r>
            <a:r>
              <a:rPr lang="cs-CZ" sz="1600" b="1" dirty="0"/>
              <a:t>hrany grafu</a:t>
            </a:r>
            <a:r>
              <a:rPr lang="cs-CZ" sz="16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600" dirty="0"/>
              <a:t>Hrana tedy vždy začíná a končí v nějakém bodě.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600" dirty="0"/>
              <a:t>Jakékoliv dva uzly, které jsou spojeny hranou, nazýváme </a:t>
            </a:r>
            <a:r>
              <a:rPr lang="cs-CZ" sz="1600" b="1" dirty="0"/>
              <a:t>sousední uzly</a:t>
            </a:r>
            <a:r>
              <a:rPr lang="cs-CZ" sz="1600" dirty="0"/>
              <a:t>.</a:t>
            </a:r>
          </a:p>
          <a:p>
            <a:r>
              <a:rPr lang="cs-CZ" sz="1600" b="1" dirty="0"/>
              <a:t>Cesta v grafu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600" dirty="0"/>
              <a:t>Je posloupnost orientovaných hran, při které vždy následující hrana začíná v uzlu, v němž skončila předcházející hrana.</a:t>
            </a:r>
          </a:p>
          <a:p>
            <a:r>
              <a:rPr lang="cs-CZ" sz="1600" b="1" dirty="0"/>
              <a:t>Souvislý graf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600" dirty="0"/>
              <a:t>Je graf, u kterého kteroukoliv dvojicí uzlů existuje alespoň jedna cesta.</a:t>
            </a:r>
          </a:p>
          <a:p>
            <a:endParaRPr lang="cs-CZ" sz="160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2AAD98E-10E8-6A2A-C51D-15F33AF5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342" y="0"/>
            <a:ext cx="4509318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88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D235FA-0786-C4BE-FF17-9E6AE56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04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cs-CZ" dirty="0"/>
              <a:t>Reprezentace grafů</a:t>
            </a:r>
            <a:br>
              <a:rPr lang="cs-CZ" dirty="0"/>
            </a:br>
            <a:br>
              <a:rPr lang="cs-CZ" dirty="0"/>
            </a:br>
            <a:r>
              <a:rPr lang="cs-CZ" dirty="0"/>
              <a:t>Uložení grafu do programu</a:t>
            </a:r>
            <a:br>
              <a:rPr lang="cs-CZ" dirty="0"/>
            </a:br>
            <a:r>
              <a:rPr lang="cs-CZ" dirty="0"/>
              <a:t>Matice incidence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F612D4-BAB1-CFFE-D48A-A17D97EB1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Matice má řádek pro každý vrchol a sloupec pro každou hranu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Pokud vrchol náleží hraně, je na dané pozici jednička, jinak nula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729A555-60D5-5C11-C1F9-E46BE73B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666" y="3429000"/>
            <a:ext cx="2864060" cy="292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8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EE1354-0BA9-8322-2075-90F4E88A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73737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cs-CZ" dirty="0"/>
              <a:t>Reprezentace grafů</a:t>
            </a:r>
            <a:br>
              <a:rPr lang="cs-CZ" dirty="0"/>
            </a:br>
            <a:br>
              <a:rPr lang="cs-CZ" dirty="0"/>
            </a:br>
            <a:r>
              <a:rPr lang="cs-CZ" dirty="0"/>
              <a:t>Uložení grafu do programu</a:t>
            </a:r>
            <a:br>
              <a:rPr lang="cs-CZ" dirty="0"/>
            </a:br>
            <a:r>
              <a:rPr lang="cs-CZ" dirty="0"/>
              <a:t>Matice sousednosti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413196C-E3E0-BE94-9DD7-C92BA06A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Uzly jsou v řádkách i v sloupcích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Pokud uzel sousedí s jiným je v jejich průsečíku 1, pokud ne, 0</a:t>
            </a:r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D59ACEA-1E73-1418-F8F1-4D3913027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092" y="2800001"/>
            <a:ext cx="3641913" cy="36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0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3CD0273-F564-D4D6-C3E0-7B0C0776B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cs-CZ" dirty="0"/>
              <a:t>Reprezentace grafů</a:t>
            </a:r>
            <a:br>
              <a:rPr lang="cs-CZ" dirty="0"/>
            </a:br>
            <a:br>
              <a:rPr lang="cs-CZ" dirty="0"/>
            </a:br>
            <a:r>
              <a:rPr lang="cs-CZ" dirty="0"/>
              <a:t>Uložení grafu do programu</a:t>
            </a:r>
            <a:br>
              <a:rPr lang="cs-CZ" dirty="0"/>
            </a:br>
            <a:r>
              <a:rPr lang="cs-CZ" dirty="0"/>
              <a:t>Seznam sousedů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278283-7EC7-3330-B61C-6954BB0DF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Typicky spojový seznam, jehož prvky jsou také spojové seznamy.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Každý vrchol má v seznamu vrcholy s nimiž sousedí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986FA622-AAC8-8741-07B5-8542EFD36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056" y="3019425"/>
            <a:ext cx="3049584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03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01E9C4-6EFC-8140-7463-B28B7234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cs-CZ" dirty="0"/>
              <a:t>Průchod</a:t>
            </a:r>
            <a:br>
              <a:rPr lang="cs-CZ" dirty="0"/>
            </a:br>
            <a:br>
              <a:rPr lang="cs-CZ" dirty="0"/>
            </a:br>
            <a:r>
              <a:rPr lang="cs-CZ" dirty="0"/>
              <a:t>BFS – </a:t>
            </a:r>
            <a:r>
              <a:rPr lang="cs-CZ" dirty="0" err="1"/>
              <a:t>Breadth</a:t>
            </a:r>
            <a:r>
              <a:rPr lang="cs-CZ" dirty="0"/>
              <a:t> </a:t>
            </a:r>
            <a:r>
              <a:rPr lang="cs-CZ" dirty="0" err="1"/>
              <a:t>First</a:t>
            </a:r>
            <a:r>
              <a:rPr lang="cs-CZ" dirty="0"/>
              <a:t> </a:t>
            </a:r>
            <a:r>
              <a:rPr lang="cs-CZ" dirty="0" err="1"/>
              <a:t>Search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526456-C17B-0FD3-B151-659519EEB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762125"/>
            <a:ext cx="6227064" cy="4437507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Algoritmus začne v libovolném startovacím uzlu a prohledá nejprve všechny sousedy startovacího uzlu.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Poté všechny sousedy těch sousedů, atd. až projde všechny dosažitelné uzly.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Algoritmus dříve či později dojde k případu, že bude mít na výběr více cest.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Potom potřebujeme nějaké pravidlo, např. jako na animaci výše: Uzly bereme podle abecedy.</a:t>
            </a:r>
          </a:p>
          <a:p>
            <a:r>
              <a:rPr lang="cs-CZ" b="1" dirty="0"/>
              <a:t>Ukládání uzlů do fronty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Fresh</a:t>
            </a:r>
            <a:r>
              <a:rPr lang="cs-CZ" dirty="0"/>
              <a:t> - Ještě nebyl objeven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Open</a:t>
            </a:r>
            <a:r>
              <a:rPr lang="cs-CZ" dirty="0"/>
              <a:t> - Právě objeven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Close</a:t>
            </a:r>
            <a:r>
              <a:rPr lang="cs-CZ" dirty="0"/>
              <a:t> - Už byl prozkoumán</a:t>
            </a:r>
          </a:p>
          <a:p>
            <a:endParaRPr lang="cs-CZ" b="1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597231B6-BD85-E0FA-957D-E5868F56B9C9}"/>
              </a:ext>
            </a:extLst>
          </p:cNvPr>
          <p:cNvSpPr txBox="1"/>
          <p:nvPr/>
        </p:nvSpPr>
        <p:spPr>
          <a:xfrm>
            <a:off x="6867144" y="1762125"/>
            <a:ext cx="51663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cs-CZ" dirty="0"/>
              <a:t>Nastav všechny uzly jako FRESH</a:t>
            </a:r>
          </a:p>
          <a:p>
            <a:pPr>
              <a:buFont typeface="+mj-lt"/>
              <a:buAutoNum type="arabicPeriod"/>
            </a:pPr>
            <a:r>
              <a:rPr lang="cs-CZ" dirty="0"/>
              <a:t>Vyber startovní uzel, a zavolej na něm funkci prohledat</a:t>
            </a:r>
          </a:p>
          <a:p>
            <a:pPr>
              <a:buFont typeface="+mj-lt"/>
              <a:buAutoNum type="arabicPeriod"/>
            </a:pPr>
            <a:r>
              <a:rPr lang="cs-CZ" dirty="0"/>
              <a:t>Funkce prohledat</a:t>
            </a:r>
          </a:p>
          <a:p>
            <a:pPr>
              <a:buFont typeface="+mj-lt"/>
              <a:buAutoNum type="arabicPeriod"/>
            </a:pPr>
            <a:r>
              <a:rPr lang="cs-CZ" dirty="0"/>
              <a:t>Nastav uzel který prohledáváš jako OPEN</a:t>
            </a:r>
          </a:p>
          <a:p>
            <a:pPr>
              <a:buFont typeface="+mj-lt"/>
              <a:buAutoNum type="arabicPeriod"/>
            </a:pPr>
            <a:r>
              <a:rPr lang="cs-CZ" dirty="0"/>
              <a:t>Na všech FRESH sousedech uzlu U rekurzivně zavolej funkci prohledat</a:t>
            </a:r>
          </a:p>
          <a:p>
            <a:pPr>
              <a:buFont typeface="+mj-lt"/>
              <a:buAutoNum type="arabicPeriod"/>
            </a:pPr>
            <a:r>
              <a:rPr lang="cs-CZ" dirty="0" err="1"/>
              <a:t>Prohledáváný</a:t>
            </a:r>
            <a:r>
              <a:rPr lang="cs-CZ" dirty="0"/>
              <a:t> uzel nastav jako CLOSED</a:t>
            </a:r>
          </a:p>
        </p:txBody>
      </p:sp>
    </p:spTree>
    <p:extLst>
      <p:ext uri="{BB962C8B-B14F-4D97-AF65-F5344CB8AC3E}">
        <p14:creationId xmlns:p14="http://schemas.microsoft.com/office/powerpoint/2010/main" val="205714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759C9-C22E-1098-5E7F-6DCDB0692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21B748-6829-C249-89CE-C825349F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cs-CZ" dirty="0"/>
              <a:t>Průchod</a:t>
            </a:r>
            <a:br>
              <a:rPr lang="cs-CZ" dirty="0"/>
            </a:br>
            <a:br>
              <a:rPr lang="cs-CZ" dirty="0"/>
            </a:br>
            <a:r>
              <a:rPr lang="cs-CZ" dirty="0"/>
              <a:t>DFS – </a:t>
            </a:r>
            <a:r>
              <a:rPr lang="cs-CZ" dirty="0" err="1"/>
              <a:t>Depth</a:t>
            </a:r>
            <a:r>
              <a:rPr lang="cs-CZ" dirty="0"/>
              <a:t> </a:t>
            </a:r>
            <a:r>
              <a:rPr lang="cs-CZ" dirty="0" err="1"/>
              <a:t>First</a:t>
            </a:r>
            <a:r>
              <a:rPr lang="cs-CZ" dirty="0"/>
              <a:t> </a:t>
            </a:r>
            <a:r>
              <a:rPr lang="cs-CZ" dirty="0" err="1"/>
              <a:t>Search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BB0E12-8D15-2842-0E7D-C92B9F082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762125"/>
            <a:ext cx="6227064" cy="4437507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Algoritmus začne v libovolném startovacím uzlu a vydá se do jeho prvního souseda.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Poté se opět vydá prvním sousedem toho souseda, atd. až projde všechny dosažitelné uzly.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Algoritmus dříve či později dojde k případu, že bude mít na výběr více cest.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dirty="0"/>
              <a:t>Potom potřebujeme nějaké pravidlo, např. jako na animaci výše: Uzly bereme podle abecedy.</a:t>
            </a:r>
          </a:p>
          <a:p>
            <a:r>
              <a:rPr lang="cs-CZ" b="1" dirty="0"/>
              <a:t>Ukládání uzlů do zásobníku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Fresh</a:t>
            </a:r>
            <a:r>
              <a:rPr lang="cs-CZ" dirty="0"/>
              <a:t> - Ještě nebyl objeven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/>
              <a:t>Open</a:t>
            </a:r>
            <a:r>
              <a:rPr lang="cs-CZ" dirty="0"/>
              <a:t> - Právě objeven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1" dirty="0" err="1"/>
              <a:t>Closed</a:t>
            </a:r>
            <a:r>
              <a:rPr lang="cs-CZ" dirty="0"/>
              <a:t> - Už byl prozkoumán</a:t>
            </a:r>
          </a:p>
          <a:p>
            <a:endParaRPr lang="cs-CZ" b="1" dirty="0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E6D2BAAF-81C6-8A9F-5FAB-3050B243C431}"/>
              </a:ext>
            </a:extLst>
          </p:cNvPr>
          <p:cNvSpPr txBox="1"/>
          <p:nvPr/>
        </p:nvSpPr>
        <p:spPr>
          <a:xfrm>
            <a:off x="6931152" y="1737360"/>
            <a:ext cx="51663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cs-CZ"/>
              <a:t>Nastav všechny uzly jako FRESH</a:t>
            </a:r>
          </a:p>
          <a:p>
            <a:pPr>
              <a:buFont typeface="+mj-lt"/>
              <a:buAutoNum type="arabicPeriod"/>
            </a:pPr>
            <a:r>
              <a:rPr lang="cs-CZ"/>
              <a:t>Vyber startovní uzel, nastav ho jako OPEN a přidej ho do fronty</a:t>
            </a:r>
          </a:p>
          <a:p>
            <a:pPr>
              <a:buFont typeface="+mj-lt"/>
              <a:buAutoNum type="arabicPeriod"/>
            </a:pPr>
            <a:r>
              <a:rPr lang="cs-CZ"/>
              <a:t>Dokud není fronta prázdná</a:t>
            </a:r>
          </a:p>
          <a:p>
            <a:pPr>
              <a:buFont typeface="+mj-lt"/>
              <a:buAutoNum type="arabicPeriod"/>
            </a:pPr>
            <a:r>
              <a:rPr lang="cs-CZ"/>
              <a:t>Vyber uzel U z fronty</a:t>
            </a:r>
          </a:p>
          <a:p>
            <a:pPr>
              <a:buFont typeface="+mj-lt"/>
              <a:buAutoNum type="arabicPeriod"/>
            </a:pPr>
            <a:r>
              <a:rPr lang="cs-CZ"/>
              <a:t>Všechny FRESH sousedy uzlu U nastav jako OPEN a přidej je do fronty</a:t>
            </a:r>
          </a:p>
          <a:p>
            <a:pPr>
              <a:buFont typeface="+mj-lt"/>
              <a:buAutoNum type="arabicPeriod"/>
            </a:pPr>
            <a:r>
              <a:rPr lang="cs-CZ"/>
              <a:t>Uzel U nastav jako CLOSED</a:t>
            </a:r>
          </a:p>
          <a:p>
            <a:pPr>
              <a:buFont typeface="+mj-lt"/>
              <a:buAutoNum type="arabicPeriod"/>
            </a:pPr>
            <a:r>
              <a:rPr lang="cs-CZ"/>
              <a:t>Vrať se zpět na bod 3.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3718139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66FEEE5F48AD4681024082CD4E6082" ma:contentTypeVersion="11" ma:contentTypeDescription="Create a new document." ma:contentTypeScope="" ma:versionID="d1457a4a11af90c20ca2e3e4fa4a06d8">
  <xsd:schema xmlns:xsd="http://www.w3.org/2001/XMLSchema" xmlns:xs="http://www.w3.org/2001/XMLSchema" xmlns:p="http://schemas.microsoft.com/office/2006/metadata/properties" xmlns:ns2="56f66b51-0c61-4da8-9d6e-b8db00b12de2" xmlns:ns3="084efd27-671c-4a3e-a1f9-193c3664239c" targetNamespace="http://schemas.microsoft.com/office/2006/metadata/properties" ma:root="true" ma:fieldsID="9fd7494b5b9ea1ffa9852dd1e2045478" ns2:_="" ns3:_="">
    <xsd:import namespace="56f66b51-0c61-4da8-9d6e-b8db00b12de2"/>
    <xsd:import namespace="084efd27-671c-4a3e-a1f9-193c366423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66b51-0c61-4da8-9d6e-b8db00b12d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e6bece5-3ec7-48c6-a3a0-b2b5d8be67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4efd27-671c-4a3e-a1f9-193c366423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9bef40-6bc0-44a3-b004-108519b05bb9}" ma:internalName="TaxCatchAll" ma:showField="CatchAllData" ma:web="084efd27-671c-4a3e-a1f9-193c366423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f66b51-0c61-4da8-9d6e-b8db00b12de2">
      <Terms xmlns="http://schemas.microsoft.com/office/infopath/2007/PartnerControls"/>
    </lcf76f155ced4ddcb4097134ff3c332f>
    <TaxCatchAll xmlns="084efd27-671c-4a3e-a1f9-193c3664239c" xsi:nil="true"/>
  </documentManagement>
</p:properties>
</file>

<file path=customXml/itemProps1.xml><?xml version="1.0" encoding="utf-8"?>
<ds:datastoreItem xmlns:ds="http://schemas.openxmlformats.org/officeDocument/2006/customXml" ds:itemID="{F476671D-1817-4E09-B1A0-2F2886F886DE}"/>
</file>

<file path=customXml/itemProps2.xml><?xml version="1.0" encoding="utf-8"?>
<ds:datastoreItem xmlns:ds="http://schemas.openxmlformats.org/officeDocument/2006/customXml" ds:itemID="{74020373-D5F2-4BB9-A6BA-594CAD94B3E7}"/>
</file>

<file path=customXml/itemProps3.xml><?xml version="1.0" encoding="utf-8"?>
<ds:datastoreItem xmlns:ds="http://schemas.openxmlformats.org/officeDocument/2006/customXml" ds:itemID="{2F26C7E2-680F-4EF6-B2C6-6D50D809F854}"/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458</Words>
  <Application>Microsoft Office PowerPoint</Application>
  <PresentationFormat>Širokoúhlá obrazovka</PresentationFormat>
  <Paragraphs>51</Paragraphs>
  <Slides>7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Aptos</vt:lpstr>
      <vt:lpstr>Arial</vt:lpstr>
      <vt:lpstr>Grandview Display</vt:lpstr>
      <vt:lpstr>DashVTI</vt:lpstr>
      <vt:lpstr>GRAFY</vt:lpstr>
      <vt:lpstr>Pojmy</vt:lpstr>
      <vt:lpstr>Reprezentace grafů  Uložení grafu do programu Matice incidence</vt:lpstr>
      <vt:lpstr>Reprezentace grafů  Uložení grafu do programu Matice sousednosti</vt:lpstr>
      <vt:lpstr>Reprezentace grafů  Uložení grafu do programu Seznam sousedů</vt:lpstr>
      <vt:lpstr>Průchod  BFS – Breadth First Search</vt:lpstr>
      <vt:lpstr>Průchod  DFS – Depth First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Petrovský David</dc:creator>
  <cp:lastModifiedBy>Petrovský David</cp:lastModifiedBy>
  <cp:revision>1</cp:revision>
  <dcterms:created xsi:type="dcterms:W3CDTF">2025-03-10T19:50:21Z</dcterms:created>
  <dcterms:modified xsi:type="dcterms:W3CDTF">2025-03-10T19:58:11Z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0x0101001066FEEE5F48AD4681024082CD4E6082</vt:lpwstr>
  </property>
</Properties>
</file>